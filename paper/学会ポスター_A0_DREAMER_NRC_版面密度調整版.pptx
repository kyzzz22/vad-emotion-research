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d7568dd4849f6" /><Relationship Type="http://schemas.openxmlformats.org/officeDocument/2006/relationships/extended-properties" Target="/docProps/app.xml" Id="R059819d4bbaa49f4" /><Relationship Type="http://schemas.openxmlformats.org/officeDocument/2006/relationships/officeDocument" Target="/ppt/presentation.xml" Id="R2c1d8a3243f9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d5c6693ee417a"/>
  </p:sldMasterIdLst>
  <p:notesMasterIdLst>
    <p:notesMasterId xmlns:r="http://schemas.openxmlformats.org/officeDocument/2006/relationships" r:id="Rec0f153503164033"/>
  </p:notesMasterIdLst>
  <p:sldIdLst>
    <p:sldId xmlns:r="http://schemas.openxmlformats.org/officeDocument/2006/relationships" id="256" r:id="R5b3bcb9e68994f82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c2fff06d44291" /><Relationship Type="http://schemas.openxmlformats.org/officeDocument/2006/relationships/slideMaster" Target="/ppt/slideMasters/slideMaster1.xml" Id="R630d5c6693ee417a" /><Relationship Type="http://schemas.openxmlformats.org/officeDocument/2006/relationships/notesMaster" Target="/ppt/notesMasters/notesMaster1.xml" Id="Rec0f153503164033" /><Relationship Type="http://schemas.openxmlformats.org/officeDocument/2006/relationships/presProps" Target="/ppt/presProps.xml" Id="R1dcb2fd4545e4e7c" /><Relationship Type="http://schemas.openxmlformats.org/officeDocument/2006/relationships/viewProps" Target="/ppt/viewProps.xml" Id="Rdbb4bc70a44242a9" /><Relationship Type="http://schemas.openxmlformats.org/officeDocument/2006/relationships/tableStyles" Target="/ppt/tableStyles.xml" Id="R660f406a89064478" /><Relationship Type="http://schemas.openxmlformats.org/officeDocument/2006/relationships/slide" Target="/ppt/slides/slide1.xml" Id="R5b3bcb9e6899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19938b82641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66016b06e4818" /><Relationship Type="http://schemas.openxmlformats.org/officeDocument/2006/relationships/notesMaster" Target="/ppt/notesMasters/notesMaster1.xml" Id="R6ddd8f4f17b0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</a:t>
            </a:r>
            <a:r>
              <a:t>DREAMER_NRC_完全分析報告_日本語.md</a:t>
            </a:r>
            <a:r>
              <a:t> (study scope, category definitions, statistics, limitations)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-emotion-research/paper/学会ポスター_A0_DREAMER_NRC_研究室参考版.pptx (inherited A0 layout and visual system)</a:t>
            </a:r>
          </a:p>
          <a:p xmlns:a="http://schemas.openxmlformats.org/drawingml/2006/main">
            <a:r>
              <a:t>- User-supplied 2025 Doly Lab pre-seminar posters (content hierarchy conventions)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cae92e8cc4b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8048ff0154ebe" /><Relationship Type="http://schemas.openxmlformats.org/officeDocument/2006/relationships/slideLayout" Target="/ppt/slideLayouts/slideLayout1.xml" Id="R280285295c71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285295c71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44fb1d4c6440a" /><Relationship Type="http://schemas.openxmlformats.org/officeDocument/2006/relationships/image" Target="/ppt/media/image.png" Id="R9750c6efe79143a1" /><Relationship Type="http://schemas.openxmlformats.org/officeDocument/2006/relationships/image" Target="/ppt/media/image2.png" Id="R42cf0ace4cfe47cf" /><Relationship Type="http://schemas.openxmlformats.org/officeDocument/2006/relationships/image" Target="/ppt/media/image3.png" Id="Refe4da746da247ec" /><Relationship Type="http://schemas.openxmlformats.org/officeDocument/2006/relationships/image" Target="/ppt/media/image4.png" Id="Refff1f455fd84efa" /><Relationship Type="http://schemas.openxmlformats.org/officeDocument/2006/relationships/image" Target="/ppt/media/image5.png" Id="R4f510caa17ab4214" /><Relationship Type="http://schemas.openxmlformats.org/officeDocument/2006/relationships/notesSlide" Target="/ppt/notesSlides/notesSlide1.xml" Id="Rdf128de50c3c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30279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背景：同じVADでも測定対象が異なる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3287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V｜不快 ↔ 快　A｜沈静 ↔ 覚醒　D｜受動 ↔ 統制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語彙VAD（NRC）：感情語の一般的意味・典型性を評価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誘発VAD（DREAMER）：特定映像の直後に、視聴者自身の状態を評価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48625"/>
            <a:ext cx="13525500" cy="17621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191500"/>
            <a:ext cx="1304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比較上の問題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715375"/>
            <a:ext cx="1304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共通の［-1, 1］へ変換しても、心理的単位の等価性は保証されない。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文脈差を無視すると、尺度範囲差を「感情固有の差」と誤認する。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0"/>
            <a:ext cx="13525500" cy="3333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191750"/>
            <a:ext cx="1304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研究目的・研究質問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810875"/>
            <a:ext cx="1266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RQ1｜V・A・D別にカテゴリー構造を共有するか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RQ2｜差のどこまでが全体的な尺度圧縮で説明されるか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RQ3｜校正後も感情固有の残差が残るか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RQ4｜結論は単一感情・語形・Dの方向に依存しないか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3035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1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データ・分析設計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0"/>
            <a:ext cx="5905500" cy="17621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2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9230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一般的意味・典型性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尺度［-1, 1］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4973300"/>
            <a:ext cx="8572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478000"/>
            <a:ext cx="638175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573250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23名・18映像・414試行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9感情（各2映像）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視聴後SAM 1–5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3537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0"/>
            <a:ext cx="1352550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783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83125"/>
            <a:ext cx="1023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DREAMER：（score - 3）/ 2 → ［-1, 1］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数値範囲を統一しても心理的等価性は仮定しない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9762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0"/>
            <a:ext cx="13525500" cy="31432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40625"/>
            <a:ext cx="1295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四つの問いを次元別・段階的に評価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0"/>
            <a:ext cx="1295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構造：Pearson / Spearman ＋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不確実性：参加者・映像の階層bootstrap 5,000回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尺度：次元別回帰傾き　｜　固有差：LOEO校正残差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頑健性：一感情除外・語形・Dominance方向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対応：NRCのカテゴリー名詞 ↔ DREAMERのカテゴリー平均VAD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推論単位＝9感情カテゴリー（414試行ではない）｜414試行は平均値と不確実性の推定に使用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626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9530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結果1：カテゴリー構造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762625"/>
            <a:ext cx="1347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カテゴリー構造の移送可能性：Valence ＞ Arousal ≫ Dominance</a:t>
            </a:r>
          </a:p>
        </p:txBody>
      </p:sp>
      <p:pic>
        <p:nvPicPr>
          <p:cNvPr id="145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c6efe79143a1"/>
          <a:stretch xmlns:a="http://schemas.openxmlformats.org/drawingml/2006/main"/>
        </p:blipFill>
        <p:spPr>
          <a:xfrm xmlns:a="http://schemas.openxmlformats.org/drawingml/2006/main">
            <a:off x="15811500" y="6619875"/>
            <a:ext cx="13525500" cy="4714875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1382375"/>
            <a:ext cx="1333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図1　V：r=.875, ρ=.895, LOEO=.848–.922｜A：r=.832だがρ=.433｜D：r=−.121［Holm補正］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2573000"/>
            <a:ext cx="135255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2696825"/>
            <a:ext cx="1304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Valence：順位・線形関係とも安定｜Arousal：線形傾向はあるがcalmness依存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Dominance：対応なし｜三次元全体の構成一致 C=.529, p=.0058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992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973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382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結果2：尺度圧縮と固有残差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5144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V・AはDREAMER側で中心方向へ圧縮</a:t>
            </a:r>
          </a:p>
        </p:txBody>
      </p:sp>
      <p:pic>
        <p:nvPicPr>
          <p:cNvPr id="153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f0ace4cfe47cf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5716250" y="15906750"/>
            <a:ext cx="6667500" cy="36671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573875"/>
            <a:ext cx="64770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69125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[.423-.611]　A .341 [.184-.501]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傾き1から離れる＝数値は交換不可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15144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校正後もcalmness残差が最大候補</a:t>
            </a:r>
          </a:p>
        </p:txBody>
      </p:sp>
      <p:pic>
        <p:nvPicPr>
          <p:cNvPr id="157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4da746da247ec"/>
          <a:stretch xmlns:a="http://schemas.openxmlformats.org/drawingml/2006/main"/>
        </p:blipFill>
        <p:spPr>
          <a:xfrm xmlns:a="http://schemas.openxmlformats.org/drawingml/2006/main">
            <a:off x="22669500" y="15906750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05012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calmnessは再検証候補。ただし95% CIが重なるため順位は未確定。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50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3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考察・応用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002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なぜ圧縮・次元差が生じるのか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669500"/>
            <a:ext cx="6477000" cy="72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尺度圧縮｜語彙は典型的・極端な概念を想起する一方、DREAMERは23名×2映像の平均で極端値が平滑化される。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Arousal｜刺激強度・時間・個人差に依存し、同じ「高覚醒」語でも実際の誘発量が異なる。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Dominance｜語彙のpower/controlと、映像後の自己統制感で参照対象が異なる可能性。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方法論的貢献｜生距離とLOEO残差を分け、全体尺度差と感情固有差を区別した。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2002750"/>
            <a:ext cx="6572250" cy="7905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2885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結論・利用指針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3050500"/>
            <a:ext cx="6096000" cy="64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順序の橋渡しには有望。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絶対値には校正が必要。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刺激・対象サンプルごとに再評価。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参照対象と尺度方向を明示するまで直接移送しない。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　データ統合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同じ数値範囲 ≠ 同じ心理的単位。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841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65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分析の判断基準・限界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0"/>
            <a:ext cx="13382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Pearson＝線形構造、Spearman＝カテゴリー順位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傾き1＝数値範囲の一致、0＜傾き＜1＝中心方向への圧縮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LOEO残差＝全体尺度を校正した後の感情固有差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主推論は9カテゴリー。複雑感情全体への一般化はできない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0"/>
            <a:ext cx="13525500" cy="16668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670250"/>
            <a:ext cx="1304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探索的二次データ分析：相関・残差は因果効果や同一個人内の置換可能性を証明しない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0"/>
            <a:ext cx="302799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433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限界と次段階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94375"/>
            <a:ext cx="1338262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限界｜各感情2映像・異なる参加者集団・NRC側の測定誤差は未伝播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外部再検証｜calmness・surpriseを優先し、別データで圧縮と残差を再現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直接実験｜同一参加者・同一尺度で Lexical → Prototype → Induced を比較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Dominance｜感情概念・自分の統制感・登場人物の支配性を分離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報告原則｜順位整合・尺度較正・感情固有差を別々に示す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0575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データ統合時の判断フロー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31242000"/>
            <a:ext cx="13239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構造｜Pearson / Spearmanで線形性とカテゴリー順位を確認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観察：Vは安定、Aは順位が不安定、Dは未支持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尺度｜回帰傾きと95% CIで中心方向への圧縮を確認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観察：V/Aとも傾き＜1で、同じ数値を直接置換できない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固有差｜LOEO残差で再検証すべき感情を特定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観察：calmness優先。ただしCI重複で順位は未確定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④ 適用｜V・A・Dごとに「移送／校正／保留」を決定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判断：V＝校正利用／A＝刺激別評価／D＝定義整合まで保留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適用例｜Vをカテゴリー順位の初期値とし、対象データで再較正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禁止｜raw scoreを同一個人内の代替測定として扱わない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本研究の貢献・参考文献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909250"/>
            <a:ext cx="13382625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貢献1｜語彙VADと誘発VADを9感情×3次元で同一枠組みに比較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貢献2｜構造・尺度圧縮・LOEO残差を分け、差の所在を特定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貢献3｜V/A/D別に「校正利用・再評価・保留」の判断基準を提示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意義｜外部の感情知識を誘発研究へ統合する際の過剰な数値置換を防ぐ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参考｜Bradley &amp; Lang (1994) J Behav Ther Exp Psychiatry, 25, 49–59.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Robinson &amp; Clore (2002) Psychol Bull, 128, 934–960.　Barrett (2004) Pers Soc Psychol Bull, 30, 266–270.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Katsigiannis &amp; Ramzan (2018) IEEE J Biomed Health Inform, 22, 98–107.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Mohammad (2025) NRC VAD Lexicon v2, arXiv:2503.23547.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謝辞｜DREAMERおよびNRC-VADのデータ提供者に謝意を表する。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8100000"/>
            <a:ext cx="1352550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8385750"/>
            <a:ext cx="1295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語彙VADと誘発VADは「関連する」が「交換可能ではない」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V：順位利用＋校正　／　A：刺激別に再評価　／　D：定義が揃うまで保留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→ 統合前に「構造・尺度・残差」を次元別に確認する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f1f455fd84efa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85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10caa17ab4214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芝浦工業大学</a:t>
            </a:r>
            <a:r>
              <a:rPr sz="3300" b="1">
                <a:solidFill>
                  <a:srgbClr val="111111"/>
                </a:solidFill>
              </a:rPr>
              <a:t> Doly Lab　○</a:t>
            </a:r>
            <a:r>
              <a:rPr sz="3300" b="1">
                <a:solidFill>
                  <a:srgbClr val="111111"/>
                </a:solidFill>
              </a:rPr>
              <a:t>姜晰</a:t>
            </a:r>
            <a:r>
              <a:rPr sz="3300" b="1">
                <a:solidFill>
                  <a:srgbClr val="111111"/>
                </a:solidFill>
              </a:rPr>
              <a:t>頡</a:t>
            </a:r>
            <a:r>
              <a:rPr sz="3300" b="1">
                <a:solidFill>
                  <a:srgbClr val="111111"/>
                </a:solidFill>
              </a:rPr>
              <a:t>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33E1B659-86DB-4DC7-A402-9334C137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857750"/>
            <a:ext cx="0" cy="36480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2026-07-30T12:42:46.5750000Z</dcterms:created>
  <dcterms:modified xsi:type="dcterms:W3CDTF">2026-07-30T12:42:46.5750000Z</dcterms:modified>
</coreProperties>
</file>