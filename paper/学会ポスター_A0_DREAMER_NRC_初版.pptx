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b74ca6689740f7" /><Relationship Type="http://schemas.openxmlformats.org/officeDocument/2006/relationships/extended-properties" Target="/docProps/app.xml" Id="Rf4e11c66129a42d7" /><Relationship Type="http://schemas.openxmlformats.org/officeDocument/2006/relationships/officeDocument" Target="/ppt/presentation.xml" Id="R9660f57718104a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9c88b24e8840b8"/>
  </p:sldMasterIdLst>
  <p:notesMasterIdLst>
    <p:notesMasterId xmlns:r="http://schemas.openxmlformats.org/officeDocument/2006/relationships" r:id="R2a3ebb2ce75f4061"/>
  </p:notesMasterIdLst>
  <p:sldIdLst>
    <p:sldId xmlns:r="http://schemas.openxmlformats.org/officeDocument/2006/relationships" id="256" r:id="R4b3939bdb16e4db9"/>
  </p:sldIdLst>
  <p:sldSz cx="30279975" cy="42805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3ae9ea90764738" /><Relationship Type="http://schemas.openxmlformats.org/officeDocument/2006/relationships/slideMaster" Target="/ppt/slideMasters/slideMaster1.xml" Id="Rc79c88b24e8840b8" /><Relationship Type="http://schemas.openxmlformats.org/officeDocument/2006/relationships/notesMaster" Target="/ppt/notesMasters/notesMaster1.xml" Id="R2a3ebb2ce75f4061" /><Relationship Type="http://schemas.openxmlformats.org/officeDocument/2006/relationships/presProps" Target="/ppt/presProps.xml" Id="Ree0f0da02372439d" /><Relationship Type="http://schemas.openxmlformats.org/officeDocument/2006/relationships/tableStyles" Target="/ppt/tableStyles.xml" Id="R0001c7137b9045a1" /><Relationship Type="http://schemas.openxmlformats.org/officeDocument/2006/relationships/slide" Target="/ppt/slides/slide1.xml" Id="R4b3939bdb16e4d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37b7bfef9647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e85b9665354567" /><Relationship Type="http://schemas.openxmlformats.org/officeDocument/2006/relationships/notesMaster" Target="/ppt/notesMasters/notesMaster1.xml" Id="Re48719a746914f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/Users/mac/Downloads/shibaura开题相关/VAD坐标相关/vad-emotion-research/paper/DREAMER_NRC_完全分析報告_日本語.md (study design, statistics, interpretation, limitations)</a:t>
            </a:r>
          </a:p>
          <a:p xmlns:a="http://schemas.openxmlformats.org/drawingml/2006/main">
            <a:r>
              <a:t>- /Users/mac/Downloads/shibaura开题相关/VAD坐标相关/vad-emotion-research/results/dreamer_nrc_robustness/figure_overview_main.png (dimension-wise alignment figure)</a:t>
            </a:r>
          </a:p>
          <a:p xmlns:a="http://schemas.openxmlformats.org/drawingml/2006/main">
            <a:r>
              <a:t>- /Users/mac/Downloads/shibaura开题相关/VAD坐标相关/vad-emotion-research/results/dreamer_nrc_robustness/figure_2_scale_compression.png (scale compression figure)</a:t>
            </a:r>
          </a:p>
          <a:p xmlns:a="http://schemas.openxmlformats.org/drawingml/2006/main">
            <a:r>
              <a:t>- /Users/mac/Downloads/shibaura开题相关/VAD坐标相关/vad-emotion-research/results/dreamer_nrc_robustness/figure_4_calibrated_discrepancy.png (LOEO calibrated residual figure)</a:t>
            </a:r>
          </a:p>
          <a:p xmlns:a="http://schemas.openxmlformats.org/drawingml/2006/main">
            <a:r>
              <a:t>- Bradley, M. M., &amp; Lang, P. J. (1994). https://doi.org/10.1016/0005-7916(94)90063-9</a:t>
            </a:r>
          </a:p>
          <a:p xmlns:a="http://schemas.openxmlformats.org/drawingml/2006/main">
            <a:r>
              <a:t>- Katsigiannis, S., &amp; Ramzan, N. (2018). https://doi.org/10.1109/JBHI.2017.2688239</a:t>
            </a:r>
          </a:p>
          <a:p xmlns:a="http://schemas.openxmlformats.org/drawingml/2006/main">
            <a:r>
              <a:t>- Mohammad, S. M. (2025). https://arxiv.org/abs/2503.23547</a:t>
            </a:r>
          </a:p>
          <a:p xmlns:a="http://schemas.openxmlformats.org/drawingml/2006/main">
            <a:r>
              <a:t>- Barrett, L. F. (2004). https://doi.org/10.1037/0022-3514.87.2.266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867346ecd43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43d7b0209442f5" /><Relationship Type="http://schemas.openxmlformats.org/officeDocument/2006/relationships/slideLayout" Target="/ppt/slideLayouts/slideLayout1.xml" Id="Rb39d400b9cf24a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9d400b9cf24a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b93804d654223" /><Relationship Type="http://schemas.openxmlformats.org/officeDocument/2006/relationships/image" Target="/ppt/media/image.png" Id="R79849d55b15243c3" /><Relationship Type="http://schemas.openxmlformats.org/officeDocument/2006/relationships/image" Target="/ppt/media/image2.png" Id="Rb9295b19599a4704" /><Relationship Type="http://schemas.openxmlformats.org/officeDocument/2006/relationships/image" Target="/ppt/media/image3.png" Id="R695ee9aba2094064" /><Relationship Type="http://schemas.openxmlformats.org/officeDocument/2006/relationships/notesSlide" Target="/ppt/notesSlides/notesSlide1.xml" Id="R2b39f400ee1b41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8903155-8B52-4ECD-A5FE-315C7772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oster-number-frame">
            <a:extLst xmlns:a="http://schemas.openxmlformats.org/drawingml/2006/main">
              <a:ext uri="{FF2B5EF4-FFF2-40B4-BE49-F238E27FC236}">
                <a16:creationId xmlns:a16="http://schemas.microsoft.com/office/drawing/2014/main" id="{AF114A61-0EFA-4C94-BBA3-0B800480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"/>
            <a:ext cx="32385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65D"/>
            </a:solidFill>
            <a:prstDash val="solid"/>
          </a:ln>
        </p:spPr>
      </p:sp>
      <p:sp>
        <p:nvSpPr>
          <p:cNvPr id="3" name="poster-number-label">
            <a:extLst xmlns:a="http://schemas.openxmlformats.org/drawingml/2006/main">
              <a:ext uri="{FF2B5EF4-FFF2-40B4-BE49-F238E27FC236}">
                <a16:creationId xmlns:a16="http://schemas.microsoft.com/office/drawing/2014/main" id="{0FC88933-CD4E-4B19-A72B-F4CA4D4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演題番号</a:t>
            </a:r>
          </a:p>
        </p:txBody>
      </p:sp>
      <p:sp>
        <p:nvSpPr>
          <p:cNvPr id="4" name="poster-number-blank">
            <a:extLst xmlns:a="http://schemas.openxmlformats.org/drawingml/2006/main">
              <a:ext uri="{FF2B5EF4-FFF2-40B4-BE49-F238E27FC236}">
                <a16:creationId xmlns:a16="http://schemas.microsoft.com/office/drawing/2014/main" id="{43649DED-0AC6-4938-A1A0-A2CB008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47825"/>
            <a:ext cx="2724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9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　　　　</a:t>
            </a:r>
          </a:p>
        </p:txBody>
      </p:sp>
      <p:sp>
        <p:nvSpPr>
          <p:cNvPr id="5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F0BCF738-7011-40D3-96F2-0BC79327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248602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8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感情語の意味的VADは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映像誘発体験へ移送できるか</a:t>
            </a:r>
          </a:p>
        </p:txBody>
      </p:sp>
      <p:sp>
        <p:nvSpPr>
          <p:cNvPr id="6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CA668986-EB56-4B56-B9EF-649ECBC3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400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DREAMER × NRC-VADによる9感情カテゴリーの次元別クロスコンテクスト整合性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AEDCE666-D0F1-4BB4-B14F-DF870EE3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2400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芝浦工業大学 Doly Lab　○姜晰頡（MA26006）</a:t>
            </a:r>
          </a:p>
        </p:txBody>
      </p:sp>
      <p:sp>
        <p:nvSpPr>
          <p:cNvPr id="8" name="header-bottom-rule">
            <a:extLst xmlns:a="http://schemas.openxmlformats.org/drawingml/2006/main">
              <a:ext uri="{FF2B5EF4-FFF2-40B4-BE49-F238E27FC236}">
                <a16:creationId xmlns:a16="http://schemas.microsoft.com/office/drawing/2014/main" id="{7632CE31-C97D-4BB5-846A-707AB64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95800"/>
            <a:ext cx="28660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ction-1-bar">
            <a:extLst xmlns:a="http://schemas.openxmlformats.org/drawingml/2006/main">
              <a:ext uri="{FF2B5EF4-FFF2-40B4-BE49-F238E27FC236}">
                <a16:creationId xmlns:a16="http://schemas.microsoft.com/office/drawing/2014/main" id="{AD851A9D-C533-4B9C-8E71-6FE565C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1-accent">
            <a:extLst xmlns:a="http://schemas.openxmlformats.org/drawingml/2006/main">
              <a:ext uri="{FF2B5EF4-FFF2-40B4-BE49-F238E27FC236}">
                <a16:creationId xmlns:a16="http://schemas.microsoft.com/office/drawing/2014/main" id="{F41F26E8-2532-4B67-A6D8-4A07485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2091FDD7-1692-4C1B-85A1-381948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673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  背景・目的</a:t>
            </a:r>
          </a:p>
        </p:txBody>
      </p:sp>
      <p:sp>
        <p:nvSpPr>
          <p:cNvPr id="12" name="background-copy">
            <a:extLst xmlns:a="http://schemas.openxmlformats.org/drawingml/2006/main">
              <a:ext uri="{FF2B5EF4-FFF2-40B4-BE49-F238E27FC236}">
                <a16:creationId xmlns:a16="http://schemas.microsoft.com/office/drawing/2014/main" id="{95B0A47C-6629-40C7-8031-DCFC18F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905500"/>
            <a:ext cx="8705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感情研究では、単語・画像・映像・生理信号が同じVAD座標で扱われる。しかし、同じ数値形式でも「感情語の一般的意味」と「刺激後に本人が感じた状態」は同一とは限らない。</a:t>
            </a:r>
          </a:p>
        </p:txBody>
      </p:sp>
      <p:sp>
        <p:nvSpPr>
          <p:cNvPr id="13" name="gap-callout">
            <a:extLst xmlns:a="http://schemas.openxmlformats.org/drawingml/2006/main">
              <a:ext uri="{FF2B5EF4-FFF2-40B4-BE49-F238E27FC236}">
                <a16:creationId xmlns:a16="http://schemas.microsoft.com/office/drawing/2014/main" id="{11EFD229-1260-4204-A33A-87529FC0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496300"/>
            <a:ext cx="8743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9050">
            <a:solidFill>
              <a:srgbClr val="E97824"/>
            </a:solidFill>
            <a:prstDash val="solid"/>
          </a:ln>
        </p:spPr>
      </p:sp>
      <p:sp>
        <p:nvSpPr>
          <p:cNvPr id="14" name="gap-label">
            <a:extLst xmlns:a="http://schemas.openxmlformats.org/drawingml/2006/main">
              <a:ext uri="{FF2B5EF4-FFF2-40B4-BE49-F238E27FC236}">
                <a16:creationId xmlns:a16="http://schemas.microsoft.com/office/drawing/2014/main" id="{BFA3CA7D-5DCD-45BF-A4F6-6FF3F1A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6677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E978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E97824"/>
                </a:solidFill>
                <a:latin typeface="Hiragino Sans"/>
                <a:ea typeface="Hiragino Sans"/>
                <a:cs typeface="Hiragino Sans"/>
              </a:rPr>
              <a:t>従来研究の課題</a:t>
            </a:r>
          </a:p>
        </p:txBody>
      </p:sp>
      <p:sp>
        <p:nvSpPr>
          <p:cNvPr id="15" name="gap-copy">
            <a:extLst xmlns:a="http://schemas.openxmlformats.org/drawingml/2006/main">
              <a:ext uri="{FF2B5EF4-FFF2-40B4-BE49-F238E27FC236}">
                <a16:creationId xmlns:a16="http://schemas.microsoft.com/office/drawing/2014/main" id="{ACD8EEED-C2A6-40D2-94B1-7ADD359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163050"/>
            <a:ext cx="828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7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数値範囲を揃えただけで、語彙VADを誘発体験の代替値として使用しやすい。</a:t>
            </a:r>
          </a:p>
        </p:txBody>
      </p:sp>
      <p:sp>
        <p:nvSpPr>
          <p:cNvPr id="16" name="purpose-callout">
            <a:extLst xmlns:a="http://schemas.openxmlformats.org/drawingml/2006/main">
              <a:ext uri="{FF2B5EF4-FFF2-40B4-BE49-F238E27FC236}">
                <a16:creationId xmlns:a16="http://schemas.microsoft.com/office/drawing/2014/main" id="{F24B19EE-4C2B-4A0B-8196-8409AB1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0496550"/>
            <a:ext cx="87439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urpose-label">
            <a:extLst xmlns:a="http://schemas.openxmlformats.org/drawingml/2006/main">
              <a:ext uri="{FF2B5EF4-FFF2-40B4-BE49-F238E27FC236}">
                <a16:creationId xmlns:a16="http://schemas.microsoft.com/office/drawing/2014/main" id="{EDB46B44-AD09-4C81-8BB7-DAA7701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0668000"/>
            <a:ext cx="824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研究目的</a:t>
            </a:r>
          </a:p>
        </p:txBody>
      </p:sp>
      <p:sp>
        <p:nvSpPr>
          <p:cNvPr id="18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4E6D0923-4CF1-4C0D-B8F5-99058658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144250"/>
            <a:ext cx="8248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4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語彙的VAD規範と映像誘発後VADが、V・A・Dの各次元でどの程度構造を共有し、どこで尺度差・感情固有差が生じるかを検証する。</a:t>
            </a:r>
          </a:p>
        </p:txBody>
      </p:sp>
      <p:sp>
        <p:nvSpPr>
          <p:cNvPr id="19" name="section-2-bar">
            <a:extLst xmlns:a="http://schemas.openxmlformats.org/drawingml/2006/main">
              <a:ext uri="{FF2B5EF4-FFF2-40B4-BE49-F238E27FC236}">
                <a16:creationId xmlns:a16="http://schemas.microsoft.com/office/drawing/2014/main" id="{32316196-29E5-4E81-B3E2-0FDDDE0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2397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ction-2-accent">
            <a:extLst xmlns:a="http://schemas.openxmlformats.org/drawingml/2006/main">
              <a:ext uri="{FF2B5EF4-FFF2-40B4-BE49-F238E27FC236}">
                <a16:creationId xmlns:a16="http://schemas.microsoft.com/office/drawing/2014/main" id="{2A8FA4A1-D2A0-4E2B-9AB8-559AFD9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239750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2D05A2D8-C82D-464A-B54E-23587DC6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33064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  データ・分析フロー</a:t>
            </a:r>
          </a:p>
        </p:txBody>
      </p:sp>
      <p:sp>
        <p:nvSpPr>
          <p:cNvPr id="22" name="flow-nrc">
            <a:extLst xmlns:a="http://schemas.openxmlformats.org/drawingml/2006/main">
              <a:ext uri="{FF2B5EF4-FFF2-40B4-BE49-F238E27FC236}">
                <a16:creationId xmlns:a16="http://schemas.microsoft.com/office/drawing/2014/main" id="{069F34FB-FD82-4F10-BD75-616ED89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58925"/>
            <a:ext cx="7620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9050">
            <a:solidFill>
              <a:srgbClr val="17365D"/>
            </a:solidFill>
            <a:prstDash val="solid"/>
          </a:ln>
        </p:spPr>
      </p:sp>
      <p:sp>
        <p:nvSpPr>
          <p:cNvPr id="23" name="flow-nrc-title">
            <a:extLst xmlns:a="http://schemas.openxmlformats.org/drawingml/2006/main">
              <a:ext uri="{FF2B5EF4-FFF2-40B4-BE49-F238E27FC236}">
                <a16:creationId xmlns:a16="http://schemas.microsoft.com/office/drawing/2014/main" id="{CD72FD37-BAAE-4074-9FCB-AA9E021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4303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NRC-VAD v2.1</a:t>
            </a:r>
          </a:p>
        </p:txBody>
      </p:sp>
      <p:sp>
        <p:nvSpPr>
          <p:cNvPr id="24" name="flow-nrc-body">
            <a:extLst xmlns:a="http://schemas.openxmlformats.org/drawingml/2006/main">
              <a:ext uri="{FF2B5EF4-FFF2-40B4-BE49-F238E27FC236}">
                <a16:creationId xmlns:a16="http://schemas.microsoft.com/office/drawing/2014/main" id="{6531AFB5-934F-4327-911F-4403ADD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382750"/>
            <a:ext cx="4048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9種類の英語感情名詞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意味的VAD座標</a:t>
            </a:r>
          </a:p>
        </p:txBody>
      </p:sp>
      <p:sp>
        <p:nvSpPr>
          <p:cNvPr id="2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D74B401-F6EA-4A86-A130-CC53541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097250"/>
            <a:ext cx="857250" cy="819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low-dreamer">
            <a:extLst xmlns:a="http://schemas.openxmlformats.org/drawingml/2006/main">
              <a:ext uri="{FF2B5EF4-FFF2-40B4-BE49-F238E27FC236}">
                <a16:creationId xmlns:a16="http://schemas.microsoft.com/office/drawing/2014/main" id="{C2AC944C-D9AA-4345-B362-D960BC86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021175"/>
            <a:ext cx="76200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9050">
            <a:solidFill>
              <a:srgbClr val="17365D"/>
            </a:solidFill>
            <a:prstDash val="solid"/>
          </a:ln>
        </p:spPr>
      </p:sp>
      <p:sp>
        <p:nvSpPr>
          <p:cNvPr id="27" name="flow-dreamer-title">
            <a:extLst xmlns:a="http://schemas.openxmlformats.org/drawingml/2006/main">
              <a:ext uri="{FF2B5EF4-FFF2-40B4-BE49-F238E27FC236}">
                <a16:creationId xmlns:a16="http://schemas.microsoft.com/office/drawing/2014/main" id="{96DCBF29-29C8-492D-983B-FFB5BFF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259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7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DREAMER</a:t>
            </a:r>
          </a:p>
        </p:txBody>
      </p:sp>
      <p:sp>
        <p:nvSpPr>
          <p:cNvPr id="28" name="flow-dreamer-body">
            <a:extLst xmlns:a="http://schemas.openxmlformats.org/drawingml/2006/main">
              <a:ext uri="{FF2B5EF4-FFF2-40B4-BE49-F238E27FC236}">
                <a16:creationId xmlns:a16="http://schemas.microsoft.com/office/drawing/2014/main" id="{96D5BAB3-43ED-4AE3-905C-10663F8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192625"/>
            <a:ext cx="4476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23名 × 18映像 = 414試行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9感情・映像後VAD評定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B575E44-1872-4C45-97BE-DC5FE92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69050"/>
            <a:ext cx="857250" cy="819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low-transform">
            <a:extLst xmlns:a="http://schemas.openxmlformats.org/drawingml/2006/main">
              <a:ext uri="{FF2B5EF4-FFF2-40B4-BE49-F238E27FC236}">
                <a16:creationId xmlns:a16="http://schemas.microsoft.com/office/drawing/2014/main" id="{ABB10255-6C78-4785-825A-3969578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954875"/>
            <a:ext cx="76200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9050">
            <a:solidFill>
              <a:srgbClr val="E97824"/>
            </a:solidFill>
            <a:prstDash val="solid"/>
          </a:ln>
        </p:spPr>
      </p:sp>
      <p:sp>
        <p:nvSpPr>
          <p:cNvPr id="31" name="flow-transform-title">
            <a:extLst xmlns:a="http://schemas.openxmlformats.org/drawingml/2006/main">
              <a:ext uri="{FF2B5EF4-FFF2-40B4-BE49-F238E27FC236}">
                <a16:creationId xmlns:a16="http://schemas.microsoft.com/office/drawing/2014/main" id="{44AB8EEA-D4C1-460F-9412-7D2307E0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193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E97824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E97824"/>
                </a:solidFill>
                <a:latin typeface="Hiragino Sans"/>
                <a:ea typeface="Hiragino Sans"/>
                <a:cs typeface="Hiragino Sans"/>
              </a:rPr>
              <a:t>尺度統一</a:t>
            </a:r>
          </a:p>
        </p:txBody>
      </p:sp>
      <p:sp>
        <p:nvSpPr>
          <p:cNvPr id="32" name="flow-transform-body">
            <a:extLst xmlns:a="http://schemas.openxmlformats.org/drawingml/2006/main">
              <a:ext uri="{FF2B5EF4-FFF2-40B4-BE49-F238E27FC236}">
                <a16:creationId xmlns:a16="http://schemas.microsoft.com/office/drawing/2014/main" id="{BB76D7B6-0E3D-447D-AC3D-E84B7AE9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116800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DREAMER: (score − 3) / 2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両データを [−1, 1] へ</a:t>
            </a:r>
          </a:p>
        </p:txBody>
      </p:sp>
      <p:sp>
        <p:nvSpPr>
          <p:cNvPr id="33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1F239B8-BB97-4290-ABDE-4BBD58D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002750"/>
            <a:ext cx="857250" cy="819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low-analysis">
            <a:extLst xmlns:a="http://schemas.openxmlformats.org/drawingml/2006/main">
              <a:ext uri="{FF2B5EF4-FFF2-40B4-BE49-F238E27FC236}">
                <a16:creationId xmlns:a16="http://schemas.microsoft.com/office/drawing/2014/main" id="{39685649-BCCE-437E-B892-FFCAE156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07625"/>
            <a:ext cx="7620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low-analysis-title">
            <a:extLst xmlns:a="http://schemas.openxmlformats.org/drawingml/2006/main">
              <a:ext uri="{FF2B5EF4-FFF2-40B4-BE49-F238E27FC236}">
                <a16:creationId xmlns:a16="http://schemas.microsoft.com/office/drawing/2014/main" id="{13F7BF59-EB00-4018-B5BE-AD9BB8F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107650"/>
            <a:ext cx="708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9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次元別・段階的に比較</a:t>
            </a:r>
          </a:p>
        </p:txBody>
      </p:sp>
      <p:sp>
        <p:nvSpPr>
          <p:cNvPr id="36" name="flow-analysis-body">
            <a:extLst xmlns:a="http://schemas.openxmlformats.org/drawingml/2006/main">
              <a:ext uri="{FF2B5EF4-FFF2-40B4-BE49-F238E27FC236}">
                <a16:creationId xmlns:a16="http://schemas.microsoft.com/office/drawing/2014/main" id="{72373702-9449-4BA6-A454-E649D20E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717250"/>
            <a:ext cx="6972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① Pearson / Spearman　② 9! 厳密置換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③ 5,000回階層bootstrap　④ 回帰傾き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⑤ LOEO校正残差　⑥ 感度分析</a:t>
            </a:r>
          </a:p>
        </p:txBody>
      </p:sp>
      <p:sp>
        <p:nvSpPr>
          <p:cNvPr id="37" name="inference-note">
            <a:extLst xmlns:a="http://schemas.openxmlformats.org/drawingml/2006/main">
              <a:ext uri="{FF2B5EF4-FFF2-40B4-BE49-F238E27FC236}">
                <a16:creationId xmlns:a16="http://schemas.microsoft.com/office/drawing/2014/main" id="{8AD1DCD8-51EF-4D08-BF19-63A7FCE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27050"/>
            <a:ext cx="8705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推論単位は414試行ではなく「9感情カテゴリー」。参加者と映像の不確実性は階層bootstrapで反映した。</a:t>
            </a:r>
          </a:p>
        </p:txBody>
      </p:sp>
      <p:sp>
        <p:nvSpPr>
          <p:cNvPr id="38" name="section-3-bar">
            <a:extLst xmlns:a="http://schemas.openxmlformats.org/drawingml/2006/main">
              <a:ext uri="{FF2B5EF4-FFF2-40B4-BE49-F238E27FC236}">
                <a16:creationId xmlns:a16="http://schemas.microsoft.com/office/drawing/2014/main" id="{4B91B1B4-F44E-4CCC-9127-AB48B0CC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000625"/>
            <a:ext cx="193452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ection-3-accent">
            <a:extLst xmlns:a="http://schemas.openxmlformats.org/drawingml/2006/main">
              <a:ext uri="{FF2B5EF4-FFF2-40B4-BE49-F238E27FC236}">
                <a16:creationId xmlns:a16="http://schemas.microsoft.com/office/drawing/2014/main" id="{528769B7-78D5-400D-BE75-9230A6A1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000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6CD5AE9F-E38A-4468-8234-3D7E846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5067300"/>
            <a:ext cx="18869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  結果：対応はVAD次元によって異なる</a:t>
            </a:r>
          </a:p>
        </p:txBody>
      </p:sp>
      <p:sp>
        <p:nvSpPr>
          <p:cNvPr id="41" name="result-main-title">
            <a:extLst xmlns:a="http://schemas.openxmlformats.org/drawingml/2006/main">
              <a:ext uri="{FF2B5EF4-FFF2-40B4-BE49-F238E27FC236}">
                <a16:creationId xmlns:a16="http://schemas.microsoft.com/office/drawing/2014/main" id="{7791C77D-D7E8-4424-9507-1CC60FF6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905500"/>
            <a:ext cx="19230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5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5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Valenceは強く安定、Arousalは部分的、Dominanceは未支持</a:t>
            </a:r>
          </a:p>
        </p:txBody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49d55b15243c3"/>
          <a:stretch xmlns:a="http://schemas.openxmlformats.org/drawingml/2006/main"/>
        </p:blipFill>
        <p:spPr>
          <a:xfrm xmlns:a="http://schemas.openxmlformats.org/drawingml/2006/main">
            <a:off x="10231447" y="6667500"/>
            <a:ext cx="19132531" cy="6667500"/>
          </a:xfrm>
          <a:prstGeom xmlns:a="http://schemas.openxmlformats.org/drawingml/2006/main" prst="rect">
            <a:avLst/>
          </a:prstGeom>
        </p:spPr>
      </p:pic>
      <p:sp>
        <p:nvSpPr>
          <p:cNvPr id="43" name="main-figure-caption">
            <a:extLst xmlns:a="http://schemas.openxmlformats.org/drawingml/2006/main">
              <a:ext uri="{FF2B5EF4-FFF2-40B4-BE49-F238E27FC236}">
                <a16:creationId xmlns:a16="http://schemas.microsoft.com/office/drawing/2014/main" id="{1D3D1EB0-C8EE-44BC-9343-2034FC22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3315950"/>
            <a:ext cx="18811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図1　語彙VADと誘発体験VADの次元別対応：Valence r=.875（Holm p=.018）、Arousal r=.832（p=.034）、Dominance r=−.121（p=.792）</a:t>
            </a:r>
          </a:p>
        </p:txBody>
      </p:sp>
      <p:sp>
        <p:nvSpPr>
          <p:cNvPr id="44" name="result-keyline">
            <a:extLst xmlns:a="http://schemas.openxmlformats.org/drawingml/2006/main">
              <a:ext uri="{FF2B5EF4-FFF2-40B4-BE49-F238E27FC236}">
                <a16:creationId xmlns:a16="http://schemas.microsoft.com/office/drawing/2014/main" id="{92373BE6-47E6-45C3-93DF-62AEEF3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4287500"/>
            <a:ext cx="1915477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9050">
            <a:solidFill>
              <a:srgbClr val="E97824"/>
            </a:solidFill>
            <a:prstDash val="solid"/>
          </a:ln>
        </p:spPr>
      </p:sp>
      <p:sp>
        <p:nvSpPr>
          <p:cNvPr id="45" name="result-keyline-copy">
            <a:extLst xmlns:a="http://schemas.openxmlformats.org/drawingml/2006/main">
              <a:ext uri="{FF2B5EF4-FFF2-40B4-BE49-F238E27FC236}">
                <a16:creationId xmlns:a16="http://schemas.microsoft.com/office/drawing/2014/main" id="{FD1ED57B-8ACC-4C5E-A1F6-32AEEA9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4478000"/>
            <a:ext cx="18621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92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高い相関 ≠ 数値一致：感情カテゴリーの並びは共有されても、誘発体験の座標範囲は中性点側へ圧縮された。</a:t>
            </a:r>
          </a:p>
        </p:txBody>
      </p:sp>
      <p:sp>
        <p:nvSpPr>
          <p:cNvPr id="46" name="section-4-bar">
            <a:extLst xmlns:a="http://schemas.openxmlformats.org/drawingml/2006/main">
              <a:ext uri="{FF2B5EF4-FFF2-40B4-BE49-F238E27FC236}">
                <a16:creationId xmlns:a16="http://schemas.microsoft.com/office/drawing/2014/main" id="{F21A1CF1-7888-4502-96B9-1F16A5A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6144875"/>
            <a:ext cx="193452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ection-4-accent">
            <a:extLst xmlns:a="http://schemas.openxmlformats.org/drawingml/2006/main">
              <a:ext uri="{FF2B5EF4-FFF2-40B4-BE49-F238E27FC236}">
                <a16:creationId xmlns:a16="http://schemas.microsoft.com/office/drawing/2014/main" id="{011D0545-41F4-43D5-870A-CEF9BF5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614487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ection-4-title">
            <a:extLst xmlns:a="http://schemas.openxmlformats.org/drawingml/2006/main">
              <a:ext uri="{FF2B5EF4-FFF2-40B4-BE49-F238E27FC236}">
                <a16:creationId xmlns:a16="http://schemas.microsoft.com/office/drawing/2014/main" id="{54407601-1CA4-4299-87EB-253DC22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6211550"/>
            <a:ext cx="18869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  結果の分解</a:t>
            </a:r>
          </a:p>
        </p:txBody>
      </p:sp>
      <p:sp>
        <p:nvSpPr>
          <p:cNvPr id="49" name="scale-title">
            <a:extLst xmlns:a="http://schemas.openxmlformats.org/drawingml/2006/main">
              <a:ext uri="{FF2B5EF4-FFF2-40B4-BE49-F238E27FC236}">
                <a16:creationId xmlns:a16="http://schemas.microsoft.com/office/drawing/2014/main" id="{7D487DB6-AFBD-49F5-9A86-EB139CC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7068800"/>
            <a:ext cx="927258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図2　VとAは同一尺度（傾き=1）より明確に圧縮</a:t>
            </a:r>
          </a:p>
        </p:txBody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295b19599a4704"/>
          <a:stretch xmlns:a="http://schemas.openxmlformats.org/drawingml/2006/main"/>
        </p:blipFill>
        <p:spPr>
          <a:xfrm xmlns:a="http://schemas.openxmlformats.org/drawingml/2006/main">
            <a:off x="10125075" y="18251568"/>
            <a:ext cx="9463088" cy="4778215"/>
          </a:xfrm>
          <a:prstGeom xmlns:a="http://schemas.openxmlformats.org/drawingml/2006/main" prst="rect">
            <a:avLst/>
          </a:prstGeom>
        </p:spPr>
      </p:pic>
      <p:sp>
        <p:nvSpPr>
          <p:cNvPr id="51" name="scale-stats">
            <a:extLst xmlns:a="http://schemas.openxmlformats.org/drawingml/2006/main">
              <a:ext uri="{FF2B5EF4-FFF2-40B4-BE49-F238E27FC236}">
                <a16:creationId xmlns:a16="http://schemas.microsoft.com/office/drawing/2014/main" id="{89E6BB1E-F4D1-4106-8C07-2D75C639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3526750"/>
            <a:ext cx="8929688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9050">
            <a:solidFill>
              <a:srgbClr val="17365D"/>
            </a:solidFill>
            <a:prstDash val="solid"/>
          </a:ln>
        </p:spPr>
      </p:sp>
      <p:sp>
        <p:nvSpPr>
          <p:cNvPr id="52" name="scale-stats-copy">
            <a:extLst xmlns:a="http://schemas.openxmlformats.org/drawingml/2006/main">
              <a:ext uri="{FF2B5EF4-FFF2-40B4-BE49-F238E27FC236}">
                <a16:creationId xmlns:a16="http://schemas.microsoft.com/office/drawing/2014/main" id="{157D37F8-5962-4CA3-9829-E2F8D5D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717250"/>
            <a:ext cx="841533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5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Valence 傾き .520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Arousal 傾き .341</a:t>
            </a:r>
          </a:p>
        </p:txBody>
      </p:sp>
      <p:sp>
        <p:nvSpPr>
          <p:cNvPr id="53" name="residual-title">
            <a:extLst xmlns:a="http://schemas.openxmlformats.org/drawingml/2006/main">
              <a:ext uri="{FF2B5EF4-FFF2-40B4-BE49-F238E27FC236}">
                <a16:creationId xmlns:a16="http://schemas.microsoft.com/office/drawing/2014/main" id="{2E0DA7C7-0506-43AF-9F75-77191C8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2513" y="17068800"/>
            <a:ext cx="927258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図3　尺度校正後もcalmnessの残差点推定が最大</a:t>
            </a:r>
          </a:p>
        </p:txBody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ee9aba2094064"/>
          <a:stretch xmlns:a="http://schemas.openxmlformats.org/drawingml/2006/main"/>
        </p:blipFill>
        <p:spPr>
          <a:xfrm xmlns:a="http://schemas.openxmlformats.org/drawingml/2006/main">
            <a:off x="20197763" y="18542519"/>
            <a:ext cx="9082088" cy="5586962"/>
          </a:xfrm>
          <a:prstGeom xmlns:a="http://schemas.openxmlformats.org/drawingml/2006/main" prst="rect">
            <a:avLst/>
          </a:prstGeom>
        </p:spPr>
      </p:pic>
      <p:sp>
        <p:nvSpPr>
          <p:cNvPr id="55" name="residual-note">
            <a:extLst xmlns:a="http://schemas.openxmlformats.org/drawingml/2006/main">
              <a:ext uri="{FF2B5EF4-FFF2-40B4-BE49-F238E27FC236}">
                <a16:creationId xmlns:a16="http://schemas.microsoft.com/office/drawing/2014/main" id="{0438D9C6-38EC-4563-BFD0-293FB29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4913" y="24812625"/>
            <a:ext cx="89677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ただし信頼区間は広く、多くの感情で重なる。残差順位は探索的候補として扱う。</a:t>
            </a:r>
          </a:p>
        </p:txBody>
      </p:sp>
      <p:sp>
        <p:nvSpPr>
          <p:cNvPr id="56" name="section-5-bar">
            <a:extLst xmlns:a="http://schemas.openxmlformats.org/drawingml/2006/main">
              <a:ext uri="{FF2B5EF4-FFF2-40B4-BE49-F238E27FC236}">
                <a16:creationId xmlns:a16="http://schemas.microsoft.com/office/drawing/2014/main" id="{6797DEAB-BDAF-4AFA-933F-1A2AB6C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336625"/>
            <a:ext cx="193452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ection-5-accent">
            <a:extLst xmlns:a="http://schemas.openxmlformats.org/drawingml/2006/main">
              <a:ext uri="{FF2B5EF4-FFF2-40B4-BE49-F238E27FC236}">
                <a16:creationId xmlns:a16="http://schemas.microsoft.com/office/drawing/2014/main" id="{90555133-524B-40AC-86D5-AFC542E1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336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ection-5-title">
            <a:extLst xmlns:a="http://schemas.openxmlformats.org/drawingml/2006/main">
              <a:ext uri="{FF2B5EF4-FFF2-40B4-BE49-F238E27FC236}">
                <a16:creationId xmlns:a16="http://schemas.microsoft.com/office/drawing/2014/main" id="{21298E8A-F3EB-4350-A2D2-D4620D4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6403300"/>
            <a:ext cx="18869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  考察・結論</a:t>
            </a:r>
          </a:p>
        </p:txBody>
      </p:sp>
      <p:sp>
        <p:nvSpPr>
          <p:cNvPr id="59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60274D17-5F46-4804-81A5-4ECDE37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289125"/>
            <a:ext cx="93106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なぜ次元差が生じるのか</a:t>
            </a:r>
          </a:p>
        </p:txBody>
      </p:sp>
      <p:sp>
        <p:nvSpPr>
          <p:cNvPr id="60" name="discussion-copy">
            <a:extLst xmlns:a="http://schemas.openxmlformats.org/drawingml/2006/main">
              <a:ext uri="{FF2B5EF4-FFF2-40B4-BE49-F238E27FC236}">
                <a16:creationId xmlns:a16="http://schemas.microsoft.com/office/drawing/2014/main" id="{9D88576B-7916-421E-BD5C-B8EBB62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955875"/>
            <a:ext cx="9310688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V｜正負の共有知識が快・不快体験にも比較的反映される。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A｜刺激強度・時間・文脈への依存が大きく、カテゴリー順位が変わりやすい。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D｜語彙上のpower/controlと、映像視聴中の自己統制感で参照対象がずれる可能性がある。</a:t>
            </a:r>
          </a:p>
        </p:txBody>
      </p:sp>
      <p:sp>
        <p:nvSpPr>
          <p:cNvPr id="61" name="conclusion-box">
            <a:extLst xmlns:a="http://schemas.openxmlformats.org/drawingml/2006/main">
              <a:ext uri="{FF2B5EF4-FFF2-40B4-BE49-F238E27FC236}">
                <a16:creationId xmlns:a16="http://schemas.microsoft.com/office/drawing/2014/main" id="{4DEF4056-0E21-4F6C-AB1E-7B5F43B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7263" y="27241500"/>
            <a:ext cx="9463088" cy="6381750"/>
          </a:xfrm>
          <a:prstGeom xmlns:a="http://schemas.openxmlformats.org/drawingml/2006/main" prst="roundRect">
            <a:avLst>
              <a:gd name="adj" fmla="val 1791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72AD50DC-B4E1-451F-B192-23693FBB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9213" y="27527250"/>
            <a:ext cx="87391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60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3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結 論</a:t>
            </a:r>
          </a:p>
        </p:txBody>
      </p:sp>
      <p:sp>
        <p:nvSpPr>
          <p:cNvPr id="63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447BDEAD-1D91-458F-9811-B9857D8B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4463" y="28336875"/>
            <a:ext cx="8548688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　語彙VADは誘発体験の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　 一部の構造を保持する。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　移送可能性は次元依存的：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　 Vは安定、Aは部分的、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　 Dは未支持。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　異質なVADデータを統合する際は、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　 次元別の再校正が必要である。</a:t>
            </a:r>
          </a:p>
        </p:txBody>
      </p:sp>
      <p:sp>
        <p:nvSpPr>
          <p:cNvPr id="64" name="section-6-bar">
            <a:extLst xmlns:a="http://schemas.openxmlformats.org/drawingml/2006/main">
              <a:ext uri="{FF2B5EF4-FFF2-40B4-BE49-F238E27FC236}">
                <a16:creationId xmlns:a16="http://schemas.microsoft.com/office/drawing/2014/main" id="{ED7552BF-497E-4B16-B68D-D2E699EB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860625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ection-6-accent">
            <a:extLst xmlns:a="http://schemas.openxmlformats.org/drawingml/2006/main">
              <a:ext uri="{FF2B5EF4-FFF2-40B4-BE49-F238E27FC236}">
                <a16:creationId xmlns:a16="http://schemas.microsoft.com/office/drawing/2014/main" id="{707B316D-F20C-45FC-8C19-B920F6E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860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ection-6-title">
            <a:extLst xmlns:a="http://schemas.openxmlformats.org/drawingml/2006/main">
              <a:ext uri="{FF2B5EF4-FFF2-40B4-BE49-F238E27FC236}">
                <a16:creationId xmlns:a16="http://schemas.microsoft.com/office/drawing/2014/main" id="{29A85990-A950-456F-BAE0-0327380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9273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  限界</a:t>
            </a:r>
          </a:p>
        </p:txBody>
      </p:sp>
      <p:sp>
        <p:nvSpPr>
          <p:cNvPr id="67" name="limits-copy">
            <a:extLst xmlns:a="http://schemas.openxmlformats.org/drawingml/2006/main">
              <a:ext uri="{FF2B5EF4-FFF2-40B4-BE49-F238E27FC236}">
                <a16:creationId xmlns:a16="http://schemas.microsoft.com/office/drawing/2014/main" id="{97143751-F091-4CF3-B8B5-5C23D9A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784550"/>
            <a:ext cx="85915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9感情・各2映像の小標本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NRCとDREAMERは異なる参加者・課題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個人内予測や因果効果は検証できない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DREAMERのDominance画面方向は最終確認中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LOEO残差順位は探索的</a:t>
            </a:r>
          </a:p>
        </p:txBody>
      </p:sp>
      <p:sp>
        <p:nvSpPr>
          <p:cNvPr id="68" name="honesty-callout">
            <a:extLst xmlns:a="http://schemas.openxmlformats.org/drawingml/2006/main">
              <a:ext uri="{FF2B5EF4-FFF2-40B4-BE49-F238E27FC236}">
                <a16:creationId xmlns:a16="http://schemas.microsoft.com/office/drawing/2014/main" id="{9D205C14-04C0-464B-B123-6233AC91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85050"/>
            <a:ext cx="87058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9" name="honesty-copy">
            <a:extLst xmlns:a="http://schemas.openxmlformats.org/drawingml/2006/main">
              <a:ext uri="{FF2B5EF4-FFF2-40B4-BE49-F238E27FC236}">
                <a16:creationId xmlns:a16="http://schemas.microsoft.com/office/drawing/2014/main" id="{C0CE301A-E8DE-4F87-8C4A-DB5DD1BF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975550"/>
            <a:ext cx="8248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本研究は探索的二次データ分析であり、測定不変性や同一個人内の置換可能性を証明するものではない。</a:t>
            </a:r>
          </a:p>
        </p:txBody>
      </p:sp>
      <p:sp>
        <p:nvSpPr>
          <p:cNvPr id="70" name="footer-bg">
            <a:extLst xmlns:a="http://schemas.openxmlformats.org/drawingml/2006/main">
              <a:ext uri="{FF2B5EF4-FFF2-40B4-BE49-F238E27FC236}">
                <a16:creationId xmlns:a16="http://schemas.microsoft.com/office/drawing/2014/main" id="{E5D6A7CF-CC3D-4AF8-A664-52DCE953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0"/>
            <a:ext cx="30279975" cy="775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footer-top-rule">
            <a:extLst xmlns:a="http://schemas.openxmlformats.org/drawingml/2006/main">
              <a:ext uri="{FF2B5EF4-FFF2-40B4-BE49-F238E27FC236}">
                <a16:creationId xmlns:a16="http://schemas.microsoft.com/office/drawing/2014/main" id="{7983E35B-EDEC-4240-A0F2-9BC4ABC2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052000"/>
            <a:ext cx="28660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3A87E2D9-154F-4053-8A80-8FBF9319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4330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今後の課題・展望</a:t>
            </a:r>
          </a:p>
        </p:txBody>
      </p:sp>
      <p:sp>
        <p:nvSpPr>
          <p:cNvPr id="73" name="future-copy">
            <a:extLst xmlns:a="http://schemas.openxmlformats.org/drawingml/2006/main">
              <a:ext uri="{FF2B5EF4-FFF2-40B4-BE49-F238E27FC236}">
                <a16:creationId xmlns:a16="http://schemas.microsoft.com/office/drawing/2014/main" id="{57057FC9-1635-4B65-967B-2C8793F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99750"/>
            <a:ext cx="1190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① DREAMERのDominance評定方向を原資料で確認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② 外部データベースで次元別対応を再検証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③ 同一参加者がLexical → Prototype → Inducedを評価する直接実験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④ EDA・ECG/PPGは主観VADの「真値」ではなく収束的証拠として測定</a:t>
            </a:r>
          </a:p>
        </p:txBody>
      </p:sp>
      <p:sp>
        <p:nvSpPr>
          <p:cNvPr id="74" name="refs-title">
            <a:extLst xmlns:a="http://schemas.openxmlformats.org/drawingml/2006/main">
              <a:ext uri="{FF2B5EF4-FFF2-40B4-BE49-F238E27FC236}">
                <a16:creationId xmlns:a16="http://schemas.microsoft.com/office/drawing/2014/main" id="{165BB2F0-04B6-4B8C-9F1E-82288F9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54330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参考文献</a:t>
            </a:r>
          </a:p>
        </p:txBody>
      </p:sp>
      <p:sp>
        <p:nvSpPr>
          <p:cNvPr id="75" name="refs-copy">
            <a:extLst xmlns:a="http://schemas.openxmlformats.org/drawingml/2006/main">
              <a:ext uri="{FF2B5EF4-FFF2-40B4-BE49-F238E27FC236}">
                <a16:creationId xmlns:a16="http://schemas.microsoft.com/office/drawing/2014/main" id="{61F17F80-CB61-4D31-8825-4E0C1CA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099750"/>
            <a:ext cx="1000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Bradley &amp; Lang (1994) J Behav Ther Exp Psychiatry, 25, 49–59.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Katsigiannis &amp; Ramzan (2018) IEEE J Biomed Health Inform, 22, 98–107.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Mohammad (2025) NRC VAD Lexicon v2, arXiv:2503.23547.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Barrett (2004) J Pers Soc Psychol, 87, 266–281.</a:t>
            </a:r>
          </a:p>
        </p:txBody>
      </p:sp>
      <p:sp>
        <p:nvSpPr>
          <p:cNvPr id="76" name="ack-title">
            <a:extLst xmlns:a="http://schemas.openxmlformats.org/drawingml/2006/main">
              <a:ext uri="{FF2B5EF4-FFF2-40B4-BE49-F238E27FC236}">
                <a16:creationId xmlns:a16="http://schemas.microsoft.com/office/drawing/2014/main" id="{EB55AC60-9E1B-4DBF-8F36-8BC7FED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354330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rPr>
              <a:t>謝辞・連絡先</a:t>
            </a:r>
          </a:p>
        </p:txBody>
      </p:sp>
      <p:sp>
        <p:nvSpPr>
          <p:cNvPr id="77" name="ack-copy">
            <a:extLst xmlns:a="http://schemas.openxmlformats.org/drawingml/2006/main">
              <a:ext uri="{FF2B5EF4-FFF2-40B4-BE49-F238E27FC236}">
                <a16:creationId xmlns:a16="http://schemas.microsoft.com/office/drawing/2014/main" id="{0B60BB93-A25D-4AF8-9254-BA0F4FD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36099750"/>
            <a:ext cx="5286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DREAMERおよびNRC-VADの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データ提供者に謝意を表する。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研究資料・再現コード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github.com/kyzzz22/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vad-emotion-research</a:t>
            </a:r>
          </a:p>
        </p:txBody>
      </p:sp>
      <p:sp>
        <p:nvSpPr>
          <p:cNvPr id="78" name="footer-message">
            <a:extLst xmlns:a="http://schemas.openxmlformats.org/drawingml/2006/main">
              <a:ext uri="{FF2B5EF4-FFF2-40B4-BE49-F238E27FC236}">
                <a16:creationId xmlns:a16="http://schemas.microsoft.com/office/drawing/2014/main" id="{E5A55C05-C01E-4E77-848F-D41D9EB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719250"/>
            <a:ext cx="282797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ooter-message-copy">
            <a:extLst xmlns:a="http://schemas.openxmlformats.org/drawingml/2006/main">
              <a:ext uri="{FF2B5EF4-FFF2-40B4-BE49-F238E27FC236}">
                <a16:creationId xmlns:a16="http://schemas.microsoft.com/office/drawing/2014/main" id="{3E42AF2A-3D48-4250-B6FC-AF7AE41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0"/>
            <a:ext cx="275177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語彙VADと誘発体験VADは「関連する」が「交換可能ではない」</a:t>
            </a:r>
          </a:p>
        </p:txBody>
      </p:sp>
      <p:sp>
        <p:nvSpPr>
          <p:cNvPr id="80" name="footer-small">
            <a:extLst xmlns:a="http://schemas.openxmlformats.org/drawingml/2006/main">
              <a:ext uri="{FF2B5EF4-FFF2-40B4-BE49-F238E27FC236}">
                <a16:creationId xmlns:a16="http://schemas.microsoft.com/office/drawing/2014/main" id="{44D5544E-415F-42A3-8D4F-93F0E204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0"/>
            <a:ext cx="2827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Exploratory secondary-data study • analysis seed 20260718 • exact permutations 362,880 • hierarchical bootstrap 5,000</a:t>
            </a:r>
          </a:p>
        </p:txBody>
      </p:sp>
    </p:spTree>
    <p:extLst>
      <p:ext uri="{BB962C8B-B14F-4D97-AF65-F5344CB8AC3E}">
        <p14:creationId xmlns:p14="http://schemas.microsoft.com/office/powerpoint/2010/main" val="663968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2026-07-30T06:39:36.9260000Z</dcterms:created>
  <dcterms:modified xsi:type="dcterms:W3CDTF">2026-07-30T06:39:36.9260000Z</dcterms:modified>
</coreProperties>
</file>