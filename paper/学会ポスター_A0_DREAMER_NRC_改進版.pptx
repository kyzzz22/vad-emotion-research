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285fbcd8664eda" /><Relationship Type="http://schemas.openxmlformats.org/officeDocument/2006/relationships/extended-properties" Target="/docProps/app.xml" Id="Re50febda1c7542f2" /><Relationship Type="http://schemas.openxmlformats.org/officeDocument/2006/relationships/officeDocument" Target="/ppt/presentation.xml" Id="R50a0642945a64a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5092b8d3734c9c"/>
  </p:sldMasterIdLst>
  <p:notesMasterIdLst>
    <p:notesMasterId xmlns:r="http://schemas.openxmlformats.org/officeDocument/2006/relationships" r:id="R2c5c21891e3a420f"/>
  </p:notesMasterIdLst>
  <p:sldIdLst>
    <p:sldId xmlns:r="http://schemas.openxmlformats.org/officeDocument/2006/relationships" id="256" r:id="R995864ba9e1f4a45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85329541a94e78" /><Relationship Type="http://schemas.openxmlformats.org/officeDocument/2006/relationships/slideMaster" Target="/ppt/slideMasters/slideMaster1.xml" Id="R965092b8d3734c9c" /><Relationship Type="http://schemas.openxmlformats.org/officeDocument/2006/relationships/notesMaster" Target="/ppt/notesMasters/notesMaster1.xml" Id="R2c5c21891e3a420f" /><Relationship Type="http://schemas.openxmlformats.org/officeDocument/2006/relationships/presProps" Target="/ppt/presProps.xml" Id="R95af200313844d20" /><Relationship Type="http://schemas.openxmlformats.org/officeDocument/2006/relationships/tableStyles" Target="/ppt/tableStyles.xml" Id="Rddfca0ebb54a4c20" /><Relationship Type="http://schemas.openxmlformats.org/officeDocument/2006/relationships/slide" Target="/ppt/slides/slide1.xml" Id="R995864ba9e1f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56082885c442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4f1888a2614329" /><Relationship Type="http://schemas.openxmlformats.org/officeDocument/2006/relationships/notesMaster" Target="/ppt/notesMasters/notesMaster1.xml" Id="R7e32222770564c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/Users/mac/Downloads/shibaura开题相关/VAD坐标相关/vad-emotion-research/paper/DREAMER_NRC_完全分析報告_日本語.md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8375fa28644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82c5357a6b42d0" /><Relationship Type="http://schemas.openxmlformats.org/officeDocument/2006/relationships/slideLayout" Target="/ppt/slideLayouts/slideLayout1.xml" Id="R4416e484909f48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6e484909f48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0a9b1a84c4008" /><Relationship Type="http://schemas.openxmlformats.org/officeDocument/2006/relationships/image" Target="/ppt/media/image.png" Id="R9929ff842e974bd1" /><Relationship Type="http://schemas.openxmlformats.org/officeDocument/2006/relationships/image" Target="/ppt/media/image2.png" Id="Rccd7c9385dec48ac" /><Relationship Type="http://schemas.openxmlformats.org/officeDocument/2006/relationships/image" Target="/ppt/media/image3.png" Id="Rb8e90a92100d4d43" /><Relationship Type="http://schemas.openxmlformats.org/officeDocument/2006/relationships/notesSlide" Target="/ppt/notesSlides/notesSlide1.xml" Id="R2793ee43789341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903155-8B52-4ECD-A5FE-315C777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ster-number-frame">
            <a:extLst xmlns:a="http://schemas.openxmlformats.org/drawingml/2006/main">
              <a:ext uri="{FF2B5EF4-FFF2-40B4-BE49-F238E27FC236}">
                <a16:creationId xmlns:a16="http://schemas.microsoft.com/office/drawing/2014/main" id="{AF114A61-0EFA-4C94-BBA3-0B80048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</p:sp>
      <p:sp>
        <p:nvSpPr>
          <p:cNvPr id="3" name="poster-number-label">
            <a:extLst xmlns:a="http://schemas.openxmlformats.org/drawingml/2006/main">
              <a:ext uri="{FF2B5EF4-FFF2-40B4-BE49-F238E27FC236}">
                <a16:creationId xmlns:a16="http://schemas.microsoft.com/office/drawing/2014/main" id="{0FC88933-CD4E-4B19-A72B-F4CA4D4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4" name="poster-number-blank">
            <a:extLst xmlns:a="http://schemas.openxmlformats.org/drawingml/2006/main">
              <a:ext uri="{FF2B5EF4-FFF2-40B4-BE49-F238E27FC236}">
                <a16:creationId xmlns:a16="http://schemas.microsoft.com/office/drawing/2014/main" id="{43649DED-0AC6-4938-A1A0-A2CB008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9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　　　　</a:t>
            </a:r>
          </a:p>
        </p:txBody>
      </p:sp>
      <p:sp>
        <p:nvSpPr>
          <p:cNvPr id="5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0BCF738-7011-40D3-96F2-0BC7932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248602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感情語の意味的VADは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映像誘発体験へ移送できるか</a:t>
            </a:r>
          </a:p>
        </p:txBody>
      </p:sp>
      <p:sp>
        <p:nvSpPr>
          <p:cNvPr id="6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A668986-EB56-4B56-B9EF-649ECBC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400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1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39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DREAMER × NRC-VADによる9感情カテゴリーの次元別対応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AEDCE666-D0F1-4BB4-B14F-DF870EE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2400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8" name="header-bottom-rule">
            <a:extLst xmlns:a="http://schemas.openxmlformats.org/drawingml/2006/main">
              <a:ext uri="{FF2B5EF4-FFF2-40B4-BE49-F238E27FC236}">
                <a16:creationId xmlns:a16="http://schemas.microsoft.com/office/drawing/2014/main" id="{7632CE31-C97D-4BB5-846A-707AB64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28660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67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  背景・目的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905500"/>
            <a:ext cx="8705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感情研究では、単語・画像・映像・生理信号が同じVAD座標で扱われる。しかし、同じ数値形式でも「感情語の一般的意味」と「刺激後に本人が感じた状態」は同一とは限らない。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496300"/>
            <a:ext cx="8743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97824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677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rPr>
              <a:t>従来研究の課題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163050"/>
            <a:ext cx="828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数値範囲を揃えただけで、語彙VADを誘発体験の代替値として使用しやすい。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0496550"/>
            <a:ext cx="87439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0668000"/>
            <a:ext cx="824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研究目的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144250"/>
            <a:ext cx="8248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4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語彙的VAD規範と映像誘発後VADが、V・A・Dの各次元でどの程度構造を共有し、どこで尺度差・感情固有差が生じるかを検証する。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2397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239750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33064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  データ・分析フロー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58925"/>
            <a:ext cx="7620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430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NRC-VAD 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382750"/>
            <a:ext cx="404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021175"/>
            <a:ext cx="7620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25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92625"/>
            <a:ext cx="4476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690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954875"/>
            <a:ext cx="7620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97824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193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11680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両データを [−1, 1] へ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027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07625"/>
            <a:ext cx="7620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10765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9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717250"/>
            <a:ext cx="6972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① Pearson / Spearman　② 9! 厳密置換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③ 5,000回階層bootstrap　④ 回帰傾き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⑤ LOEO校正残差　⑥ 感度分析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27050"/>
            <a:ext cx="8705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推論単位は414試行ではなく「9感情カテゴリー」。参加者と映像の不確実性は階層bootstrapで反映した。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00062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00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06730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  結果：対応はVAD次元によって異なる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905500"/>
            <a:ext cx="19230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Valenceは安定、Arousalは部分的、Dominanceの対応は支持されず</a:t>
            </a:r>
          </a:p>
        </p:txBody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9ff842e974bd1"/>
          <a:stretch xmlns:a="http://schemas.openxmlformats.org/drawingml/2006/main"/>
        </p:blipFill>
        <p:spPr>
          <a:xfrm xmlns:a="http://schemas.openxmlformats.org/drawingml/2006/main">
            <a:off x="10231447" y="6667500"/>
            <a:ext cx="19132531" cy="6667500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3315950"/>
            <a:ext cx="18811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図1　NRC-VADとDREAMERの次元別対応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Arousal：Pearsonは高いが、順位相関と1感情除外分析では不安定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4287500"/>
            <a:ext cx="191547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97824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4478000"/>
            <a:ext cx="18621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高い相関は数値一致を意味しない：誘発体験の座標範囲は中性点側へ圧縮された。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14487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14487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621155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  結果の分解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7068800"/>
            <a:ext cx="92725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図2　V・AともにDREAMER側で尺度範囲が圧縮</a:t>
            </a:r>
          </a:p>
        </p:txBody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7c9385dec48ac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>
            <a:off x="10125075" y="17983200"/>
            <a:ext cx="9463088" cy="519112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526750"/>
            <a:ext cx="8929688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717250"/>
            <a:ext cx="84153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NRC → DREAMER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Valence：傾き .520　Arousal：傾き .341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2513" y="17068800"/>
            <a:ext cx="92725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図3　尺度校正後もcalmnessの残差点推定が最大</a:t>
            </a: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90a92100d4d43"/>
          <a:stretch xmlns:a="http://schemas.openxmlformats.org/drawingml/2006/main"/>
        </p:blipFill>
        <p:spPr>
          <a:xfrm xmlns:a="http://schemas.openxmlformats.org/drawingml/2006/main">
            <a:off x="20197763" y="18542519"/>
            <a:ext cx="9082088" cy="5586962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4913" y="24812625"/>
            <a:ext cx="89677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信頼区間は広く重なるため、残差順位は探索的候補とする。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3662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36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40330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  考察・結論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289125"/>
            <a:ext cx="93106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なぜ次元差が生じるのか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955875"/>
            <a:ext cx="9310688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V｜正負の構造は誘発体験にも比較的保持される。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A｜刺激強度・時間・文脈に依存し、順位が変わりやすい。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D｜語彙上のpower/controlと自己統制感で参照対象が異なる可能性がある。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263" y="27241500"/>
            <a:ext cx="9463088" cy="6381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9213" y="27527250"/>
            <a:ext cx="87391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0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結 論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4463" y="28336875"/>
            <a:ext cx="8548688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　語彙VADは誘発体験の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　 一部の構造を保持する。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　移送可能性は次元依存的：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　 Vは安定、Aは部分的、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　 Dは未支持。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　異質なVADデータを統合する際は、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　 次元別の再校正が必要である。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6062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6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927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  限界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784550"/>
            <a:ext cx="85915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9感情・各2映像の小標本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異なる参加者・課題間の比較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個人内予測や因果効果は未検証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Dominance方向の原資料確認が必要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85050"/>
            <a:ext cx="8705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975550"/>
            <a:ext cx="8248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本研究は探索的二次データ分析であり、測定不変性や同一個人内の置換可能性を証明するものではない。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0"/>
            <a:ext cx="30279975" cy="775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0"/>
            <a:ext cx="28660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今後の課題・展望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0"/>
            <a:ext cx="1190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① Dominance評定方向を原資料で確認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② 外部データで次元別対応を再検証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③ 同一参加者でLexical → Prototype → Inducedを直接比較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54330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参考文献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099750"/>
            <a:ext cx="1000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Bradley &amp; Lang (1994) J Behav Ther Exp Psychiatry, 25, 49-59.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Katsigiannis &amp; Ramzan (2018) IEEE J Biomed Health Inform, 22, 98-107.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Mohammad (2025) NRC VAD Lexicon v2, arXiv:2503.23547.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354330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謝辞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36099750"/>
            <a:ext cx="5286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DREAMERおよびNRC-VADの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データ提供者に謝意を表する。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719250"/>
            <a:ext cx="282797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0"/>
            <a:ext cx="275177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語彙VADと誘発体験VADは「関連する」が「交換可能ではない」</a:t>
            </a:r>
          </a:p>
        </p:txBody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2026-07-30T06:57:52.7320000Z</dcterms:created>
  <dcterms:modified xsi:type="dcterms:W3CDTF">2026-07-30T06:57:52.7320000Z</dcterms:modified>
</coreProperties>
</file>