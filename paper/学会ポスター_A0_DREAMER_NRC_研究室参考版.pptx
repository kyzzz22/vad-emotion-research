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8bae1499140ee" /><Relationship Type="http://schemas.openxmlformats.org/officeDocument/2006/relationships/extended-properties" Target="/docProps/app.xml" Id="Rf82f0c20d4364123" /><Relationship Type="http://schemas.openxmlformats.org/officeDocument/2006/relationships/officeDocument" Target="/ppt/presentation.xml" Id="Rc5a4355e747948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1228263f54954"/>
  </p:sldMasterIdLst>
  <p:notesMasterIdLst>
    <p:notesMasterId xmlns:r="http://schemas.openxmlformats.org/officeDocument/2006/relationships" r:id="R6211cb52226b4f4c"/>
  </p:notesMasterIdLst>
  <p:sldIdLst>
    <p:sldId xmlns:r="http://schemas.openxmlformats.org/officeDocument/2006/relationships" id="256" r:id="Re83308a040294f07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cb77dd19c040e1" /><Relationship Type="http://schemas.openxmlformats.org/officeDocument/2006/relationships/slideMaster" Target="/ppt/slideMasters/slideMaster1.xml" Id="R3481228263f54954" /><Relationship Type="http://schemas.openxmlformats.org/officeDocument/2006/relationships/notesMaster" Target="/ppt/notesMasters/notesMaster1.xml" Id="R6211cb52226b4f4c" /><Relationship Type="http://schemas.openxmlformats.org/officeDocument/2006/relationships/presProps" Target="/ppt/presProps.xml" Id="R9b3d5ea84c184676" /><Relationship Type="http://schemas.openxmlformats.org/officeDocument/2006/relationships/tableStyles" Target="/ppt/tableStyles.xml" Id="R547baf9847ef4e6f" /><Relationship Type="http://schemas.openxmlformats.org/officeDocument/2006/relationships/slide" Target="/ppt/slides/slide1.xml" Id="Re83308a04029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a8cc2504b0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9cbeda1224d46" /><Relationship Type="http://schemas.openxmlformats.org/officeDocument/2006/relationships/notesMaster" Target="/ppt/notesMasters/notesMaster1.xml" Id="Radaee506273c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/Users/mac/Downloads/shibaura开题相关/VAD坐标相关/vad-emotion-research/paper/DREAMER_NRC_完全分析報告_日本語.md (research claims and statistics)</a:t>
            </a:r>
          </a:p>
          <a:p xmlns:a="http://schemas.openxmlformats.org/drawingml/2006/main">
            <a:r>
              <a:t>- /Users/mac/Downloads/研究室/研究室海报参考/drive-download-20260730T081606Z-1-001/2025_プレゼミポスター_01_小林鷹智.pdf (lab palette, header/footer, authentic marks)</a:t>
            </a:r>
          </a:p>
          <a:p xmlns:a="http://schemas.openxmlformats.org/drawingml/2006/main">
            <a:r>
              <a:t>- /Users/mac/Downloads/研究室/研究室海报参考/drive-download-20260730T081606Z-1-001/2025_プレゼミポスター_12_藤原達也.pdf (emotion-research poster structure)</a:t>
            </a:r>
          </a:p>
          <a:p xmlns:a="http://schemas.openxmlformats.org/drawingml/2006/main">
            <a:r>
              <a:t>- /Users/mac/Downloads/研究室/研究室海报参考/drive-download-20260730T081606Z-1-001/2025_プレゼミポスター_24_吉田聖.pdf (section and panel styling)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1ac33f614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dcd2b5690472f" /><Relationship Type="http://schemas.openxmlformats.org/officeDocument/2006/relationships/slideLayout" Target="/ppt/slideLayouts/slideLayout1.xml" Id="R438f7798182b4e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f7798182b4e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3de3cd34849cf" /><Relationship Type="http://schemas.openxmlformats.org/officeDocument/2006/relationships/image" Target="/ppt/media/image.png" Id="Ra8f9d79b02904a40" /><Relationship Type="http://schemas.openxmlformats.org/officeDocument/2006/relationships/image" Target="/ppt/media/image2.png" Id="R59c1923dd50f47c9" /><Relationship Type="http://schemas.openxmlformats.org/officeDocument/2006/relationships/image" Target="/ppt/media/image3.png" Id="R30e5ab86223f4dcc" /><Relationship Type="http://schemas.openxmlformats.org/officeDocument/2006/relationships/image" Target="/ppt/media/image4.png" Id="R2908cb16d61e4fe5" /><Relationship Type="http://schemas.openxmlformats.org/officeDocument/2006/relationships/image" Target="/ppt/media/image5.png" Id="R61b1c677e1c24e04" /><Relationship Type="http://schemas.openxmlformats.org/officeDocument/2006/relationships/notesSlide" Target="/ppt/notesSlides/notesSlide1.xml" Id="R0e151f0f0c3a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6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  背景・目的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905500"/>
            <a:ext cx="8705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感情研究では、単語・画像・映像・生理信号が同じVAD座標で扱われる。しかし、同じ数値形式でも「感情語の一般的意味」と「刺激後に本人が感じた状態」は同一とは限らない。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496300"/>
            <a:ext cx="8743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677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従来研究の課題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163050"/>
            <a:ext cx="828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数値範囲を揃えただけで、語彙VADを誘発体験の代替値として使用しやすい。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0496550"/>
            <a:ext cx="8743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0668000"/>
            <a:ext cx="824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研究目的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144250"/>
            <a:ext cx="8248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語彙的VAD規範と映像誘発後VADが、V・A・Dの各次元でどの程度構造を共有し、どこで尺度差・感情固有差が生じるかを検証する。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33064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  データ・分析フロー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58925"/>
            <a:ext cx="7620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430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827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0211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25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92625"/>
            <a:ext cx="4476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690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9548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11680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027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07625"/>
            <a:ext cx="7620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0765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717250"/>
            <a:ext cx="6972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Pearson / Spearman　②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5,000回階層bootstrap　④ 回帰傾き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⑤ LOEO校正残差　⑥ 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27050"/>
            <a:ext cx="8705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推論単位は414試行ではなく「9感情カテゴリー」。参加者と映像の不確実性は階層bootstrapで反映した。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067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  結果：対応はVAD次元によって異なる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905500"/>
            <a:ext cx="19230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Valenceは安定、Arousalは部分的、Dominanceの対応は支持されず</a:t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9d79b02904a40"/>
          <a:stretch xmlns:a="http://schemas.openxmlformats.org/drawingml/2006/main"/>
        </p:blipFill>
        <p:spPr>
          <a:xfrm xmlns:a="http://schemas.openxmlformats.org/drawingml/2006/main">
            <a:off x="10231447" y="6667500"/>
            <a:ext cx="19132531" cy="6667500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3315950"/>
            <a:ext cx="18811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図1　NRC-VADとDREAMERの次元別対応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Arousal：Pearsonは高いが、順位相関と1感情除外分析では不安定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287500"/>
            <a:ext cx="191547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4478000"/>
            <a:ext cx="1862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高い相関は数値一致を意味しない：誘発体験の座標範囲は中性点側へ圧縮された。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621155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  結果の分解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V・AともにDREAMER側で尺度範囲が圧縮</a:t>
            </a:r>
          </a:p>
        </p:txBody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1923dd50f47c9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>
            <a:off x="10125075" y="17983200"/>
            <a:ext cx="9463088" cy="51911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526750"/>
            <a:ext cx="8929688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717250"/>
            <a:ext cx="84153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Valence：傾き .520　Arousal：傾き .341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2513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尺度校正後もcalmnessの残差点推定が最大</a:t>
            </a:r>
          </a:p>
        </p:txBody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5ab86223f4dcc"/>
          <a:stretch xmlns:a="http://schemas.openxmlformats.org/drawingml/2006/main"/>
        </p:blipFill>
        <p:spPr>
          <a:xfrm xmlns:a="http://schemas.openxmlformats.org/drawingml/2006/main">
            <a:off x="20197763" y="18542519"/>
            <a:ext cx="9082088" cy="5586962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4913" y="24812625"/>
            <a:ext cx="89677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信頼区間は広く重なるため、残差順位は探索的候補とする。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403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  考察・結論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89125"/>
            <a:ext cx="93106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なぜ次元差が生じるのか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955875"/>
            <a:ext cx="9310688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V｜正負の構造は誘発体験にも比較的保持される。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A｜刺激強度・時間・文脈に依存し、順位が変わりやすい。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D｜語彙上のpower/controlと自己統制感で参照対象が異なる可能性がある。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263" y="27241500"/>
            <a:ext cx="9463088" cy="6381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9213" y="27527250"/>
            <a:ext cx="87391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0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4463" y="28336875"/>
            <a:ext cx="8548688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語彙VADは誘発体験の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一部の構造を保持する。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移送可能性は次元依存的：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Vは安定、Aは部分的、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Dは未支持。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異質なVADデータを統合する際は、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次元別の再校正が必要である。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92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6  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784550"/>
            <a:ext cx="85915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9感情・各2映像の小標本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異なる参加者・課題間の比較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個人内予測や因果効果は未検証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Dominance方向の原資料確認が必要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85050"/>
            <a:ext cx="8705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975550"/>
            <a:ext cx="8248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本研究は探索的二次データ分析であり、測定不変性や同一個人内の置換可能性を証明するものではない。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0"/>
            <a:ext cx="3027997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今後の課題・展望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0"/>
            <a:ext cx="1190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① Dominance評定方向を原資料で確認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② 外部データで次元別対応を再検証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③ 同一参加者でLexical → Prototype → Inducedを直接比較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4330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099750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Bradley &amp; Lang (1994) J Behav Ther Exp Psychiatry, 25, 49-59.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Katsigiannis &amp; Ramzan (2018) IEEE J Biomed Health Inform, 22, 98-107.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Mohammad (2025) NRC VAD Lexicon v2, arXiv:2503.23547.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543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謝辞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6099750"/>
            <a:ext cx="5286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0"/>
            <a:ext cx="282797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B4DC3C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0"/>
            <a:ext cx="275177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語彙VADと誘発体験VADは「関連する」が「交換可能ではない」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8cb16d61e4fe5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1c677e1c24e04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感情語の意味的VADは</a:t>
            </a:r>
          </a:p>
          <a:p xmlns:a="http://schemas.openxmlformats.org/drawingml/2006/main">
            <a:pPr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映像誘発体験へ移送できるか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DREAMER × NRC-VADによる9感情カテゴリーの次元別対応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芝浦工業大学 Doly Lab　○姜晰頴（MA26006）</a:t>
            </a:r>
          </a:p>
        </p:txBody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2026-07-30T08:35:14.2570000Z</dcterms:created>
  <dcterms:modified xsi:type="dcterms:W3CDTF">2026-07-30T08:35:14.2570000Z</dcterms:modified>
</coreProperties>
</file>