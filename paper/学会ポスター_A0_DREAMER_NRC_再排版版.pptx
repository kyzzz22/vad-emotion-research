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85929dcd14578" /><Relationship Type="http://schemas.openxmlformats.org/officeDocument/2006/relationships/extended-properties" Target="/docProps/app.xml" Id="R6e5c6200f5a24de0" /><Relationship Type="http://schemas.openxmlformats.org/officeDocument/2006/relationships/officeDocument" Target="/ppt/presentation.xml" Id="R5ed69ab89876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bf9a9fde84539"/>
  </p:sldMasterIdLst>
  <p:notesMasterIdLst>
    <p:notesMasterId xmlns:r="http://schemas.openxmlformats.org/officeDocument/2006/relationships" r:id="R404af27896d24d25"/>
  </p:notesMasterIdLst>
  <p:sldIdLst>
    <p:sldId xmlns:r="http://schemas.openxmlformats.org/officeDocument/2006/relationships" id="256" r:id="R6e8a9fa32ff24e26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b528828cdc4d31" /><Relationship Type="http://schemas.openxmlformats.org/officeDocument/2006/relationships/slideMaster" Target="/ppt/slideMasters/slideMaster1.xml" Id="R965bf9a9fde84539" /><Relationship Type="http://schemas.openxmlformats.org/officeDocument/2006/relationships/notesMaster" Target="/ppt/notesMasters/notesMaster1.xml" Id="R404af27896d24d25" /><Relationship Type="http://schemas.openxmlformats.org/officeDocument/2006/relationships/presProps" Target="/ppt/presProps.xml" Id="R29b46e7b38814b50" /><Relationship Type="http://schemas.openxmlformats.org/officeDocument/2006/relationships/viewProps" Target="/ppt/viewProps.xml" Id="R371b9001d643486b" /><Relationship Type="http://schemas.openxmlformats.org/officeDocument/2006/relationships/tableStyles" Target="/ppt/tableStyles.xml" Id="Rbfba58d887a64c48" /><Relationship Type="http://schemas.openxmlformats.org/officeDocument/2006/relationships/slide" Target="/ppt/slides/slide1.xml" Id="R6e8a9fa32ff2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c95f2a092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1cfc8d4b642b3" /><Relationship Type="http://schemas.openxmlformats.org/officeDocument/2006/relationships/notesMaster" Target="/ppt/notesMasters/notesMaster1.xml" Id="R3ddbdd54fa7e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/Users/mac/Downloads/shibaura开题相关/VAD坐标相关/vad-emotion-research/paper/研究进展报告_DREAMER_NRC.md (study scope, statistics, interpretation, and limitations)</a:t>
            </a:r>
          </a:p>
          <a:p xmlns:a="http://schemas.openxmlformats.org/drawingml/2006/main">
            <a:r>
              <a:t>- /Users/mac/Downloads/shibaura开题相关/VAD坐标相关/vad-emotion-research/results/dreamer_nrc_robustness/robustness_report_zh.md (exact permutation, Holm-adjusted results, bootstrap intervals, and LOEO analysis)</a:t>
            </a:r>
          </a:p>
          <a:p xmlns:a="http://schemas.openxmlformats.org/drawingml/2006/main">
            <a:r>
              <a:t>- Bradley, M. M., &amp; Lang, P. J. (1994). Measuring emotion: The Self-Assessment Manikin and the Semantic Differential.</a:t>
            </a:r>
          </a:p>
          <a:p xmlns:a="http://schemas.openxmlformats.org/drawingml/2006/main">
            <a:r>
              <a:t>- Katsigiannis, S., &amp; Ramzan, N. (2018). DREAMER: A Database for Emotion Recognition Through EEG and ECG Signals From Wireless Low-cost Off-the-Shelf Devices.</a:t>
            </a:r>
          </a:p>
          <a:p xmlns:a="http://schemas.openxmlformats.org/drawingml/2006/main">
            <a:r>
              <a:t>- Mohammad, S. M. (2025). NRC VAD Lexicon v2.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3bc5f9362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71e6d0631f4157" /><Relationship Type="http://schemas.openxmlformats.org/officeDocument/2006/relationships/slideLayout" Target="/ppt/slideLayouts/slideLayout1.xml" Id="R72784eac1221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84eac1221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dca6da50242fa" /><Relationship Type="http://schemas.openxmlformats.org/officeDocument/2006/relationships/image" Target="/ppt/media/image.png" Id="Ra1e68d25955445a9" /><Relationship Type="http://schemas.openxmlformats.org/officeDocument/2006/relationships/image" Target="/ppt/media/image2.png" Id="R8b590af1c19846bb" /><Relationship Type="http://schemas.openxmlformats.org/officeDocument/2006/relationships/image" Target="/ppt/media/image3.png" Id="R9313a53d1858444b" /><Relationship Type="http://schemas.openxmlformats.org/officeDocument/2006/relationships/image" Target="/ppt/media/image4.png" Id="R8c70e6f931634669" /><Relationship Type="http://schemas.openxmlformats.org/officeDocument/2006/relationships/image" Target="/ppt/media/image5.png" Id="Ra0ed85ac2a2f44a2" /><Relationship Type="http://schemas.openxmlformats.org/officeDocument/2006/relationships/notesSlide" Target="/ppt/notesSlides/notesSlide1.xml" Id="Rd089e5bdd14046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背景・課題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3287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VAD（感情価・覚醒度・支配性）は、語・画像・映像・生理反応を共通空間で扱う枠組みである。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しかし、語の一般的意味と映像視聴後の主観状態では、文脈も回答者も異なる。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同じ数値範囲に変換しても、両者が代替可能とは限らない。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48625"/>
            <a:ext cx="13525500" cy="17621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172450"/>
            <a:ext cx="1304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研究ギャップ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667750"/>
            <a:ext cx="1304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高い相関でも、語彙VADを誘発体験の座標としてそのまま置き換えることはできない。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0"/>
            <a:ext cx="13525500" cy="1809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96500"/>
            <a:ext cx="1304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3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目的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572750"/>
            <a:ext cx="1304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9感情カテゴリーを対応づけ、①構造対応、②尺度圧縮、③感情固有の逸脱をV・A・D別に検証する。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6111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592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001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目的・データ・方法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0"/>
            <a:ext cx="5905500" cy="17621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001625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295400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3315950"/>
            <a:ext cx="8572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0"/>
            <a:ext cx="638175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049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9349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1612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0"/>
            <a:ext cx="13525500" cy="18097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305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63875"/>
            <a:ext cx="1023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0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30875"/>
            <a:ext cx="13525500" cy="285750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21375"/>
            <a:ext cx="1295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59550"/>
            <a:ext cx="1295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構造対応：Pearson / Spearman ＋ 9! 厳密置換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不確実性：5,000回の参加者・映像階層bootstrap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一致と逸脱：回帰傾き / LOEO残差 / 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0"/>
            <a:ext cx="1343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対応：NRC感情名詞VAD ↔ DREAMERカテゴリー平均VAD（23名 × 各感情2映像）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9感情：amusement / anger / calmness / disgust / excitement / fear / happiness / sadness / surprise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推論単位は414試行ではなく、9カテゴリー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626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9530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71500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Valenceは頑健、Arousalは部分的、Dominanceは未支持</a:t>
            </a:r>
          </a:p>
        </p:txBody>
      </p:sp>
      <p:pic>
        <p:nvPicPr>
          <p:cNvPr id="137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68d25955445a9"/>
          <a:stretch xmlns:a="http://schemas.openxmlformats.org/drawingml/2006/main"/>
        </p:blipFill>
        <p:spPr>
          <a:xfrm xmlns:a="http://schemas.openxmlformats.org/drawingml/2006/main" flipH="0" flipV="0">
            <a:off x="15811500" y="6619875"/>
            <a:ext cx="13525500" cy="4714875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1353800"/>
            <a:ext cx="1333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図1　カテゴリー対応（n=9）：V  r=.875, Holm p=.018 / ρ=.895, Holm p=.007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A  r=.832, Holm p=.034 / ρ=.433, Holm p=.500　｜　D  r=−.121, Holm p=.792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2573000"/>
            <a:ext cx="135255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2725400"/>
            <a:ext cx="1304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 ≠ 数値一致：回帰傾きはV=.520、A=.341。誘発体験は中性点側へ圧縮される。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971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78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2875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50495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V・Aともに誘発体験の尺度範囲が圧縮</a:t>
            </a:r>
          </a:p>
        </p:txBody>
      </p:sp>
      <p:pic>
        <p:nvPicPr>
          <p:cNvPr id="145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90af1c19846bb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 flipH="0" flipV="0">
            <a:off x="15811500" y="15811500"/>
            <a:ext cx="6477000" cy="35528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526250"/>
            <a:ext cx="6477000" cy="12382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691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[.423–.611]　A .341 [.184–.501]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50495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calmnessの校正後残差が最大（探索的）</a:t>
            </a:r>
          </a:p>
        </p:txBody>
      </p:sp>
      <p:pic>
        <p:nvPicPr>
          <p:cNvPr id="149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3a53d1858444b"/>
          <a:stretch xmlns:a="http://schemas.openxmlformats.org/drawingml/2006/main"/>
        </p:blipFill>
        <p:spPr>
          <a:xfrm xmlns:a="http://schemas.openxmlformats.org/drawingml/2006/main" flipH="0" flipV="0">
            <a:off x="22764750" y="15811500"/>
            <a:ext cx="6572250" cy="403860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002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95% CIは広く重なるため、残差順位は確定できない。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50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3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002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次元別の解釈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669500"/>
            <a:ext cx="6477000" cy="72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V｜Pearson、順位相関、除外分析が一致。カテゴリーの正負と順序は頑健。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A｜線形傾向はあるが順位相関は非有意。calmness除外時に対応が低下。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D｜対応証拠なし。語彙のpower/controlと映像後の自己統制感では、参照対象が異なる可能性。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2002750"/>
            <a:ext cx="6572250" cy="7905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2885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955250"/>
            <a:ext cx="6096000" cy="666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カテゴリー構造は頑健。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ただし座標値は圧縮される。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線形対応はあるが、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順位・除外分析では不安定。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本データでは未支持。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共通尺度として扱うなら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次元別校正が必要。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31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12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0"/>
            <a:ext cx="133826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推論単位は9感情、各感情2映像の小標本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参加者・課題が異なり、個人内の置換可能性は未検証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相関・残差は因果関係を示さない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Dominanceの尺度方向と参照対象は原資料確認が必要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0"/>
            <a:ext cx="13525500" cy="17621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479750"/>
            <a:ext cx="1304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探索的二次分析：測定不変性や同一個人内の置換可能性を証明する結果ではない。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0"/>
            <a:ext cx="302799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433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次に検証すること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0"/>
            <a:ext cx="13382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DREAMER原資料でDominanceの評価方向・指示文を確認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外部データでV/A/D別の対応と圧縮を再現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同一参加者・同一尺度で Lexical → Prototype → Induced 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0575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242000"/>
            <a:ext cx="1352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Bradley &amp; Lang (1994) J Behav Ther Exp Psychiatry, 25, 49–59.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Katsigiannis &amp; Ramzan (2018) IEEE J Biomed Health Inform, 22, 98–107.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99875"/>
            <a:ext cx="13382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6385500"/>
            <a:ext cx="1352550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6671250"/>
            <a:ext cx="1295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0e6f931634669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77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85ac2a2f44a2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"/>
            <a:ext cx="19526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感情語のVAD座標は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映像誘発体験に移送できるか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952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× DREAMER：9感情カテゴリーの次元別対応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952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EB643967-049B-4501-99BC-651C2AB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857750"/>
            <a:ext cx="0" cy="36480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2026-07-30T10:51:45.1850000Z</dcterms:created>
  <dcterms:modified xsi:type="dcterms:W3CDTF">2026-07-30T10:51:45.1850000Z</dcterms:modified>
</coreProperties>
</file>