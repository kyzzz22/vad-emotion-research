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9a2e1f446a4044" /><Relationship Type="http://schemas.openxmlformats.org/officeDocument/2006/relationships/extended-properties" Target="/docProps/app.xml" Id="R935c886107ad4e05" /><Relationship Type="http://schemas.openxmlformats.org/officeDocument/2006/relationships/officeDocument" Target="/ppt/presentation.xml" Id="R0d5aea325d8b43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e2000201da4b8b"/>
  </p:sldMasterIdLst>
  <p:notesMasterIdLst>
    <p:notesMasterId xmlns:r="http://schemas.openxmlformats.org/officeDocument/2006/relationships" r:id="R885d8bc6f8bf4d92"/>
  </p:notesMasterIdLst>
  <p:sldIdLst>
    <p:sldId xmlns:r="http://schemas.openxmlformats.org/officeDocument/2006/relationships" id="256" r:id="R8c3803dfcc2a4150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e9ab02eb7d4d66" /><Relationship Type="http://schemas.openxmlformats.org/officeDocument/2006/relationships/slideMaster" Target="/ppt/slideMasters/slideMaster1.xml" Id="R3ae2000201da4b8b" /><Relationship Type="http://schemas.openxmlformats.org/officeDocument/2006/relationships/notesMaster" Target="/ppt/notesMasters/notesMaster1.xml" Id="R885d8bc6f8bf4d92" /><Relationship Type="http://schemas.openxmlformats.org/officeDocument/2006/relationships/presProps" Target="/ppt/presProps.xml" Id="R5249f9cfeaf14e2e" /><Relationship Type="http://schemas.openxmlformats.org/officeDocument/2006/relationships/viewProps" Target="/ppt/viewProps.xml" Id="Rc0677252edf84ea1" /><Relationship Type="http://schemas.openxmlformats.org/officeDocument/2006/relationships/tableStyles" Target="/ppt/tableStyles.xml" Id="R5a64ce0c52ac4af7" /><Relationship Type="http://schemas.openxmlformats.org/officeDocument/2006/relationships/slide" Target="/ppt/slides/slide1.xml" Id="R8c3803dfcc2a41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f8280b8dd9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ce4dbb116478f" /><Relationship Type="http://schemas.openxmlformats.org/officeDocument/2006/relationships/notesMaster" Target="/ppt/notesMasters/notesMaster1.xml" Id="R9f7447cb0864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</a:t>
            </a:r>
            <a:r>
              <a:t>DREAMER_NRC_完全分析報告_日本語.md</a:t>
            </a:r>
            <a:r>
              <a:t> (study scope, category definitions, statistics, limitations)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-emotion-research/paper/学会ポスター_A0_DREAMER_NRC_研究室参考版.pptx (inherited A0 layout and visual system)</a:t>
            </a:r>
          </a:p>
          <a:p xmlns:a="http://schemas.openxmlformats.org/drawingml/2006/main">
            <a:r>
              <a:t>- User-supplied 2025 Doly Lab pre-seminar posters (content hierarchy conventions)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b9502e5034d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cced0df5da459c" /><Relationship Type="http://schemas.openxmlformats.org/officeDocument/2006/relationships/slideLayout" Target="/ppt/slideLayouts/slideLayout1.xml" Id="R32d66a1d80284d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d66a1d80284d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0e2fa3adf4664" /><Relationship Type="http://schemas.openxmlformats.org/officeDocument/2006/relationships/image" Target="/ppt/media/image.png" Id="R7e62f5f60f7b4361" /><Relationship Type="http://schemas.openxmlformats.org/officeDocument/2006/relationships/image" Target="/ppt/media/image2.png" Id="Re061334c158a47fd" /><Relationship Type="http://schemas.openxmlformats.org/officeDocument/2006/relationships/image" Target="/ppt/media/image3.png" Id="Ra8c7c582012c45f1" /><Relationship Type="http://schemas.openxmlformats.org/officeDocument/2006/relationships/image" Target="/ppt/media/image4.png" Id="Rcdb3e703b5914f04" /><Relationship Type="http://schemas.openxmlformats.org/officeDocument/2006/relationships/image" Target="/ppt/media/image5.png" Id="Radc47d40ca0b4326" /><Relationship Type="http://schemas.openxmlformats.org/officeDocument/2006/relationships/notesSlide" Target="/ppt/notesSlides/notesSlide1.xml" Id="Rc859194ed6bc4c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ster-number-frame">
            <a:extLst xmlns:a="http://schemas.openxmlformats.org/drawingml/2006/main"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" name="poster-number-label">
            <a:extLst xmlns:a="http://schemas.openxmlformats.org/drawingml/2006/main"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 xmlns:a="http://schemas.openxmlformats.org/drawingml/2006/main"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9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NRC-VADによる9感情カテゴリーの次元別対応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 xmlns:a="http://schemas.openxmlformats.org/drawingml/2006/main"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30279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62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背景・課題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13287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感情研究では、単語・画像・映像・生理信号をVAD（感情価・覚醒度・支配性）の共通空間で表す。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– 語の一般的意味と映像視聴後の主観状態は、参照する文脈と回答者が異なる。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  ・同じ数値形式でも、代替可能とは限らない。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48625"/>
            <a:ext cx="13525500" cy="17621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191500"/>
            <a:ext cx="1304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従来研究の課題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715375"/>
            <a:ext cx="13049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数値範囲を揃えるだけで、語彙VADを誘発体験の代替値として扱えるかは、十分に検証されていない。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0"/>
            <a:ext cx="13525500" cy="1809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048875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目的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620375"/>
            <a:ext cx="1304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語彙VADと映像誘発後VADを9感情で対応づけ、①カテゴリー構造、②尺度圧縮、③感情固有の逸脱をV・A・D別に検証する。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6111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592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001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目的・データ・方法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858750"/>
            <a:ext cx="5905500" cy="17621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0492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9730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000875" y="13315950"/>
            <a:ext cx="857250" cy="762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858750"/>
            <a:ext cx="6381750" cy="17621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049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954000"/>
            <a:ext cx="3762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16125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0"/>
            <a:ext cx="13525500" cy="18097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591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63875"/>
            <a:ext cx="10239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0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30875"/>
            <a:ext cx="13525500" cy="285750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0"/>
            <a:ext cx="1295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88125"/>
            <a:ext cx="12954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対応：Pearson / Spearman ＋ 9! 厳密置換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不確実性：5,000回階層bootstrap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一致・逸脱：回帰傾き／LOEO残差／感度分析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0"/>
            <a:ext cx="1343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対応：NRC感情名詞VAD ↔ DREAMER（23名×2映像）のカテゴリー平均VAD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9感情：amusement / anger / calmness / disgust / excitement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fear / happiness / sadness / surprise（推論単位：9カテゴリー、試行ではない）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626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9530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762625"/>
            <a:ext cx="1347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Valenceは安定、Arousalは部分的、Dominanceは本データでは未支持</a:t>
            </a:r>
          </a:p>
        </p:txBody>
      </p:sp>
      <p:pic>
        <p:nvPicPr>
          <p:cNvPr id="140" name="図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2f5f60f7b4361"/>
          <a:stretch xmlns:a="http://schemas.openxmlformats.org/drawingml/2006/main"/>
        </p:blipFill>
        <p:spPr>
          <a:xfrm xmlns:a="http://schemas.openxmlformats.org/drawingml/2006/main">
            <a:off x="15811500" y="6619875"/>
            <a:ext cx="13525500" cy="4714875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1382375"/>
            <a:ext cx="1333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図1　V：r=.875（p=.018）・ρ=.895（p=.007）・LOEO .848-.922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A：r=.832（p=.034）だがρ=.433（p=.500）・LOEO .482-.898｜D：r=-.121（p=.792）［p：Holm補正］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2573000"/>
            <a:ext cx="13525500" cy="138112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2744450"/>
            <a:ext cx="13049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高い相関 ≠ 数値一致：V=.520、A=.341の傾きで、誘発体験は中性点側へ圧縮。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971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878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2875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結果の分解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50495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9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V・AともにDREAMER側で尺度範囲が圧縮</a:t>
            </a:r>
          </a:p>
        </p:txBody>
      </p:sp>
      <p:pic>
        <p:nvPicPr>
          <p:cNvPr id="148" name="図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1334c158a47fd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>
            <a:off x="15811500" y="15811500"/>
            <a:ext cx="6477000" cy="35528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526250"/>
            <a:ext cx="6477000" cy="12382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966912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DREAMER（傾き, 95% CI）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 .520 [.423-.611]　A .341 [.184-.501]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50495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calmnessの校正後残差が最大（探索的）</a:t>
            </a:r>
          </a:p>
        </p:txBody>
      </p:sp>
      <p:pic>
        <p:nvPicPr>
          <p:cNvPr id="152" name="図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7c582012c45f1"/>
          <a:stretch xmlns:a="http://schemas.openxmlformats.org/drawingml/2006/main"/>
        </p:blipFill>
        <p:spPr>
          <a:xfrm xmlns:a="http://schemas.openxmlformats.org/drawingml/2006/main">
            <a:off x="22764750" y="15811500"/>
            <a:ext cx="6572250" cy="4038600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00025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95% CIは広く重なるため、残差順位は確定できない。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503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31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240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考察・結論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002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次元差の解釈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669500"/>
            <a:ext cx="6477000" cy="72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V｜Pearson・順位相関・除外分析が一致し、正負の順序は頑健。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A｜線形傾向はあるが、順位は非有意でcalmness除外時に低下。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D｜対応証拠なし。語彙のpower/controlと映像後の自己統制感で参照対象が異なる可能性。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2002750"/>
            <a:ext cx="6572250" cy="7905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22885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3050500"/>
            <a:ext cx="6096000" cy="647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Valence：カテゴリー順序は頑健。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ただし座標値は圧縮される。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Arousal：線形対応はあるが、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順位・除外分析では不安定。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Dominance：本データでは未支持。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統合時は次元別校正が必要。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31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12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0"/>
            <a:ext cx="133826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推論単位は9感情、各感情2映像の小標本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参加者・課題が異なり、個人内置換は未検証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相関・残差は因果効果を示さない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Dの尺度方向・参照対象は原資料確認が必要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0"/>
            <a:ext cx="13525500" cy="17621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479750"/>
            <a:ext cx="1304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本研究は探索的二次データ分析であり、測定不変性や同一個人内の置換可能性を証明するものではない。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719500"/>
            <a:ext cx="302799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643300"/>
            <a:ext cx="30279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今後の課題・展望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99125"/>
            <a:ext cx="13382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Dominanceの評価方向・指示文を原資料で確認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外部データでV/A/D別の対応・圧縮を再現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同一参加者・同一尺度でLexical → Prototype → Inducedを直接比較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05752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参考文献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1242000"/>
            <a:ext cx="13525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Bradley &amp; Lang (1994) J Behav Ther Exp Psychiatry, 25, 49-59.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Katsigiannis &amp; Ramzan (2018) IEEE J Biomed Health Inform, 22, 98-107.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Mohammad (2025) NRC VAD Lexicon v2, arXiv:2503.23547.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謝辞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0"/>
            <a:ext cx="13382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6385500"/>
            <a:ext cx="1352550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6671250"/>
            <a:ext cx="1295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語彙VADと誘発体験VADは「関連する」が「交換可能ではない」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9" name="図 1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3e703b5914f04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685800"/>
            <a:ext cx="1952625" cy="2143125"/>
          </a:xfrm>
          <a:prstGeom xmlns:a="http://schemas.openxmlformats.org/drawingml/2006/main" prst="rect">
            <a:avLst/>
          </a:prstGeom>
        </p:spPr>
      </p:pic>
      <p:pic>
        <p:nvPicPr>
          <p:cNvPr id="180" name="図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47d40ca0b4326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74800" y="742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感情語の意味的VADは</a:t>
            </a:r>
          </a:p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映像誘発体験へ移送できるか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DREAMER × NRC-VADによる9感情カテゴリーの次元別対応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芝浦工業大学</a:t>
            </a:r>
            <a:r>
              <a:rPr sz="3300" b="1">
                <a:solidFill>
                  <a:srgbClr val="111111"/>
                </a:solidFill>
              </a:rPr>
              <a:t> Doly Lab　○</a:t>
            </a:r>
            <a:r>
              <a:rPr sz="3300" b="1">
                <a:solidFill>
                  <a:srgbClr val="111111"/>
                </a:solidFill>
              </a:rPr>
              <a:t>姜晰</a:t>
            </a:r>
            <a:r>
              <a:rPr sz="3300" b="1">
                <a:solidFill>
                  <a:srgbClr val="111111"/>
                </a:solidFill>
              </a:rPr>
              <a:t>頡</a:t>
            </a:r>
            <a:r>
              <a:rPr sz="3300" b="1">
                <a:solidFill>
                  <a:srgbClr val="111111"/>
                </a:solidFill>
              </a:rPr>
              <a:t>（MA26006）</a:t>
            </a:r>
          </a:p>
        </p:txBody>
      </p:sp>
      <p:sp>
        <p:nvSpPr>
          <p:cNvPr id="98" name="senior-center-divider">
            <a:extLst xmlns:a="http://schemas.openxmlformats.org/drawingml/2006/main">
              <a:ext uri="{FF2B5EF4-FFF2-40B4-BE49-F238E27FC236}">
                <a16:creationId xmlns:a16="http://schemas.microsoft.com/office/drawing/2014/main" id="{EB643967-049B-4501-99BC-651C2AB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4857750"/>
            <a:ext cx="0" cy="36480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EA4AA"/>
            </a:solidFill>
            <a:prstDash val="dot"/>
          </a:ln>
        </p:spPr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2026-07-30T10:22:29.2540000Z</dcterms:created>
  <dcterms:modified xsi:type="dcterms:W3CDTF">2026-07-30T10:22:29.2540000Z</dcterms:modified>
</coreProperties>
</file>