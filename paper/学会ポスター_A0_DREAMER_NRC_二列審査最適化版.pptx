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6805473da4696" /><Relationship Type="http://schemas.openxmlformats.org/officeDocument/2006/relationships/extended-properties" Target="/docProps/app.xml" Id="Rb4a2aab4784045bb" /><Relationship Type="http://schemas.openxmlformats.org/officeDocument/2006/relationships/officeDocument" Target="/ppt/presentation.xml" Id="R360933ee26cb44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c0d99086454c01"/>
  </p:sldMasterIdLst>
  <p:notesMasterIdLst>
    <p:notesMasterId xmlns:r="http://schemas.openxmlformats.org/officeDocument/2006/relationships" r:id="R4017d03648654848"/>
  </p:notesMasterIdLst>
  <p:sldIdLst>
    <p:sldId xmlns:r="http://schemas.openxmlformats.org/officeDocument/2006/relationships" id="256" r:id="Rd57c79666bd04b10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06446e9bc842ff" /><Relationship Type="http://schemas.openxmlformats.org/officeDocument/2006/relationships/slideMaster" Target="/ppt/slideMasters/slideMaster1.xml" Id="R22c0d99086454c01" /><Relationship Type="http://schemas.openxmlformats.org/officeDocument/2006/relationships/notesMaster" Target="/ppt/notesMasters/notesMaster1.xml" Id="R4017d03648654848" /><Relationship Type="http://schemas.openxmlformats.org/officeDocument/2006/relationships/presProps" Target="/ppt/presProps.xml" Id="R465624b783dc4b43" /><Relationship Type="http://schemas.openxmlformats.org/officeDocument/2006/relationships/viewProps" Target="/ppt/viewProps.xml" Id="Re0bed9db2aeb4073" /><Relationship Type="http://schemas.openxmlformats.org/officeDocument/2006/relationships/tableStyles" Target="/ppt/tableStyles.xml" Id="R26342cec907344f8" /><Relationship Type="http://schemas.openxmlformats.org/officeDocument/2006/relationships/slide" Target="/ppt/slides/slide1.xml" Id="Rd57c79666bd04b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f6a5138b0e47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c34170493e4402" /><Relationship Type="http://schemas.openxmlformats.org/officeDocument/2006/relationships/notesMaster" Target="/ppt/notesMasters/notesMaster1.xml" Id="Rd028f1602e7143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</a:t>
            </a:r>
            <a:r>
              <a:t>shibaura开题相关</a:t>
            </a:r>
            <a:r>
              <a:t>/</a:t>
            </a:r>
            <a:r>
              <a:t>VAD坐标相关</a:t>
            </a:r>
            <a:r>
              <a:t>/</a:t>
            </a:r>
            <a:r>
              <a:t>vad</a:t>
            </a:r>
            <a:r>
              <a:t>-emotion-research/paper/</a:t>
            </a:r>
            <a:r>
              <a:t>DREAMER_NRC_完全分析報告_日本語.md</a:t>
            </a:r>
            <a:r>
              <a:t> (study scope, category definitions, statistics, limitations)</a:t>
            </a:r>
          </a:p>
          <a:p xmlns:a="http://schemas.openxmlformats.org/drawingml/2006/main">
            <a:r>
              <a:t>- /Users/mac/Downloads/</a:t>
            </a:r>
            <a:r>
              <a:t>shibaura开题相关</a:t>
            </a:r>
            <a:r>
              <a:t>/</a:t>
            </a:r>
            <a:r>
              <a:t>VAD坐标相关</a:t>
            </a:r>
            <a:r>
              <a:t>/</a:t>
            </a:r>
            <a:r>
              <a:t>vad</a:t>
            </a:r>
            <a:r>
              <a:t>-emotion-research/paper/学会ポスター_A0_DREAMER_NRC_研究室参考版.pptx (inherited A0 layout and visual system)</a:t>
            </a:r>
          </a:p>
          <a:p xmlns:a="http://schemas.openxmlformats.org/drawingml/2006/main">
            <a:r>
              <a:t>- User-supplied 2025 Doly Lab pre-seminar posters (content hierarchy conventions)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6fe2076f54a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fa019d2afd4a19" /><Relationship Type="http://schemas.openxmlformats.org/officeDocument/2006/relationships/slideLayout" Target="/ppt/slideLayouts/slideLayout1.xml" Id="R7d6e809102d2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6e809102d2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01ddb364c43c2" /><Relationship Type="http://schemas.openxmlformats.org/officeDocument/2006/relationships/image" Target="/ppt/media/image.png" Id="R8e0cd86e30ad433a" /><Relationship Type="http://schemas.openxmlformats.org/officeDocument/2006/relationships/image" Target="/ppt/media/image2.png" Id="R0cde3c6cc9314684" /><Relationship Type="http://schemas.openxmlformats.org/officeDocument/2006/relationships/image" Target="/ppt/media/image3.png" Id="R045cd24bd8bd488a" /><Relationship Type="http://schemas.openxmlformats.org/officeDocument/2006/relationships/image" Target="/ppt/media/image4.png" Id="Rd38d9e62feed4564" /><Relationship Type="http://schemas.openxmlformats.org/officeDocument/2006/relationships/image" Target="/ppt/media/image5.png" Id="R8d73e7c9f9674645" /><Relationship Type="http://schemas.openxmlformats.org/officeDocument/2006/relationships/notesSlide" Target="/ppt/notesSlides/notesSlide1.xml" Id="R9c1e5c205d394f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903155-8B52-4ECD-A5FE-315C777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ster-number-frame">
            <a:extLst xmlns:a="http://schemas.openxmlformats.org/drawingml/2006/main">
              <a:ext uri="{FF2B5EF4-FFF2-40B4-BE49-F238E27FC236}">
                <a16:creationId xmlns:a16="http://schemas.microsoft.com/office/drawing/2014/main" id="{AF114A61-0EFA-4C94-BBA3-0B80048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" name="poster-number-label">
            <a:extLst xmlns:a="http://schemas.openxmlformats.org/drawingml/2006/main">
              <a:ext uri="{FF2B5EF4-FFF2-40B4-BE49-F238E27FC236}">
                <a16:creationId xmlns:a16="http://schemas.microsoft.com/office/drawing/2014/main" id="{0FC88933-CD4E-4B19-A72B-F4CA4D4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4" name="poster-number-blank">
            <a:extLst xmlns:a="http://schemas.openxmlformats.org/drawingml/2006/main">
              <a:ext uri="{FF2B5EF4-FFF2-40B4-BE49-F238E27FC236}">
                <a16:creationId xmlns:a16="http://schemas.microsoft.com/office/drawing/2014/main" id="{43649DED-0AC6-4938-A1A0-A2CB008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9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　　　　</a:t>
            </a:r>
          </a:p>
        </p:txBody>
      </p:sp>
      <p:sp>
        <p:nvSpPr>
          <p:cNvPr id="5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0BCF738-7011-40D3-96F2-0BC7932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4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感情語の意味的VADは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映像誘発体験へ移送できるか</a:t>
            </a:r>
          </a:p>
        </p:txBody>
      </p:sp>
      <p:sp>
        <p:nvSpPr>
          <p:cNvPr id="6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A668986-EB56-4B56-B9EF-649ECBC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 × NRC-VADによる9感情カテゴリーの次元別対応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AEDCE666-D0F1-4BB4-B14F-DF870EE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8" name="header-bottom-rule">
            <a:extLst xmlns:a="http://schemas.openxmlformats.org/drawingml/2006/main">
              <a:ext uri="{FF2B5EF4-FFF2-40B4-BE49-F238E27FC236}">
                <a16:creationId xmlns:a16="http://schemas.microsoft.com/office/drawing/2014/main" id="{7632CE31-C97D-4BB5-846A-707AB64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28660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67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  背景・目的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905500"/>
            <a:ext cx="87058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感情研究では、単語・画像・映像・生理信号をVAD（感情価・覚醒度・支配性）の共通空間で表す。一方、語の一般的意味と映像視聴後の主観状態は、同じ尺度でも同一とは限らない。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8496300"/>
            <a:ext cx="8743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6677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従来研究の課題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163050"/>
            <a:ext cx="828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数値範囲を揃えるだけで、語彙VADを誘発体験の代替値として扱えるかは、十分に検証されていない。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0496550"/>
            <a:ext cx="87439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0668000"/>
            <a:ext cx="824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目的・研究の位置づけ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144250"/>
            <a:ext cx="8248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96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語彙VADと映像誘発後VADを9感情で対応づけ、①カテゴリー構造、②尺度圧縮、③感情固有の逸脱をV・A・D別に検証する。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2397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239750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33064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  データ・分析フロー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58925"/>
            <a:ext cx="7620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430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382750"/>
            <a:ext cx="404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0972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021175"/>
            <a:ext cx="7620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25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7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92625"/>
            <a:ext cx="4476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690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954875"/>
            <a:ext cx="762000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193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3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11680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両データを [−1, 1] へ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02750"/>
            <a:ext cx="857250" cy="819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07625"/>
            <a:ext cx="7620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107650"/>
            <a:ext cx="708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9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717250"/>
            <a:ext cx="6972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対応：Pearson / Spearman ＋ 9! 厳密置換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不確実性：5,000回階層bootstrap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一致・逸脱：回帰傾き／LOEO残差／感度分析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27050"/>
            <a:ext cx="8705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29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対応：NRC感情名詞VAD ↔ DREAMER（23名×2映像）のカテゴリー平均VAD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9感情：amusement / anger / calmness / disgust / excitement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fear / happiness / sadness / surprise（推論単位：9カテゴリー、試行ではない）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00062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00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06730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  結果：対応はVAD次元によって異なる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905500"/>
            <a:ext cx="192309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5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Valenceは安定、Arousalは部分的、Dominanceは本データでは未支持</a:t>
            </a:r>
          </a:p>
        </p:txBody>
      </p:sp>
      <p:pic>
        <p:nvPicPr>
          <p:cNvPr id="139" name="図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cd86e30ad433a"/>
          <a:stretch xmlns:a="http://schemas.openxmlformats.org/drawingml/2006/main"/>
        </p:blipFill>
        <p:spPr>
          <a:xfrm xmlns:a="http://schemas.openxmlformats.org/drawingml/2006/main">
            <a:off x="10231447" y="6667500"/>
            <a:ext cx="19132531" cy="6667500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13315950"/>
            <a:ext cx="18811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図1　V：r=.875（p=.018）・ρ=.895（p=.007）・LOEO .848-.922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7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A：r=.832（p=.034）だがρ=.433（p=.500）・LOEO .482-.898｜D：r=-.121（p=.792）［p：Holm補正］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4287500"/>
            <a:ext cx="1915477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3C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4478000"/>
            <a:ext cx="18621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高い相関 ≠ 数値一致：V=.520、A=.341の傾きで、誘発体験は中性点側へ圧縮。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14487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614487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1621155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4  結果の分解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7068800"/>
            <a:ext cx="92725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　V・AともにDREAMER側で尺度範囲が圧縮</a:t>
            </a:r>
          </a:p>
        </p:txBody>
      </p:sp>
      <p:pic>
        <p:nvPicPr>
          <p:cNvPr id="147" name="図 1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e3c6cc9314684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>
            <a:off x="10125075" y="17983200"/>
            <a:ext cx="9463088" cy="519112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23526750"/>
            <a:ext cx="8929688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717250"/>
            <a:ext cx="84153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DREAMER（傾き, 95% CI）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 .520 [.423-.611]　A .341 [.184-.501]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2513" y="17068800"/>
            <a:ext cx="9272588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　calmnessの校正後残差が最大（探索的）</a:t>
            </a:r>
          </a:p>
        </p:txBody>
      </p:sp>
      <p:pic>
        <p:nvPicPr>
          <p:cNvPr id="151" name="図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cd24bd8bd488a"/>
          <a:stretch xmlns:a="http://schemas.openxmlformats.org/drawingml/2006/main"/>
        </p:blipFill>
        <p:spPr>
          <a:xfrm xmlns:a="http://schemas.openxmlformats.org/drawingml/2006/main">
            <a:off x="20197763" y="18542519"/>
            <a:ext cx="9082088" cy="5586962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4913" y="24812625"/>
            <a:ext cx="89677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95% CIは広く重なるため、残差順位は確定できない。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36625"/>
            <a:ext cx="193452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6336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403300"/>
            <a:ext cx="18869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5  考察・結論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289125"/>
            <a:ext cx="93106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なぜ次元差が生じるのか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955875"/>
            <a:ext cx="9310688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V｜Pearson・順位相関・除外分析が一致し、正負の順序は頑健。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A｜線形傾向はあるが、順位は非有意でcalmness除外時に低下。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D｜対応証拠なし。語彙のpower/controlと映像後の自己統制感で参照対象が異なる可能性。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7263" y="27241500"/>
            <a:ext cx="9463088" cy="6381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9213" y="27527250"/>
            <a:ext cx="8739188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60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 論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4463" y="28336875"/>
            <a:ext cx="8548688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　Valence：カテゴリー順序は頑健。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ただし座標値は圧縮される。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　Arousal：線形対応はあるが、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順位・除外分析では不安定。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　Dominance：本データでは未支持。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統合時は次元別校正が必要。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60625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60625"/>
            <a:ext cx="17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927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6  限界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784550"/>
            <a:ext cx="85915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推論単位は9感情、各感情2映像の小標本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参加者・課題が異なり、個人内置換は未検証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相関・残差は因果効果を示さない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Dの尺度方向・参照対象は原資料確認が必要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785050"/>
            <a:ext cx="87058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7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975550"/>
            <a:ext cx="8248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本研究は探索的二次データ分析であり、測定不変性や同一個人内の置換可能性を証明するものではない。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052000"/>
            <a:ext cx="30279975" cy="775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0"/>
            <a:ext cx="286607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今後の課題・展望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0"/>
            <a:ext cx="1190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① Dominanceの評価方向・指示文を原資料で確認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② 外部データでV/A/D別の対応・圧縮を再現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③ 同一参加者・同一尺度でLexical → Prototype → Inducedを直接比較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54330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参考文献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6099750"/>
            <a:ext cx="1000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Bradley &amp; Lang (1994) J Behav Ther Exp Psychiatry, 25, 49-59.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Katsigiannis &amp; Ramzan (2018) IEEE J Biomed Health Inform, 22, 98-107.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Mohammad (2025) NRC VAD Lexicon v2, arXiv:2503.23547.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354330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謝辞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0" y="36099750"/>
            <a:ext cx="528637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DREAMERおよびNRC-VADの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データ提供者に謝意を表する。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719250"/>
            <a:ext cx="282797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B4DC3C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0"/>
            <a:ext cx="275177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語彙VADと誘発体験VADは「関連する」が「交換可能ではない」</a:t>
            </a:r>
          </a:p>
        </p:txBody>
      </p:sp>
      <p:sp>
        <p:nvSpPr>
          <p:cNvPr id="85" name="lab-header-background">
            <a:extLst xmlns:a="http://schemas.openxmlformats.org/drawingml/2006/main"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8" name="図 1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d9e62feed4564"/>
          <a:srcRect xmlns:a="http://schemas.openxmlformats.org/drawingml/2006/main" l="8372" t="0" r="8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685800"/>
            <a:ext cx="1952625" cy="2143125"/>
          </a:xfrm>
          <a:prstGeom xmlns:a="http://schemas.openxmlformats.org/drawingml/2006/main" prst="rect">
            <a:avLst/>
          </a:prstGeom>
        </p:spPr>
      </p:pic>
      <p:pic>
        <p:nvPicPr>
          <p:cNvPr id="179" name="図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3e7c9f9674645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74800" y="7429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8" name="lab-poster-number-frame">
            <a:extLst xmlns:a="http://schemas.openxmlformats.org/drawingml/2006/main"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 xmlns:a="http://schemas.openxmlformats.org/drawingml/2006/main"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演題番号</a:t>
            </a:r>
          </a:p>
        </p:txBody>
      </p:sp>
      <p:sp>
        <p:nvSpPr>
          <p:cNvPr id="90" name="lab-visible-title">
            <a:extLst xmlns:a="http://schemas.openxmlformats.org/drawingml/2006/main"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感情語の意味的VADは</a:t>
            </a:r>
          </a:p>
          <a:p xmlns:a="http://schemas.openxmlformats.org/drawingml/2006/main"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映像誘発体験へ移送できるか</a:t>
            </a:r>
          </a:p>
        </p:txBody>
      </p:sp>
      <p:sp>
        <p:nvSpPr>
          <p:cNvPr id="91" name="lab-visible-subtitle">
            <a:extLst xmlns:a="http://schemas.openxmlformats.org/drawingml/2006/main"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DREAMER × NRC-VADによる9感情カテゴリーの次元別対応</a:t>
            </a:r>
          </a:p>
        </p:txBody>
      </p:sp>
      <p:sp>
        <p:nvSpPr>
          <p:cNvPr id="92" name="lab-visible-author">
            <a:extLst xmlns:a="http://schemas.openxmlformats.org/drawingml/2006/main"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芝浦工業大学</a:t>
            </a:r>
            <a:r>
              <a:rPr sz="3300" b="1">
                <a:solidFill>
                  <a:srgbClr val="111111"/>
                </a:solidFill>
              </a:rPr>
              <a:t> Doly Lab　○</a:t>
            </a:r>
            <a:r>
              <a:rPr sz="3300" b="1">
                <a:solidFill>
                  <a:srgbClr val="111111"/>
                </a:solidFill>
              </a:rPr>
              <a:t>姜晰</a:t>
            </a:r>
            <a:r>
              <a:rPr sz="3300" b="1">
                <a:solidFill>
                  <a:srgbClr val="111111"/>
                </a:solidFill>
              </a:rPr>
              <a:t>頡</a:t>
            </a:r>
            <a:r>
              <a:rPr sz="3300" b="1">
                <a:solidFill>
                  <a:srgbClr val="111111"/>
                </a:solidFill>
              </a:rPr>
              <a:t>（MA26006）</a:t>
            </a:r>
          </a:p>
        </p:txBody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2026-07-30T09:25:24.9890000Z</dcterms:created>
  <dcterms:modified xsi:type="dcterms:W3CDTF">2026-07-30T09:25:24.9890000Z</dcterms:modified>
</coreProperties>
</file>