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6858000" cy="9144000"/>
  <p:defaultTextStyle>
    <a:defPPr>
      <a:defRPr lang="ja-M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67" d="100"/>
          <a:sy n="67" d="100"/>
        </p:scale>
        <p:origin x="-11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/Users/mac/Downloads/</a:t>
            </a:r>
            <a:r>
              <a:rPr dirty="0" err="1"/>
              <a:t>shibaura开题相关</a:t>
            </a:r>
            <a:r>
              <a:rPr dirty="0"/>
              <a:t>/</a:t>
            </a:r>
            <a:r>
              <a:rPr dirty="0" err="1"/>
              <a:t>VAD坐标相关</a:t>
            </a:r>
            <a:r>
              <a:rPr dirty="0"/>
              <a:t>/</a:t>
            </a:r>
            <a:r>
              <a:rPr dirty="0" err="1"/>
              <a:t>vad</a:t>
            </a:r>
            <a:r>
              <a:rPr dirty="0"/>
              <a:t>-emotion-research/paper/</a:t>
            </a:r>
            <a:r>
              <a:rPr dirty="0" err="1"/>
              <a:t>DREAMER_NRC_完全分析報告_日本語.md</a:t>
            </a:r>
            <a:r>
              <a:rPr dirty="0"/>
              <a:t> (study scope, category definitions, statistics, limitations)</a:t>
            </a:r>
          </a:p>
          <a:p>
            <a:r>
              <a:rPr dirty="0"/>
              <a:t>- /Users/mac/Downloads/</a:t>
            </a:r>
            <a:r>
              <a:rPr dirty="0" err="1"/>
              <a:t>shibaura开题相关</a:t>
            </a:r>
            <a:r>
              <a:rPr dirty="0"/>
              <a:t>/</a:t>
            </a:r>
            <a:r>
              <a:rPr dirty="0" err="1"/>
              <a:t>VAD坐标相关</a:t>
            </a:r>
            <a:r>
              <a:rPr dirty="0"/>
              <a:t>/</a:t>
            </a:r>
            <a:r>
              <a:rPr dirty="0" err="1"/>
              <a:t>vad</a:t>
            </a:r>
            <a:r>
              <a:rPr dirty="0"/>
              <a:t>-emotion-research/paper/学会ポスター_A0_DREAMER_NRC_研究室参考版.pptx (inherited A0 layout and visual system)</a:t>
            </a:r>
          </a:p>
          <a:p>
            <a:r>
              <a:rPr dirty="0"/>
              <a:t>- User-supplied 2025 Doly Lab pre-seminar posters (content hierarchy conventions)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header-rule">
            <a:extLst>
              <a:ext uri="{FF2B5EF4-FFF2-40B4-BE49-F238E27FC236}">
                <a16:creationId xmlns:a16="http://schemas.microsoft.com/office/drawing/2014/main" id="{28903155-8B52-4ECD-A5FE-315C7772E7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79975" cy="3238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2" name="poster-number-frame">
            <a:extLst>
              <a:ext uri="{FF2B5EF4-FFF2-40B4-BE49-F238E27FC236}">
                <a16:creationId xmlns:a16="http://schemas.microsoft.com/office/drawing/2014/main" id="{AF114A61-0EFA-4C94-BBA3-0B8004805F59}"/>
              </a:ext>
            </a:extLst>
          </p:cNvPr>
          <p:cNvSpPr>
            <a:spLocks noGrp="1"/>
          </p:cNvSpPr>
          <p:nvPr/>
        </p:nvSpPr>
        <p:spPr>
          <a:xfrm>
            <a:off x="809625" y="723900"/>
            <a:ext cx="32385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3" name="poster-number-label">
            <a:extLst>
              <a:ext uri="{FF2B5EF4-FFF2-40B4-BE49-F238E27FC236}">
                <a16:creationId xmlns:a16="http://schemas.microsoft.com/office/drawing/2014/main" id="{0FC88933-CD4E-4B19-A72B-F4CA4D440FA5}"/>
              </a:ext>
            </a:extLst>
          </p:cNvPr>
          <p:cNvSpPr>
            <a:spLocks noGrp="1"/>
          </p:cNvSpPr>
          <p:nvPr/>
        </p:nvSpPr>
        <p:spPr>
          <a:xfrm>
            <a:off x="1066800" y="971550"/>
            <a:ext cx="2724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演題番号</a:t>
            </a:r>
          </a:p>
        </p:txBody>
      </p:sp>
      <p:sp>
        <p:nvSpPr>
          <p:cNvPr id="4" name="poster-number-blank">
            <a:extLst>
              <a:ext uri="{FF2B5EF4-FFF2-40B4-BE49-F238E27FC236}">
                <a16:creationId xmlns:a16="http://schemas.microsoft.com/office/drawing/2014/main" id="{43649DED-0AC6-4938-A1A0-A2CB008C6C02}"/>
              </a:ext>
            </a:extLst>
          </p:cNvPr>
          <p:cNvSpPr>
            <a:spLocks noGrp="1"/>
          </p:cNvSpPr>
          <p:nvPr/>
        </p:nvSpPr>
        <p:spPr>
          <a:xfrm>
            <a:off x="1066800" y="1647825"/>
            <a:ext cx="27241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7979"/>
          </a:bodyPr>
          <a:lstStyle/>
          <a:p>
            <a:pPr algn="ctr">
              <a:lnSpc>
                <a:spcPct val="108000"/>
              </a:lnSpc>
              <a:buNone/>
              <a:def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52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　　　　</a:t>
            </a:r>
          </a:p>
        </p:txBody>
      </p:sp>
      <p:sp>
        <p:nvSpPr>
          <p:cNvPr id="5" name="poster-title">
            <a:extLst>
              <a:ext uri="{FF2B5EF4-FFF2-40B4-BE49-F238E27FC236}">
                <a16:creationId xmlns:a16="http://schemas.microsoft.com/office/drawing/2014/main" id="{F0BCF738-7011-40D3-96F2-0BC793275901}"/>
              </a:ext>
            </a:extLst>
          </p:cNvPr>
          <p:cNvSpPr>
            <a:spLocks noGrp="1"/>
          </p:cNvSpPr>
          <p:nvPr/>
        </p:nvSpPr>
        <p:spPr>
          <a:xfrm>
            <a:off x="6477000" y="552450"/>
            <a:ext cx="1952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4735"/>
          </a:bodyPr>
          <a:lstStyle/>
          <a:p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感情語の意味的VADは</a:t>
            </a:r>
          </a:p>
          <a:p>
            <a:pPr algn="l">
              <a:lnSpc>
                <a:spcPct val="96000"/>
              </a:lnSpc>
              <a:buNone/>
              <a:defRPr sz="87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78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映像誘発体験へ移送できるか</a:t>
            </a:r>
          </a:p>
        </p:txBody>
      </p:sp>
      <p:sp>
        <p:nvSpPr>
          <p:cNvPr id="6" name="poster-subtitle">
            <a:extLst>
              <a:ext uri="{FF2B5EF4-FFF2-40B4-BE49-F238E27FC236}">
                <a16:creationId xmlns:a16="http://schemas.microsoft.com/office/drawing/2014/main" id="{CA668986-EB56-4B56-B9EF-649ECBC31B71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1952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 × NRC-VADによる9感情カテゴリーの次元別対応</a:t>
            </a:r>
          </a:p>
        </p:txBody>
      </p:sp>
      <p:sp>
        <p:nvSpPr>
          <p:cNvPr id="7" name="author">
            <a:extLst>
              <a:ext uri="{FF2B5EF4-FFF2-40B4-BE49-F238E27FC236}">
                <a16:creationId xmlns:a16="http://schemas.microsoft.com/office/drawing/2014/main" id="{AEDCE666-D0F1-4BB4-B14F-DF870EE3512A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19526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3150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芝浦工業大学 Doly Lab　○姜晰頡（MA26006）</a:t>
            </a:r>
          </a:p>
        </p:txBody>
      </p:sp>
      <p:sp>
        <p:nvSpPr>
          <p:cNvPr id="8" name="header-bottom-rule">
            <a:extLst>
              <a:ext uri="{FF2B5EF4-FFF2-40B4-BE49-F238E27FC236}">
                <a16:creationId xmlns:a16="http://schemas.microsoft.com/office/drawing/2014/main" id="{7632CE31-C97D-4BB5-846A-707AB64A7D37}"/>
              </a:ext>
            </a:extLst>
          </p:cNvPr>
          <p:cNvSpPr>
            <a:spLocks noGrp="1"/>
          </p:cNvSpPr>
          <p:nvPr/>
        </p:nvSpPr>
        <p:spPr>
          <a:xfrm>
            <a:off x="809625" y="4495800"/>
            <a:ext cx="28660725" cy="7620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9" name="section-1-bar">
            <a:extLst>
              <a:ext uri="{FF2B5EF4-FFF2-40B4-BE49-F238E27FC236}">
                <a16:creationId xmlns:a16="http://schemas.microsoft.com/office/drawing/2014/main" id="{AD851A9D-C533-4B9C-8E71-6FE565CBC551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8858250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10" name="section-1-accent">
            <a:extLst>
              <a:ext uri="{FF2B5EF4-FFF2-40B4-BE49-F238E27FC236}">
                <a16:creationId xmlns:a16="http://schemas.microsoft.com/office/drawing/2014/main" id="{F41F26E8-2532-4B67-A6D8-4A074852E548}"/>
              </a:ext>
            </a:extLst>
          </p:cNvPr>
          <p:cNvSpPr>
            <a:spLocks noGrp="1"/>
          </p:cNvSpPr>
          <p:nvPr/>
        </p:nvSpPr>
        <p:spPr>
          <a:xfrm>
            <a:off x="809625" y="5000625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11" name="section-1-title">
            <a:extLst>
              <a:ext uri="{FF2B5EF4-FFF2-40B4-BE49-F238E27FC236}">
                <a16:creationId xmlns:a16="http://schemas.microsoft.com/office/drawing/2014/main" id="{2091FDD7-1692-4C1B-85A1-381948F76CE3}"/>
              </a:ext>
            </a:extLst>
          </p:cNvPr>
          <p:cNvSpPr>
            <a:spLocks noGrp="1"/>
          </p:cNvSpPr>
          <p:nvPr/>
        </p:nvSpPr>
        <p:spPr>
          <a:xfrm>
            <a:off x="1133475" y="5067300"/>
            <a:ext cx="838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  背景・目的</a:t>
            </a:r>
          </a:p>
        </p:txBody>
      </p:sp>
      <p:sp>
        <p:nvSpPr>
          <p:cNvPr id="12" name="background-copy">
            <a:extLst>
              <a:ext uri="{FF2B5EF4-FFF2-40B4-BE49-F238E27FC236}">
                <a16:creationId xmlns:a16="http://schemas.microsoft.com/office/drawing/2014/main" id="{95B0A47C-6629-40C7-8031-DCFC18F544D0}"/>
              </a:ext>
            </a:extLst>
          </p:cNvPr>
          <p:cNvSpPr>
            <a:spLocks noGrp="1"/>
          </p:cNvSpPr>
          <p:nvPr/>
        </p:nvSpPr>
        <p:spPr>
          <a:xfrm>
            <a:off x="885825" y="5905500"/>
            <a:ext cx="87058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感情研究では、単語・画像・映像・生理信号が同じVAD座標で扱われる。しかし、同じ数値形式でも「感情語の一般的意味」と「刺激後に本人が感じた状態」は同一とは限らない。</a:t>
            </a:r>
          </a:p>
        </p:txBody>
      </p:sp>
      <p:sp>
        <p:nvSpPr>
          <p:cNvPr id="13" name="gap-callout">
            <a:extLst>
              <a:ext uri="{FF2B5EF4-FFF2-40B4-BE49-F238E27FC236}">
                <a16:creationId xmlns:a16="http://schemas.microsoft.com/office/drawing/2014/main" id="{11EFD229-1260-4204-A33A-87529FC013C6}"/>
              </a:ext>
            </a:extLst>
          </p:cNvPr>
          <p:cNvSpPr>
            <a:spLocks noGrp="1"/>
          </p:cNvSpPr>
          <p:nvPr/>
        </p:nvSpPr>
        <p:spPr>
          <a:xfrm>
            <a:off x="866775" y="8496300"/>
            <a:ext cx="8743950" cy="1809750"/>
          </a:xfrm>
          <a:prstGeom prst="roundRect">
            <a:avLst>
              <a:gd name="adj" fmla="val 6316"/>
            </a:avLst>
          </a:prstGeom>
          <a:solidFill>
            <a:srgbClr val="FFF3C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14" name="gap-label">
            <a:extLst>
              <a:ext uri="{FF2B5EF4-FFF2-40B4-BE49-F238E27FC236}">
                <a16:creationId xmlns:a16="http://schemas.microsoft.com/office/drawing/2014/main" id="{BFA3CA7D-5DCD-45BF-A4F6-6FF3F1AC8904}"/>
              </a:ext>
            </a:extLst>
          </p:cNvPr>
          <p:cNvSpPr>
            <a:spLocks noGrp="1"/>
          </p:cNvSpPr>
          <p:nvPr/>
        </p:nvSpPr>
        <p:spPr>
          <a:xfrm>
            <a:off x="1095375" y="8667750"/>
            <a:ext cx="828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77"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従来研究の課題</a:t>
            </a:r>
          </a:p>
        </p:txBody>
      </p:sp>
      <p:sp>
        <p:nvSpPr>
          <p:cNvPr id="15" name="gap-copy">
            <a:extLst>
              <a:ext uri="{FF2B5EF4-FFF2-40B4-BE49-F238E27FC236}">
                <a16:creationId xmlns:a16="http://schemas.microsoft.com/office/drawing/2014/main" id="{ACD8EEED-C2A6-40D2-94B1-7ADD359EB250}"/>
              </a:ext>
            </a:extLst>
          </p:cNvPr>
          <p:cNvSpPr>
            <a:spLocks noGrp="1"/>
          </p:cNvSpPr>
          <p:nvPr/>
        </p:nvSpPr>
        <p:spPr>
          <a:xfrm>
            <a:off x="1095375" y="9163050"/>
            <a:ext cx="8286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7588"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数値範囲を揃えただけで、語彙VADを誘発体験の代替値として使用しやすい。</a:t>
            </a:r>
          </a:p>
        </p:txBody>
      </p:sp>
      <p:sp>
        <p:nvSpPr>
          <p:cNvPr id="16" name="purpose-callout">
            <a:extLst>
              <a:ext uri="{FF2B5EF4-FFF2-40B4-BE49-F238E27FC236}">
                <a16:creationId xmlns:a16="http://schemas.microsoft.com/office/drawing/2014/main" id="{F24B19EE-4C2B-4A0B-8196-8409AB11421F}"/>
              </a:ext>
            </a:extLst>
          </p:cNvPr>
          <p:cNvSpPr>
            <a:spLocks noGrp="1"/>
          </p:cNvSpPr>
          <p:nvPr/>
        </p:nvSpPr>
        <p:spPr>
          <a:xfrm>
            <a:off x="866775" y="10496550"/>
            <a:ext cx="8743950" cy="2343150"/>
          </a:xfrm>
          <a:prstGeom prst="roundRect">
            <a:avLst>
              <a:gd name="adj" fmla="val 4878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17" name="purpose-label">
            <a:extLst>
              <a:ext uri="{FF2B5EF4-FFF2-40B4-BE49-F238E27FC236}">
                <a16:creationId xmlns:a16="http://schemas.microsoft.com/office/drawing/2014/main" id="{EDB46B44-AD09-4C81-8BB7-DAA770178D6C}"/>
              </a:ext>
            </a:extLst>
          </p:cNvPr>
          <p:cNvSpPr>
            <a:spLocks noGrp="1"/>
          </p:cNvSpPr>
          <p:nvPr/>
        </p:nvSpPr>
        <p:spPr>
          <a:xfrm>
            <a:off x="1114425" y="10668000"/>
            <a:ext cx="824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0777"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目的・研究の位置づけ</a:t>
            </a:r>
          </a:p>
        </p:txBody>
      </p:sp>
      <p:sp>
        <p:nvSpPr>
          <p:cNvPr id="18" name="purpose-copy">
            <a:extLst>
              <a:ext uri="{FF2B5EF4-FFF2-40B4-BE49-F238E27FC236}">
                <a16:creationId xmlns:a16="http://schemas.microsoft.com/office/drawing/2014/main" id="{4E6D0923-4CF1-4C0D-B8F5-990586580EA1}"/>
              </a:ext>
            </a:extLst>
          </p:cNvPr>
          <p:cNvSpPr>
            <a:spLocks noGrp="1"/>
          </p:cNvSpPr>
          <p:nvPr/>
        </p:nvSpPr>
        <p:spPr>
          <a:xfrm>
            <a:off x="1114425" y="11144250"/>
            <a:ext cx="82486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9607"/>
          </a:bodyPr>
          <a:lstStyle/>
          <a:p>
            <a:pPr algn="l">
              <a:lnSpc>
                <a:spcPct val="110000"/>
              </a:lnSpc>
              <a:buNone/>
              <a:def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語彙VADと映像誘発後VADを9感情カテゴリーで対応づけ、V・A・Dの移送可能性と尺度差・感情固有差を次元別に検証する。</a:t>
            </a:r>
          </a:p>
        </p:txBody>
      </p:sp>
      <p:sp>
        <p:nvSpPr>
          <p:cNvPr id="19" name="section-2-bar">
            <a:extLst>
              <a:ext uri="{FF2B5EF4-FFF2-40B4-BE49-F238E27FC236}">
                <a16:creationId xmlns:a16="http://schemas.microsoft.com/office/drawing/2014/main" id="{32316196-29E5-4E81-B3E2-0FDDDE040A6B}"/>
              </a:ext>
            </a:extLst>
          </p:cNvPr>
          <p:cNvSpPr>
            <a:spLocks noGrp="1"/>
          </p:cNvSpPr>
          <p:nvPr/>
        </p:nvSpPr>
        <p:spPr>
          <a:xfrm>
            <a:off x="809625" y="13239750"/>
            <a:ext cx="8858250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20" name="section-2-accent">
            <a:extLst>
              <a:ext uri="{FF2B5EF4-FFF2-40B4-BE49-F238E27FC236}">
                <a16:creationId xmlns:a16="http://schemas.microsoft.com/office/drawing/2014/main" id="{2A8FA4A1-D2A0-4E2B-9AB8-559AFD99ED82}"/>
              </a:ext>
            </a:extLst>
          </p:cNvPr>
          <p:cNvSpPr>
            <a:spLocks noGrp="1"/>
          </p:cNvSpPr>
          <p:nvPr/>
        </p:nvSpPr>
        <p:spPr>
          <a:xfrm>
            <a:off x="809625" y="13239750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21" name="section-2-title">
            <a:extLst>
              <a:ext uri="{FF2B5EF4-FFF2-40B4-BE49-F238E27FC236}">
                <a16:creationId xmlns:a16="http://schemas.microsoft.com/office/drawing/2014/main" id="{2D05A2D8-C82D-464A-B54E-23587DC6FE88}"/>
              </a:ext>
            </a:extLst>
          </p:cNvPr>
          <p:cNvSpPr>
            <a:spLocks noGrp="1"/>
          </p:cNvSpPr>
          <p:nvPr/>
        </p:nvSpPr>
        <p:spPr>
          <a:xfrm>
            <a:off x="1133475" y="13306425"/>
            <a:ext cx="838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  データ・分析フロー</a:t>
            </a:r>
          </a:p>
        </p:txBody>
      </p:sp>
      <p:sp>
        <p:nvSpPr>
          <p:cNvPr id="22" name="flow-nrc">
            <a:extLst>
              <a:ext uri="{FF2B5EF4-FFF2-40B4-BE49-F238E27FC236}">
                <a16:creationId xmlns:a16="http://schemas.microsoft.com/office/drawing/2014/main" id="{069F34FB-FD82-4F10-BD75-616ED8919394}"/>
              </a:ext>
            </a:extLst>
          </p:cNvPr>
          <p:cNvSpPr>
            <a:spLocks noGrp="1"/>
          </p:cNvSpPr>
          <p:nvPr/>
        </p:nvSpPr>
        <p:spPr>
          <a:xfrm>
            <a:off x="1428750" y="14258925"/>
            <a:ext cx="7620000" cy="1752600"/>
          </a:xfrm>
          <a:prstGeom prst="roundRect">
            <a:avLst>
              <a:gd name="adj" fmla="val 6522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23" name="flow-nrc-title">
            <a:extLst>
              <a:ext uri="{FF2B5EF4-FFF2-40B4-BE49-F238E27FC236}">
                <a16:creationId xmlns:a16="http://schemas.microsoft.com/office/drawing/2014/main" id="{CD72FD37-BAAE-4074-9FCB-AA9E021EB4B0}"/>
              </a:ext>
            </a:extLst>
          </p:cNvPr>
          <p:cNvSpPr>
            <a:spLocks noGrp="1"/>
          </p:cNvSpPr>
          <p:nvPr/>
        </p:nvSpPr>
        <p:spPr>
          <a:xfrm>
            <a:off x="1666875" y="144303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3417"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NRC-VAD v2.1</a:t>
            </a:r>
          </a:p>
        </p:txBody>
      </p:sp>
      <p:sp>
        <p:nvSpPr>
          <p:cNvPr id="24" name="flow-nrc-body">
            <a:extLst>
              <a:ext uri="{FF2B5EF4-FFF2-40B4-BE49-F238E27FC236}">
                <a16:creationId xmlns:a16="http://schemas.microsoft.com/office/drawing/2014/main" id="{6531AFB5-934F-4327-911F-4403ADD93912}"/>
              </a:ext>
            </a:extLst>
          </p:cNvPr>
          <p:cNvSpPr>
            <a:spLocks noGrp="1"/>
          </p:cNvSpPr>
          <p:nvPr/>
        </p:nvSpPr>
        <p:spPr>
          <a:xfrm>
            <a:off x="4667250" y="14382750"/>
            <a:ext cx="40481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9種類の英語感情名詞</a:t>
            </a:r>
          </a:p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意味的VAD座標</a:t>
            </a:r>
          </a:p>
        </p:txBody>
      </p:sp>
      <p:sp>
        <p:nvSpPr>
          <p:cNvPr id="25" name="flow-arrow-1">
            <a:extLst>
              <a:ext uri="{FF2B5EF4-FFF2-40B4-BE49-F238E27FC236}">
                <a16:creationId xmlns:a16="http://schemas.microsoft.com/office/drawing/2014/main" id="{BD74B401-F6EA-4A86-A130-CC5354157EDE}"/>
              </a:ext>
            </a:extLst>
          </p:cNvPr>
          <p:cNvSpPr>
            <a:spLocks noGrp="1"/>
          </p:cNvSpPr>
          <p:nvPr/>
        </p:nvSpPr>
        <p:spPr>
          <a:xfrm>
            <a:off x="4810125" y="16097250"/>
            <a:ext cx="857250" cy="819150"/>
          </a:xfrm>
          <a:prstGeom prst="downArrow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26" name="flow-dreamer">
            <a:extLst>
              <a:ext uri="{FF2B5EF4-FFF2-40B4-BE49-F238E27FC236}">
                <a16:creationId xmlns:a16="http://schemas.microsoft.com/office/drawing/2014/main" id="{C2AC944C-D9AA-4345-B362-D960BC86609D}"/>
              </a:ext>
            </a:extLst>
          </p:cNvPr>
          <p:cNvSpPr>
            <a:spLocks noGrp="1"/>
          </p:cNvSpPr>
          <p:nvPr/>
        </p:nvSpPr>
        <p:spPr>
          <a:xfrm>
            <a:off x="1428750" y="17021175"/>
            <a:ext cx="7620000" cy="1962150"/>
          </a:xfrm>
          <a:prstGeom prst="roundRect">
            <a:avLst>
              <a:gd name="adj" fmla="val 5825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27" name="flow-dreamer-title">
            <a:extLst>
              <a:ext uri="{FF2B5EF4-FFF2-40B4-BE49-F238E27FC236}">
                <a16:creationId xmlns:a16="http://schemas.microsoft.com/office/drawing/2014/main" id="{96DCBF29-29C8-492D-983B-FFB5BFFD5778}"/>
              </a:ext>
            </a:extLst>
          </p:cNvPr>
          <p:cNvSpPr>
            <a:spLocks noGrp="1"/>
          </p:cNvSpPr>
          <p:nvPr/>
        </p:nvSpPr>
        <p:spPr>
          <a:xfrm>
            <a:off x="1666875" y="1725930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7588"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DREAMER</a:t>
            </a:r>
          </a:p>
        </p:txBody>
      </p:sp>
      <p:sp>
        <p:nvSpPr>
          <p:cNvPr id="28" name="flow-dreamer-body">
            <a:extLst>
              <a:ext uri="{FF2B5EF4-FFF2-40B4-BE49-F238E27FC236}">
                <a16:creationId xmlns:a16="http://schemas.microsoft.com/office/drawing/2014/main" id="{96D5BAB3-43ED-4AE3-905C-10663F8319AB}"/>
              </a:ext>
            </a:extLst>
          </p:cNvPr>
          <p:cNvSpPr>
            <a:spLocks noGrp="1"/>
          </p:cNvSpPr>
          <p:nvPr/>
        </p:nvSpPr>
        <p:spPr>
          <a:xfrm>
            <a:off x="4210050" y="17192625"/>
            <a:ext cx="447675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23名 × 18映像 = 414試行</a:t>
            </a:r>
          </a:p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9感情・映像後VAD評定</a:t>
            </a:r>
          </a:p>
        </p:txBody>
      </p:sp>
      <p:sp>
        <p:nvSpPr>
          <p:cNvPr id="29" name="flow-arrow-2">
            <a:extLst>
              <a:ext uri="{FF2B5EF4-FFF2-40B4-BE49-F238E27FC236}">
                <a16:creationId xmlns:a16="http://schemas.microsoft.com/office/drawing/2014/main" id="{5B575E44-1872-4C45-97BE-DC5FE92ABF98}"/>
              </a:ext>
            </a:extLst>
          </p:cNvPr>
          <p:cNvSpPr>
            <a:spLocks noGrp="1"/>
          </p:cNvSpPr>
          <p:nvPr/>
        </p:nvSpPr>
        <p:spPr>
          <a:xfrm>
            <a:off x="4810125" y="19069050"/>
            <a:ext cx="857250" cy="819150"/>
          </a:xfrm>
          <a:prstGeom prst="downArrow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30" name="flow-transform">
            <a:extLst>
              <a:ext uri="{FF2B5EF4-FFF2-40B4-BE49-F238E27FC236}">
                <a16:creationId xmlns:a16="http://schemas.microsoft.com/office/drawing/2014/main" id="{ABB10255-6C78-4785-825A-39695789216F}"/>
              </a:ext>
            </a:extLst>
          </p:cNvPr>
          <p:cNvSpPr>
            <a:spLocks noGrp="1"/>
          </p:cNvSpPr>
          <p:nvPr/>
        </p:nvSpPr>
        <p:spPr>
          <a:xfrm>
            <a:off x="1428750" y="19954875"/>
            <a:ext cx="7620000" cy="1962150"/>
          </a:xfrm>
          <a:prstGeom prst="roundRect">
            <a:avLst>
              <a:gd name="adj" fmla="val 5825"/>
            </a:avLst>
          </a:prstGeom>
          <a:solidFill>
            <a:srgbClr val="FFF3C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31" name="flow-transform-title">
            <a:extLst>
              <a:ext uri="{FF2B5EF4-FFF2-40B4-BE49-F238E27FC236}">
                <a16:creationId xmlns:a16="http://schemas.microsoft.com/office/drawing/2014/main" id="{44AB8EEA-D4C1-460F-9412-7D2307E0C530}"/>
              </a:ext>
            </a:extLst>
          </p:cNvPr>
          <p:cNvSpPr>
            <a:spLocks noGrp="1"/>
          </p:cNvSpPr>
          <p:nvPr/>
        </p:nvSpPr>
        <p:spPr>
          <a:xfrm>
            <a:off x="1666875" y="20193000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3417"/>
          </a:bodyPr>
          <a:lstStyle/>
          <a:p>
            <a:pPr algn="l">
              <a:lnSpc>
                <a:spcPct val="108000"/>
              </a:lnSpc>
              <a:buNone/>
              <a:defRPr sz="2775" b="1">
                <a:solidFill>
                  <a:srgbClr val="E97824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尺度統一</a:t>
            </a:r>
          </a:p>
        </p:txBody>
      </p:sp>
      <p:sp>
        <p:nvSpPr>
          <p:cNvPr id="32" name="flow-transform-body">
            <a:extLst>
              <a:ext uri="{FF2B5EF4-FFF2-40B4-BE49-F238E27FC236}">
                <a16:creationId xmlns:a16="http://schemas.microsoft.com/office/drawing/2014/main" id="{BB76D7B6-0E3D-447D-AC3D-E84B7AE91BA4}"/>
              </a:ext>
            </a:extLst>
          </p:cNvPr>
          <p:cNvSpPr>
            <a:spLocks noGrp="1"/>
          </p:cNvSpPr>
          <p:nvPr/>
        </p:nvSpPr>
        <p:spPr>
          <a:xfrm>
            <a:off x="4076700" y="20116800"/>
            <a:ext cx="4572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DREAMER: (score − 3) / 2</a:t>
            </a:r>
          </a:p>
          <a:p>
            <a:pPr algn="ctr">
              <a:lnSpc>
                <a:spcPct val="108000"/>
              </a:lnSpc>
              <a:buNone/>
              <a:def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両データを [−1, 1] へ</a:t>
            </a:r>
          </a:p>
        </p:txBody>
      </p:sp>
      <p:sp>
        <p:nvSpPr>
          <p:cNvPr id="33" name="flow-arrow-3">
            <a:extLst>
              <a:ext uri="{FF2B5EF4-FFF2-40B4-BE49-F238E27FC236}">
                <a16:creationId xmlns:a16="http://schemas.microsoft.com/office/drawing/2014/main" id="{71F239B8-BB97-4290-ABDE-4BBD58DF6859}"/>
              </a:ext>
            </a:extLst>
          </p:cNvPr>
          <p:cNvSpPr>
            <a:spLocks noGrp="1"/>
          </p:cNvSpPr>
          <p:nvPr/>
        </p:nvSpPr>
        <p:spPr>
          <a:xfrm>
            <a:off x="4810125" y="22002750"/>
            <a:ext cx="857250" cy="819150"/>
          </a:xfrm>
          <a:prstGeom prst="downArrow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34" name="flow-analysis">
            <a:extLst>
              <a:ext uri="{FF2B5EF4-FFF2-40B4-BE49-F238E27FC236}">
                <a16:creationId xmlns:a16="http://schemas.microsoft.com/office/drawing/2014/main" id="{39685649-BCCE-437E-B892-FFCAE1563645}"/>
              </a:ext>
            </a:extLst>
          </p:cNvPr>
          <p:cNvSpPr>
            <a:spLocks noGrp="1"/>
          </p:cNvSpPr>
          <p:nvPr/>
        </p:nvSpPr>
        <p:spPr>
          <a:xfrm>
            <a:off x="1428750" y="22907625"/>
            <a:ext cx="7620000" cy="2724150"/>
          </a:xfrm>
          <a:prstGeom prst="roundRect">
            <a:avLst>
              <a:gd name="adj" fmla="val 4196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35" name="flow-analysis-title">
            <a:extLst>
              <a:ext uri="{FF2B5EF4-FFF2-40B4-BE49-F238E27FC236}">
                <a16:creationId xmlns:a16="http://schemas.microsoft.com/office/drawing/2014/main" id="{13F7BF59-EB00-4018-B5BE-AD9BB8FB1472}"/>
              </a:ext>
            </a:extLst>
          </p:cNvPr>
          <p:cNvSpPr>
            <a:spLocks noGrp="1"/>
          </p:cNvSpPr>
          <p:nvPr/>
        </p:nvSpPr>
        <p:spPr>
          <a:xfrm>
            <a:off x="1695450" y="23107650"/>
            <a:ext cx="7086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89344"/>
          </a:bodyPr>
          <a:lstStyle/>
          <a:p>
            <a:pPr algn="ctr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次元別・段階的に比較</a:t>
            </a:r>
          </a:p>
        </p:txBody>
      </p:sp>
      <p:sp>
        <p:nvSpPr>
          <p:cNvPr id="36" name="flow-analysis-body">
            <a:extLst>
              <a:ext uri="{FF2B5EF4-FFF2-40B4-BE49-F238E27FC236}">
                <a16:creationId xmlns:a16="http://schemas.microsoft.com/office/drawing/2014/main" id="{72373702-9449-4BA6-A454-E649D20EE0C9}"/>
              </a:ext>
            </a:extLst>
          </p:cNvPr>
          <p:cNvSpPr>
            <a:spLocks noGrp="1"/>
          </p:cNvSpPr>
          <p:nvPr/>
        </p:nvSpPr>
        <p:spPr>
          <a:xfrm>
            <a:off x="1752600" y="23717250"/>
            <a:ext cx="69723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Pearson / Spearman　② 9! 厳密置換</a:t>
            </a:r>
          </a:p>
          <a:p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5,000回階層bootstrap　④ 回帰傾き</a:t>
            </a:r>
          </a:p>
          <a:p>
            <a:pPr algn="ctr">
              <a:lnSpc>
                <a:spcPct val="112000"/>
              </a:lnSpc>
              <a:buNone/>
              <a:defRPr sz="2400" b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⑤ LOEO校正残差　⑥ 感度分析</a:t>
            </a:r>
          </a:p>
        </p:txBody>
      </p:sp>
      <p:sp>
        <p:nvSpPr>
          <p:cNvPr id="37" name="inference-note">
            <a:extLst>
              <a:ext uri="{FF2B5EF4-FFF2-40B4-BE49-F238E27FC236}">
                <a16:creationId xmlns:a16="http://schemas.microsoft.com/office/drawing/2014/main" id="{8AD1DCD8-51EF-4D08-BF19-63A7FCEDF01B}"/>
              </a:ext>
            </a:extLst>
          </p:cNvPr>
          <p:cNvSpPr>
            <a:spLocks noGrp="1"/>
          </p:cNvSpPr>
          <p:nvPr/>
        </p:nvSpPr>
        <p:spPr>
          <a:xfrm>
            <a:off x="885825" y="25927050"/>
            <a:ext cx="87058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7828"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対応：NRC感情名詞VAD ↔ DREAMER（23名×2映像）のカテゴリー平均VAD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9感情：amusement / anger / calmness / disgust / excitement</a:t>
            </a:r>
          </a:p>
          <a:p>
            <a:pPr algn="l">
              <a:lnSpc>
                <a:spcPct val="112000"/>
              </a:lnSpc>
              <a:buNone/>
              <a:def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fear / happiness / sadness / surprise（推論単位 n = 9）</a:t>
            </a:r>
          </a:p>
        </p:txBody>
      </p:sp>
      <p:sp>
        <p:nvSpPr>
          <p:cNvPr id="38" name="section-3-bar">
            <a:extLst>
              <a:ext uri="{FF2B5EF4-FFF2-40B4-BE49-F238E27FC236}">
                <a16:creationId xmlns:a16="http://schemas.microsoft.com/office/drawing/2014/main" id="{4B91B1B4-F44E-4CCC-9127-AB48B0CC67D9}"/>
              </a:ext>
            </a:extLst>
          </p:cNvPr>
          <p:cNvSpPr>
            <a:spLocks noGrp="1"/>
          </p:cNvSpPr>
          <p:nvPr/>
        </p:nvSpPr>
        <p:spPr>
          <a:xfrm>
            <a:off x="10125075" y="5000625"/>
            <a:ext cx="19345275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39" name="section-3-accent">
            <a:extLst>
              <a:ext uri="{FF2B5EF4-FFF2-40B4-BE49-F238E27FC236}">
                <a16:creationId xmlns:a16="http://schemas.microsoft.com/office/drawing/2014/main" id="{528769B7-78D5-400D-BE75-9230A6A1581B}"/>
              </a:ext>
            </a:extLst>
          </p:cNvPr>
          <p:cNvSpPr>
            <a:spLocks noGrp="1"/>
          </p:cNvSpPr>
          <p:nvPr/>
        </p:nvSpPr>
        <p:spPr>
          <a:xfrm>
            <a:off x="10125075" y="5000625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40" name="section-3-title">
            <a:extLst>
              <a:ext uri="{FF2B5EF4-FFF2-40B4-BE49-F238E27FC236}">
                <a16:creationId xmlns:a16="http://schemas.microsoft.com/office/drawing/2014/main" id="{6CD5AE9F-E38A-4468-8234-3D7E8469F2A1}"/>
              </a:ext>
            </a:extLst>
          </p:cNvPr>
          <p:cNvSpPr>
            <a:spLocks noGrp="1"/>
          </p:cNvSpPr>
          <p:nvPr/>
        </p:nvSpPr>
        <p:spPr>
          <a:xfrm>
            <a:off x="10448925" y="5067300"/>
            <a:ext cx="18869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  結果：対応はVAD次元によって異なる</a:t>
            </a:r>
          </a:p>
        </p:txBody>
      </p:sp>
      <p:sp>
        <p:nvSpPr>
          <p:cNvPr id="41" name="result-main-title">
            <a:extLst>
              <a:ext uri="{FF2B5EF4-FFF2-40B4-BE49-F238E27FC236}">
                <a16:creationId xmlns:a16="http://schemas.microsoft.com/office/drawing/2014/main" id="{7791C77D-D7E8-4424-9507-1CC60FF63D5C}"/>
              </a:ext>
            </a:extLst>
          </p:cNvPr>
          <p:cNvSpPr>
            <a:spLocks noGrp="1"/>
          </p:cNvSpPr>
          <p:nvPr/>
        </p:nvSpPr>
        <p:spPr>
          <a:xfrm>
            <a:off x="10182225" y="5905500"/>
            <a:ext cx="192309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5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Valenceは安定、Arousalは部分的、Dominanceは本データでは未支持</a:t>
            </a:r>
          </a:p>
        </p:txBody>
      </p:sp>
      <p:pic>
        <p:nvPicPr>
          <p:cNvPr id="139" name="図 1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31447" y="6667500"/>
            <a:ext cx="19132531" cy="6667500"/>
          </a:xfrm>
          <a:prstGeom prst="rect">
            <a:avLst/>
          </a:prstGeom>
        </p:spPr>
      </p:pic>
      <p:sp>
        <p:nvSpPr>
          <p:cNvPr id="43" name="main-figure-caption">
            <a:extLst>
              <a:ext uri="{FF2B5EF4-FFF2-40B4-BE49-F238E27FC236}">
                <a16:creationId xmlns:a16="http://schemas.microsoft.com/office/drawing/2014/main" id="{1D3D1EB0-C8EE-44BC-9343-2034FC222C4E}"/>
              </a:ext>
            </a:extLst>
          </p:cNvPr>
          <p:cNvSpPr>
            <a:spLocks noGrp="1"/>
          </p:cNvSpPr>
          <p:nvPr/>
        </p:nvSpPr>
        <p:spPr>
          <a:xfrm>
            <a:off x="10391775" y="13315950"/>
            <a:ext cx="188118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図1　NRC-VADとDREAMERの次元別対応</a:t>
            </a:r>
          </a:p>
          <a:p>
            <a:pPr algn="ctr">
              <a:lnSpc>
                <a:spcPct val="105000"/>
              </a:lnSpc>
              <a:buNone/>
              <a:def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Arousal：Pearson r=.832（Holm p=.034）／Spearman ρ=.433（Holm p=.500）／LOEO r=.482-.898</a:t>
            </a:r>
          </a:p>
        </p:txBody>
      </p:sp>
      <p:sp>
        <p:nvSpPr>
          <p:cNvPr id="44" name="result-keyline">
            <a:extLst>
              <a:ext uri="{FF2B5EF4-FFF2-40B4-BE49-F238E27FC236}">
                <a16:creationId xmlns:a16="http://schemas.microsoft.com/office/drawing/2014/main" id="{92373BE6-47E6-45C3-93DF-62AEEF3728D8}"/>
              </a:ext>
            </a:extLst>
          </p:cNvPr>
          <p:cNvSpPr>
            <a:spLocks noGrp="1"/>
          </p:cNvSpPr>
          <p:nvPr/>
        </p:nvSpPr>
        <p:spPr>
          <a:xfrm>
            <a:off x="10220325" y="14287500"/>
            <a:ext cx="19154775" cy="1476375"/>
          </a:xfrm>
          <a:prstGeom prst="roundRect">
            <a:avLst>
              <a:gd name="adj" fmla="val 7742"/>
            </a:avLst>
          </a:prstGeom>
          <a:solidFill>
            <a:srgbClr val="FFF3C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45" name="result-keyline-copy">
            <a:extLst>
              <a:ext uri="{FF2B5EF4-FFF2-40B4-BE49-F238E27FC236}">
                <a16:creationId xmlns:a16="http://schemas.microsoft.com/office/drawing/2014/main" id="{FD1ED57B-8ACC-4C5E-A1F6-32AEEA9B1ECE}"/>
              </a:ext>
            </a:extLst>
          </p:cNvPr>
          <p:cNvSpPr>
            <a:spLocks noGrp="1"/>
          </p:cNvSpPr>
          <p:nvPr/>
        </p:nvSpPr>
        <p:spPr>
          <a:xfrm>
            <a:off x="10487025" y="14478000"/>
            <a:ext cx="18621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225" b="1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高い相関は数値一致を意味しない：誘発体験の座標範囲は中性点側へ圧縮された。</a:t>
            </a:r>
          </a:p>
        </p:txBody>
      </p:sp>
      <p:sp>
        <p:nvSpPr>
          <p:cNvPr id="46" name="section-4-bar">
            <a:extLst>
              <a:ext uri="{FF2B5EF4-FFF2-40B4-BE49-F238E27FC236}">
                <a16:creationId xmlns:a16="http://schemas.microsoft.com/office/drawing/2014/main" id="{F21A1CF1-7888-4502-96B9-1F16A5A81EC9}"/>
              </a:ext>
            </a:extLst>
          </p:cNvPr>
          <p:cNvSpPr>
            <a:spLocks noGrp="1"/>
          </p:cNvSpPr>
          <p:nvPr/>
        </p:nvSpPr>
        <p:spPr>
          <a:xfrm>
            <a:off x="10125075" y="16144875"/>
            <a:ext cx="19345275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47" name="section-4-accent">
            <a:extLst>
              <a:ext uri="{FF2B5EF4-FFF2-40B4-BE49-F238E27FC236}">
                <a16:creationId xmlns:a16="http://schemas.microsoft.com/office/drawing/2014/main" id="{011D0545-41F4-43D5-870A-CEF9BF5F141A}"/>
              </a:ext>
            </a:extLst>
          </p:cNvPr>
          <p:cNvSpPr>
            <a:spLocks noGrp="1"/>
          </p:cNvSpPr>
          <p:nvPr/>
        </p:nvSpPr>
        <p:spPr>
          <a:xfrm>
            <a:off x="10125075" y="16144875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48" name="section-4-title">
            <a:extLst>
              <a:ext uri="{FF2B5EF4-FFF2-40B4-BE49-F238E27FC236}">
                <a16:creationId xmlns:a16="http://schemas.microsoft.com/office/drawing/2014/main" id="{54407601-1CA4-4299-87EB-253DC22F1317}"/>
              </a:ext>
            </a:extLst>
          </p:cNvPr>
          <p:cNvSpPr>
            <a:spLocks noGrp="1"/>
          </p:cNvSpPr>
          <p:nvPr/>
        </p:nvSpPr>
        <p:spPr>
          <a:xfrm>
            <a:off x="10448925" y="16211550"/>
            <a:ext cx="18869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4  結果の分解</a:t>
            </a:r>
          </a:p>
        </p:txBody>
      </p:sp>
      <p:sp>
        <p:nvSpPr>
          <p:cNvPr id="49" name="scale-title">
            <a:extLst>
              <a:ext uri="{FF2B5EF4-FFF2-40B4-BE49-F238E27FC236}">
                <a16:creationId xmlns:a16="http://schemas.microsoft.com/office/drawing/2014/main" id="{7D487DB6-AFBD-49F5-9A86-EB139CC52A8C}"/>
              </a:ext>
            </a:extLst>
          </p:cNvPr>
          <p:cNvSpPr>
            <a:spLocks noGrp="1"/>
          </p:cNvSpPr>
          <p:nvPr/>
        </p:nvSpPr>
        <p:spPr>
          <a:xfrm>
            <a:off x="10220325" y="17068800"/>
            <a:ext cx="9272588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3000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図2　V・AともにDREAMER側で尺度範囲が圧縮</a:t>
            </a:r>
          </a:p>
        </p:txBody>
      </p:sp>
      <p:pic>
        <p:nvPicPr>
          <p:cNvPr id="147" name="図 146"/>
          <p:cNvPicPr>
            <a:picLocks noChangeAspect="1"/>
          </p:cNvPicPr>
          <p:nvPr/>
        </p:nvPicPr>
        <p:blipFill>
          <a:blip r:embed="rId4"/>
          <a:srcRect t="29000" b="2000"/>
          <a:stretch/>
        </p:blipFill>
        <p:spPr>
          <a:xfrm>
            <a:off x="10125075" y="17983200"/>
            <a:ext cx="9463088" cy="5191125"/>
          </a:xfrm>
          <a:prstGeom prst="rect">
            <a:avLst/>
          </a:prstGeom>
        </p:spPr>
      </p:pic>
      <p:sp>
        <p:nvSpPr>
          <p:cNvPr id="51" name="scale-stats">
            <a:extLst>
              <a:ext uri="{FF2B5EF4-FFF2-40B4-BE49-F238E27FC236}">
                <a16:creationId xmlns:a16="http://schemas.microsoft.com/office/drawing/2014/main" id="{89E6BB1E-F4D1-4106-8C07-2D75C63975CB}"/>
              </a:ext>
            </a:extLst>
          </p:cNvPr>
          <p:cNvSpPr>
            <a:spLocks noGrp="1"/>
          </p:cNvSpPr>
          <p:nvPr/>
        </p:nvSpPr>
        <p:spPr>
          <a:xfrm>
            <a:off x="10391775" y="23526750"/>
            <a:ext cx="8929688" cy="1476375"/>
          </a:xfrm>
          <a:prstGeom prst="roundRect">
            <a:avLst>
              <a:gd name="adj" fmla="val 7742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52" name="scale-stats-copy">
            <a:extLst>
              <a:ext uri="{FF2B5EF4-FFF2-40B4-BE49-F238E27FC236}">
                <a16:creationId xmlns:a16="http://schemas.microsoft.com/office/drawing/2014/main" id="{157D37F8-5962-4CA3-9829-E2F8D5D8F773}"/>
              </a:ext>
            </a:extLst>
          </p:cNvPr>
          <p:cNvSpPr>
            <a:spLocks noGrp="1"/>
          </p:cNvSpPr>
          <p:nvPr/>
        </p:nvSpPr>
        <p:spPr>
          <a:xfrm>
            <a:off x="10648950" y="23717250"/>
            <a:ext cx="8415338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NRC → DREAMER</a:t>
            </a:r>
          </a:p>
          <a:p>
            <a:pPr algn="ctr">
              <a:lnSpc>
                <a:spcPct val="102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Valence：傾き .520　Arousal：傾き .341</a:t>
            </a:r>
          </a:p>
        </p:txBody>
      </p:sp>
      <p:sp>
        <p:nvSpPr>
          <p:cNvPr id="53" name="residual-title">
            <a:extLst>
              <a:ext uri="{FF2B5EF4-FFF2-40B4-BE49-F238E27FC236}">
                <a16:creationId xmlns:a16="http://schemas.microsoft.com/office/drawing/2014/main" id="{2E0DA7C7-0506-43AF-9F75-77191C893D80}"/>
              </a:ext>
            </a:extLst>
          </p:cNvPr>
          <p:cNvSpPr>
            <a:spLocks noGrp="1"/>
          </p:cNvSpPr>
          <p:nvPr/>
        </p:nvSpPr>
        <p:spPr>
          <a:xfrm>
            <a:off x="20102513" y="17068800"/>
            <a:ext cx="9272588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6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6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図3　尺度校正後もcalmnessの残差点推定が最大</a:t>
            </a:r>
          </a:p>
        </p:txBody>
      </p:sp>
      <p:pic>
        <p:nvPicPr>
          <p:cNvPr id="151" name="図 15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20197763" y="18542519"/>
            <a:ext cx="9082088" cy="5586962"/>
          </a:xfrm>
          <a:prstGeom prst="rect">
            <a:avLst/>
          </a:prstGeom>
        </p:spPr>
      </p:pic>
      <p:sp>
        <p:nvSpPr>
          <p:cNvPr id="55" name="residual-note">
            <a:extLst>
              <a:ext uri="{FF2B5EF4-FFF2-40B4-BE49-F238E27FC236}">
                <a16:creationId xmlns:a16="http://schemas.microsoft.com/office/drawing/2014/main" id="{0438D9C6-38EC-4563-BFD0-293FB2970677}"/>
              </a:ext>
            </a:extLst>
          </p:cNvPr>
          <p:cNvSpPr>
            <a:spLocks noGrp="1"/>
          </p:cNvSpPr>
          <p:nvPr/>
        </p:nvSpPr>
        <p:spPr>
          <a:xfrm>
            <a:off x="20254913" y="24812625"/>
            <a:ext cx="8967788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信頼区間は広く重なるため、残差順位は探索的候補とする。</a:t>
            </a:r>
          </a:p>
        </p:txBody>
      </p:sp>
      <p:sp>
        <p:nvSpPr>
          <p:cNvPr id="56" name="section-5-bar">
            <a:extLst>
              <a:ext uri="{FF2B5EF4-FFF2-40B4-BE49-F238E27FC236}">
                <a16:creationId xmlns:a16="http://schemas.microsoft.com/office/drawing/2014/main" id="{6797DEAB-BDAF-4AFA-933F-1A2AB6C2B23A}"/>
              </a:ext>
            </a:extLst>
          </p:cNvPr>
          <p:cNvSpPr>
            <a:spLocks noGrp="1"/>
          </p:cNvSpPr>
          <p:nvPr/>
        </p:nvSpPr>
        <p:spPr>
          <a:xfrm>
            <a:off x="10125075" y="26336625"/>
            <a:ext cx="19345275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57" name="section-5-accent">
            <a:extLst>
              <a:ext uri="{FF2B5EF4-FFF2-40B4-BE49-F238E27FC236}">
                <a16:creationId xmlns:a16="http://schemas.microsoft.com/office/drawing/2014/main" id="{90555133-524B-40AC-86D5-AFC542E16223}"/>
              </a:ext>
            </a:extLst>
          </p:cNvPr>
          <p:cNvSpPr>
            <a:spLocks noGrp="1"/>
          </p:cNvSpPr>
          <p:nvPr/>
        </p:nvSpPr>
        <p:spPr>
          <a:xfrm>
            <a:off x="10125075" y="26336625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58" name="section-5-title">
            <a:extLst>
              <a:ext uri="{FF2B5EF4-FFF2-40B4-BE49-F238E27FC236}">
                <a16:creationId xmlns:a16="http://schemas.microsoft.com/office/drawing/2014/main" id="{21298E8A-F3EB-4350-A2D2-D4620D402DD4}"/>
              </a:ext>
            </a:extLst>
          </p:cNvPr>
          <p:cNvSpPr>
            <a:spLocks noGrp="1"/>
          </p:cNvSpPr>
          <p:nvPr/>
        </p:nvSpPr>
        <p:spPr>
          <a:xfrm>
            <a:off x="10448925" y="26403300"/>
            <a:ext cx="18869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5  考察・結論</a:t>
            </a:r>
          </a:p>
        </p:txBody>
      </p:sp>
      <p:sp>
        <p:nvSpPr>
          <p:cNvPr id="59" name="discussion-title">
            <a:extLst>
              <a:ext uri="{FF2B5EF4-FFF2-40B4-BE49-F238E27FC236}">
                <a16:creationId xmlns:a16="http://schemas.microsoft.com/office/drawing/2014/main" id="{60274D17-5F46-4804-81A5-4ECDE37002BD}"/>
              </a:ext>
            </a:extLst>
          </p:cNvPr>
          <p:cNvSpPr>
            <a:spLocks noGrp="1"/>
          </p:cNvSpPr>
          <p:nvPr/>
        </p:nvSpPr>
        <p:spPr>
          <a:xfrm>
            <a:off x="10201275" y="27289125"/>
            <a:ext cx="9310688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9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なぜ次元差が生じるのか</a:t>
            </a:r>
          </a:p>
        </p:txBody>
      </p:sp>
      <p:sp>
        <p:nvSpPr>
          <p:cNvPr id="60" name="discussion-copy">
            <a:extLst>
              <a:ext uri="{FF2B5EF4-FFF2-40B4-BE49-F238E27FC236}">
                <a16:creationId xmlns:a16="http://schemas.microsoft.com/office/drawing/2014/main" id="{9D88576B-7916-421E-BD5C-B8EBB6247F3E}"/>
              </a:ext>
            </a:extLst>
          </p:cNvPr>
          <p:cNvSpPr>
            <a:spLocks noGrp="1"/>
          </p:cNvSpPr>
          <p:nvPr/>
        </p:nvSpPr>
        <p:spPr>
          <a:xfrm>
            <a:off x="10201275" y="27955875"/>
            <a:ext cx="9310688" cy="533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V｜正負の構造は誘発体験にも比較的保持される。</a:t>
            </a:r>
          </a:p>
          <a:p>
            <a:endParaRPr sz="2850" b="0">
              <a:solidFill>
                <a:srgbClr val="17202A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A｜刺激強度・時間・文脈に依存し、順位が変わりやすい。</a:t>
            </a:r>
          </a:p>
          <a:p>
            <a:endParaRPr sz="2850" b="0">
              <a:solidFill>
                <a:srgbClr val="17202A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2000"/>
              </a:lnSpc>
              <a:buNone/>
              <a:def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D｜語彙上のpower/controlと自己統制感で参照対象が異なる可能性がある。</a:t>
            </a:r>
          </a:p>
        </p:txBody>
      </p:sp>
      <p:sp>
        <p:nvSpPr>
          <p:cNvPr id="61" name="conclusion-box">
            <a:extLst>
              <a:ext uri="{FF2B5EF4-FFF2-40B4-BE49-F238E27FC236}">
                <a16:creationId xmlns:a16="http://schemas.microsoft.com/office/drawing/2014/main" id="{4DEF4056-0E21-4F6C-AB1E-7B5F43BE5416}"/>
              </a:ext>
            </a:extLst>
          </p:cNvPr>
          <p:cNvSpPr>
            <a:spLocks noGrp="1"/>
          </p:cNvSpPr>
          <p:nvPr/>
        </p:nvSpPr>
        <p:spPr>
          <a:xfrm>
            <a:off x="20007263" y="27241500"/>
            <a:ext cx="9463088" cy="6381750"/>
          </a:xfrm>
          <a:prstGeom prst="roundRect">
            <a:avLst>
              <a:gd name="adj" fmla="val 1791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62" name="conclusion-label">
            <a:extLst>
              <a:ext uri="{FF2B5EF4-FFF2-40B4-BE49-F238E27FC236}">
                <a16:creationId xmlns:a16="http://schemas.microsoft.com/office/drawing/2014/main" id="{72AD50DC-B4E1-451F-B192-23693FBBAEA5}"/>
              </a:ext>
            </a:extLst>
          </p:cNvPr>
          <p:cNvSpPr>
            <a:spLocks noGrp="1"/>
          </p:cNvSpPr>
          <p:nvPr/>
        </p:nvSpPr>
        <p:spPr>
          <a:xfrm>
            <a:off x="20369213" y="27527250"/>
            <a:ext cx="8739188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 fontScale="96022"/>
          </a:bodyPr>
          <a:lstStyle/>
          <a:p>
            <a:pPr algn="ctr">
              <a:lnSpc>
                <a:spcPct val="108000"/>
              </a:lnSpc>
              <a:buNone/>
              <a:defRPr sz="33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結 論</a:t>
            </a:r>
          </a:p>
        </p:txBody>
      </p:sp>
      <p:sp>
        <p:nvSpPr>
          <p:cNvPr id="63" name="conclusion-copy">
            <a:extLst>
              <a:ext uri="{FF2B5EF4-FFF2-40B4-BE49-F238E27FC236}">
                <a16:creationId xmlns:a16="http://schemas.microsoft.com/office/drawing/2014/main" id="{447BDEAD-1D91-458F-9811-B9857D8B2A34}"/>
              </a:ext>
            </a:extLst>
          </p:cNvPr>
          <p:cNvSpPr>
            <a:spLocks noGrp="1"/>
          </p:cNvSpPr>
          <p:nvPr/>
        </p:nvSpPr>
        <p:spPr>
          <a:xfrm>
            <a:off x="20464463" y="28336875"/>
            <a:ext cx="8548688" cy="485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1　語彙VADは誘発体験の</a:t>
            </a: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一部の構造を保持する。</a:t>
            </a:r>
          </a:p>
          <a:p>
            <a:endParaRPr sz="300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2　移送可能性は次元依存的：</a:t>
            </a: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Vは安定、Aは部分的、</a:t>
            </a: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Dは本データでは未支持。</a:t>
            </a:r>
          </a:p>
          <a:p>
            <a:endParaRPr sz="3000" b="1">
              <a:solidFill>
                <a:srgbClr val="111111"/>
              </a:solidFill>
              <a:latin typeface="Hiragino Sans"/>
              <a:ea typeface="Hiragino Sans"/>
              <a:cs typeface="Hiragino Sans"/>
            </a:endParaRP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3　異質なVADデータの統合には、</a:t>
            </a:r>
          </a:p>
          <a:p>
            <a:pPr algn="l">
              <a:lnSpc>
                <a:spcPct val="112000"/>
              </a:lnSpc>
              <a:buNone/>
              <a:def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00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　 次元別の再校正が必要である。</a:t>
            </a:r>
          </a:p>
        </p:txBody>
      </p:sp>
      <p:sp>
        <p:nvSpPr>
          <p:cNvPr id="64" name="section-6-bar">
            <a:extLst>
              <a:ext uri="{FF2B5EF4-FFF2-40B4-BE49-F238E27FC236}">
                <a16:creationId xmlns:a16="http://schemas.microsoft.com/office/drawing/2014/main" id="{ED7552BF-497E-4B16-B68D-D2E699EBC283}"/>
              </a:ext>
            </a:extLst>
          </p:cNvPr>
          <p:cNvSpPr>
            <a:spLocks noGrp="1"/>
          </p:cNvSpPr>
          <p:nvPr/>
        </p:nvSpPr>
        <p:spPr>
          <a:xfrm>
            <a:off x="809625" y="27860625"/>
            <a:ext cx="8858250" cy="74295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65" name="section-6-accent">
            <a:extLst>
              <a:ext uri="{FF2B5EF4-FFF2-40B4-BE49-F238E27FC236}">
                <a16:creationId xmlns:a16="http://schemas.microsoft.com/office/drawing/2014/main" id="{707B316D-F20C-45FC-8C19-B920F6E4F3D5}"/>
              </a:ext>
            </a:extLst>
          </p:cNvPr>
          <p:cNvSpPr>
            <a:spLocks noGrp="1"/>
          </p:cNvSpPr>
          <p:nvPr/>
        </p:nvSpPr>
        <p:spPr>
          <a:xfrm>
            <a:off x="809625" y="27860625"/>
            <a:ext cx="171450" cy="742950"/>
          </a:xfrm>
          <a:prstGeom prst="rect">
            <a:avLst/>
          </a:prstGeom>
          <a:solidFill>
            <a:srgbClr val="4F7E19"/>
          </a:solidFill>
          <a:ln w="0">
            <a:noFill/>
            <a:prstDash val="solid"/>
          </a:ln>
        </p:spPr>
      </p:sp>
      <p:sp>
        <p:nvSpPr>
          <p:cNvPr id="66" name="section-6-title">
            <a:extLst>
              <a:ext uri="{FF2B5EF4-FFF2-40B4-BE49-F238E27FC236}">
                <a16:creationId xmlns:a16="http://schemas.microsoft.com/office/drawing/2014/main" id="{29A85990-A950-456F-BAE0-0327380B704E}"/>
              </a:ext>
            </a:extLst>
          </p:cNvPr>
          <p:cNvSpPr>
            <a:spLocks noGrp="1"/>
          </p:cNvSpPr>
          <p:nvPr/>
        </p:nvSpPr>
        <p:spPr>
          <a:xfrm>
            <a:off x="1133475" y="27927300"/>
            <a:ext cx="838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6899"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6  限界</a:t>
            </a:r>
          </a:p>
        </p:txBody>
      </p:sp>
      <p:sp>
        <p:nvSpPr>
          <p:cNvPr id="67" name="limits-copy">
            <a:extLst>
              <a:ext uri="{FF2B5EF4-FFF2-40B4-BE49-F238E27FC236}">
                <a16:creationId xmlns:a16="http://schemas.microsoft.com/office/drawing/2014/main" id="{97143751-F091-4CF3-B8B5-5C23D9AE3499}"/>
              </a:ext>
            </a:extLst>
          </p:cNvPr>
          <p:cNvSpPr>
            <a:spLocks noGrp="1"/>
          </p:cNvSpPr>
          <p:nvPr/>
        </p:nvSpPr>
        <p:spPr>
          <a:xfrm>
            <a:off x="942975" y="28784550"/>
            <a:ext cx="859155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9感情・各2映像の小標本</a:t>
            </a:r>
          </a:p>
          <a:p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異なる参加者・課題間の比較</a:t>
            </a:r>
          </a:p>
          <a:p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個人内予測や因果効果は未検証</a:t>
            </a:r>
          </a:p>
          <a:p>
            <a:pPr algn="l">
              <a:lnSpc>
                <a:spcPct val="118000"/>
              </a:lnSpc>
              <a:buNone/>
              <a:def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92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• Dominanceの尺度方向・参照対象を要確認</a:t>
            </a:r>
          </a:p>
        </p:txBody>
      </p:sp>
      <p:sp>
        <p:nvSpPr>
          <p:cNvPr id="68" name="honesty-callout">
            <a:extLst>
              <a:ext uri="{FF2B5EF4-FFF2-40B4-BE49-F238E27FC236}">
                <a16:creationId xmlns:a16="http://schemas.microsoft.com/office/drawing/2014/main" id="{9D205C14-04C0-464B-B123-6233AC91071A}"/>
              </a:ext>
            </a:extLst>
          </p:cNvPr>
          <p:cNvSpPr>
            <a:spLocks noGrp="1"/>
          </p:cNvSpPr>
          <p:nvPr/>
        </p:nvSpPr>
        <p:spPr>
          <a:xfrm>
            <a:off x="885825" y="32785050"/>
            <a:ext cx="8705850" cy="1562100"/>
          </a:xfrm>
          <a:prstGeom prst="roundRect">
            <a:avLst>
              <a:gd name="adj" fmla="val 7317"/>
            </a:avLst>
          </a:prstGeom>
          <a:solidFill>
            <a:srgbClr val="EDF7E4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69" name="honesty-copy">
            <a:extLst>
              <a:ext uri="{FF2B5EF4-FFF2-40B4-BE49-F238E27FC236}">
                <a16:creationId xmlns:a16="http://schemas.microsoft.com/office/drawing/2014/main" id="{C0CE301A-E8DE-4F87-8C4A-DB5DD1BFB2BE}"/>
              </a:ext>
            </a:extLst>
          </p:cNvPr>
          <p:cNvSpPr>
            <a:spLocks noGrp="1"/>
          </p:cNvSpPr>
          <p:nvPr/>
        </p:nvSpPr>
        <p:spPr>
          <a:xfrm>
            <a:off x="1114425" y="32975550"/>
            <a:ext cx="8248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本研究は探索的二次データ分析であり、測定不変性や同一個人内の置換可能性を証明するものではない。</a:t>
            </a:r>
          </a:p>
        </p:txBody>
      </p:sp>
      <p:sp>
        <p:nvSpPr>
          <p:cNvPr id="70" name="footer-bg">
            <a:extLst>
              <a:ext uri="{FF2B5EF4-FFF2-40B4-BE49-F238E27FC236}">
                <a16:creationId xmlns:a16="http://schemas.microsoft.com/office/drawing/2014/main" id="{E5D6A7CF-CC3D-4AF8-A664-52DCE9531487}"/>
              </a:ext>
            </a:extLst>
          </p:cNvPr>
          <p:cNvSpPr>
            <a:spLocks noGrp="1"/>
          </p:cNvSpPr>
          <p:nvPr/>
        </p:nvSpPr>
        <p:spPr>
          <a:xfrm>
            <a:off x="0" y="35052000"/>
            <a:ext cx="30279975" cy="7753350"/>
          </a:xfrm>
          <a:prstGeom prst="rect">
            <a:avLst/>
          </a:prstGeom>
          <a:solidFill>
            <a:srgbClr val="EDF7E4"/>
          </a:solidFill>
          <a:ln w="0">
            <a:noFill/>
            <a:prstDash val="solid"/>
          </a:ln>
        </p:spPr>
      </p:sp>
      <p:sp>
        <p:nvSpPr>
          <p:cNvPr id="71" name="footer-top-rule">
            <a:extLst>
              <a:ext uri="{FF2B5EF4-FFF2-40B4-BE49-F238E27FC236}">
                <a16:creationId xmlns:a16="http://schemas.microsoft.com/office/drawing/2014/main" id="{7983E35B-EDEC-4240-A0F2-9BC4ABC26D1C}"/>
              </a:ext>
            </a:extLst>
          </p:cNvPr>
          <p:cNvSpPr>
            <a:spLocks noGrp="1"/>
          </p:cNvSpPr>
          <p:nvPr/>
        </p:nvSpPr>
        <p:spPr>
          <a:xfrm>
            <a:off x="809625" y="35052000"/>
            <a:ext cx="28660725" cy="7620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sp>
        <p:nvSpPr>
          <p:cNvPr id="72" name="future-title">
            <a:extLst>
              <a:ext uri="{FF2B5EF4-FFF2-40B4-BE49-F238E27FC236}">
                <a16:creationId xmlns:a16="http://schemas.microsoft.com/office/drawing/2014/main" id="{3A87E2D9-154F-4053-8A80-8FBF93194F30}"/>
              </a:ext>
            </a:extLst>
          </p:cNvPr>
          <p:cNvSpPr>
            <a:spLocks noGrp="1"/>
          </p:cNvSpPr>
          <p:nvPr/>
        </p:nvSpPr>
        <p:spPr>
          <a:xfrm>
            <a:off x="1000125" y="354330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今後の課題・展望</a:t>
            </a:r>
          </a:p>
        </p:txBody>
      </p:sp>
      <p:sp>
        <p:nvSpPr>
          <p:cNvPr id="73" name="future-copy">
            <a:extLst>
              <a:ext uri="{FF2B5EF4-FFF2-40B4-BE49-F238E27FC236}">
                <a16:creationId xmlns:a16="http://schemas.microsoft.com/office/drawing/2014/main" id="{57057FC9-1635-4B65-967B-2C8793F48F10}"/>
              </a:ext>
            </a:extLst>
          </p:cNvPr>
          <p:cNvSpPr>
            <a:spLocks noGrp="1"/>
          </p:cNvSpPr>
          <p:nvPr/>
        </p:nvSpPr>
        <p:spPr>
          <a:xfrm>
            <a:off x="1000125" y="36099750"/>
            <a:ext cx="1190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① Dominanceの尺度方向・参照対象を原資料で確認</a:t>
            </a:r>
          </a:p>
          <a:p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② 外部データで次元別対応を再検証</a:t>
            </a:r>
          </a:p>
          <a:p>
            <a:pPr algn="l">
              <a:lnSpc>
                <a:spcPct val="116000"/>
              </a:lnSpc>
              <a:buNone/>
              <a:def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75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③ 同一参加者でLexical → Prototype → Inducedを直接比較</a:t>
            </a:r>
          </a:p>
        </p:txBody>
      </p:sp>
      <p:sp>
        <p:nvSpPr>
          <p:cNvPr id="74" name="refs-title">
            <a:extLst>
              <a:ext uri="{FF2B5EF4-FFF2-40B4-BE49-F238E27FC236}">
                <a16:creationId xmlns:a16="http://schemas.microsoft.com/office/drawing/2014/main" id="{165BB2F0-04B6-4B8C-9F1E-82288F9DE2AB}"/>
              </a:ext>
            </a:extLst>
          </p:cNvPr>
          <p:cNvSpPr>
            <a:spLocks noGrp="1"/>
          </p:cNvSpPr>
          <p:nvPr/>
        </p:nvSpPr>
        <p:spPr>
          <a:xfrm>
            <a:off x="13525500" y="35433000"/>
            <a:ext cx="647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参考文献</a:t>
            </a:r>
          </a:p>
        </p:txBody>
      </p:sp>
      <p:sp>
        <p:nvSpPr>
          <p:cNvPr id="75" name="refs-copy">
            <a:extLst>
              <a:ext uri="{FF2B5EF4-FFF2-40B4-BE49-F238E27FC236}">
                <a16:creationId xmlns:a16="http://schemas.microsoft.com/office/drawing/2014/main" id="{61F17F80-CB61-4D31-8825-4E0C1CA24FA6}"/>
              </a:ext>
            </a:extLst>
          </p:cNvPr>
          <p:cNvSpPr>
            <a:spLocks noGrp="1"/>
          </p:cNvSpPr>
          <p:nvPr/>
        </p:nvSpPr>
        <p:spPr>
          <a:xfrm>
            <a:off x="13525500" y="36099750"/>
            <a:ext cx="100012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Bradley &amp; Lang (1994) J Behav Ther Exp Psychiatry, 25, 49-59.</a:t>
            </a:r>
          </a:p>
          <a:p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Katsigiannis &amp; Ramzan (2018) IEEE J Biomed Health Inform, 22, 98-107.</a:t>
            </a:r>
          </a:p>
          <a:p>
            <a:pPr algn="l">
              <a:lnSpc>
                <a:spcPct val="116000"/>
              </a:lnSpc>
              <a:buNone/>
              <a:defRPr sz="2325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Mohammad (2025) NRC VAD Lexicon v2, arXiv:2503.23547.</a:t>
            </a:r>
          </a:p>
        </p:txBody>
      </p:sp>
      <p:sp>
        <p:nvSpPr>
          <p:cNvPr id="76" name="ack-title">
            <a:extLst>
              <a:ext uri="{FF2B5EF4-FFF2-40B4-BE49-F238E27FC236}">
                <a16:creationId xmlns:a16="http://schemas.microsoft.com/office/drawing/2014/main" id="{EB55AC60-9E1B-4DBF-8F36-8BC7FED8B106}"/>
              </a:ext>
            </a:extLst>
          </p:cNvPr>
          <p:cNvSpPr>
            <a:spLocks noGrp="1"/>
          </p:cNvSpPr>
          <p:nvPr/>
        </p:nvSpPr>
        <p:spPr>
          <a:xfrm>
            <a:off x="24003000" y="35433000"/>
            <a:ext cx="523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17365D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謝辞</a:t>
            </a:r>
          </a:p>
        </p:txBody>
      </p:sp>
      <p:sp>
        <p:nvSpPr>
          <p:cNvPr id="77" name="ack-copy">
            <a:extLst>
              <a:ext uri="{FF2B5EF4-FFF2-40B4-BE49-F238E27FC236}">
                <a16:creationId xmlns:a16="http://schemas.microsoft.com/office/drawing/2014/main" id="{0B60BB93-A25D-4AF8-9254-BA0F4FD03958}"/>
              </a:ext>
            </a:extLst>
          </p:cNvPr>
          <p:cNvSpPr>
            <a:spLocks noGrp="1"/>
          </p:cNvSpPr>
          <p:nvPr/>
        </p:nvSpPr>
        <p:spPr>
          <a:xfrm>
            <a:off x="24003000" y="36099750"/>
            <a:ext cx="5286375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DREAMERおよびNRC-VADの</a:t>
            </a:r>
          </a:p>
          <a:p>
            <a:pPr algn="l">
              <a:lnSpc>
                <a:spcPct val="116000"/>
              </a:lnSpc>
              <a:buNone/>
              <a:def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0">
                <a:solidFill>
                  <a:srgbClr val="17202A"/>
                </a:solidFill>
                <a:latin typeface="Hiragino Sans"/>
                <a:ea typeface="Hiragino Sans"/>
                <a:cs typeface="Hiragino Sans"/>
              </a:rPr>
              <a:t>データ提供者に謝意を表する。</a:t>
            </a:r>
          </a:p>
        </p:txBody>
      </p:sp>
      <p:sp>
        <p:nvSpPr>
          <p:cNvPr id="78" name="footer-message">
            <a:extLst>
              <a:ext uri="{FF2B5EF4-FFF2-40B4-BE49-F238E27FC236}">
                <a16:creationId xmlns:a16="http://schemas.microsoft.com/office/drawing/2014/main" id="{E5A55C05-C01E-4E77-848F-D41D9EBA9BF8}"/>
              </a:ext>
            </a:extLst>
          </p:cNvPr>
          <p:cNvSpPr>
            <a:spLocks noGrp="1"/>
          </p:cNvSpPr>
          <p:nvPr/>
        </p:nvSpPr>
        <p:spPr>
          <a:xfrm>
            <a:off x="1000125" y="39719250"/>
            <a:ext cx="28279725" cy="1809750"/>
          </a:xfrm>
          <a:prstGeom prst="roundRect">
            <a:avLst>
              <a:gd name="adj" fmla="val 6316"/>
            </a:avLst>
          </a:prstGeom>
          <a:solidFill>
            <a:srgbClr val="B4DC3C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79" name="footer-message-copy">
            <a:extLst>
              <a:ext uri="{FF2B5EF4-FFF2-40B4-BE49-F238E27FC236}">
                <a16:creationId xmlns:a16="http://schemas.microsoft.com/office/drawing/2014/main" id="{3E42AF2A-3D48-4250-B6FC-AF7AE41A6EE6}"/>
              </a:ext>
            </a:extLst>
          </p:cNvPr>
          <p:cNvSpPr>
            <a:spLocks noGrp="1"/>
          </p:cNvSpPr>
          <p:nvPr/>
        </p:nvSpPr>
        <p:spPr>
          <a:xfrm>
            <a:off x="1381125" y="40005000"/>
            <a:ext cx="275177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語彙VADと誘発体験VADは「関連する」が「交換可能ではない」</a:t>
            </a:r>
          </a:p>
        </p:txBody>
      </p:sp>
      <p:sp>
        <p:nvSpPr>
          <p:cNvPr id="85" name="lab-header-background">
            <a:extLst>
              <a:ext uri="{FF2B5EF4-FFF2-40B4-BE49-F238E27FC236}">
                <a16:creationId xmlns:a16="http://schemas.microsoft.com/office/drawing/2014/main" id="{BEFE6CF6-AC4C-4DFA-B9D5-830D5891CA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0279975" cy="4686300"/>
          </a:xfrm>
          <a:prstGeom prst="rect">
            <a:avLst/>
          </a:prstGeom>
          <a:solidFill>
            <a:srgbClr val="B4DC3C"/>
          </a:solidFill>
          <a:ln w="0">
            <a:noFill/>
            <a:prstDash val="solid"/>
          </a:ln>
        </p:spPr>
      </p:sp>
      <p:pic>
        <p:nvPicPr>
          <p:cNvPr id="178" name="図 177"/>
          <p:cNvPicPr>
            <a:picLocks noChangeAspect="1"/>
          </p:cNvPicPr>
          <p:nvPr/>
        </p:nvPicPr>
        <p:blipFill>
          <a:blip r:embed="rId6"/>
          <a:srcRect l="8372" r="8372"/>
          <a:stretch>
            <a:fillRect/>
          </a:stretch>
        </p:blipFill>
        <p:spPr>
          <a:xfrm>
            <a:off x="4238625" y="685800"/>
            <a:ext cx="1952625" cy="2143125"/>
          </a:xfrm>
          <a:prstGeom prst="rect">
            <a:avLst/>
          </a:prstGeom>
        </p:spPr>
      </p:pic>
      <p:pic>
        <p:nvPicPr>
          <p:cNvPr id="179" name="図 178"/>
          <p:cNvPicPr>
            <a:picLocks noChangeAspect="1"/>
          </p:cNvPicPr>
          <p:nvPr/>
        </p:nvPicPr>
        <p:blipFill>
          <a:blip r:embed="rId7"/>
          <a:srcRect l="6923" r="6923"/>
          <a:stretch>
            <a:fillRect/>
          </a:stretch>
        </p:blipFill>
        <p:spPr>
          <a:xfrm>
            <a:off x="26974800" y="742950"/>
            <a:ext cx="2190750" cy="2190750"/>
          </a:xfrm>
          <a:prstGeom prst="rect">
            <a:avLst/>
          </a:prstGeom>
        </p:spPr>
      </p:pic>
      <p:sp>
        <p:nvSpPr>
          <p:cNvPr id="88" name="lab-poster-number-frame">
            <a:extLst>
              <a:ext uri="{FF2B5EF4-FFF2-40B4-BE49-F238E27FC236}">
                <a16:creationId xmlns:a16="http://schemas.microsoft.com/office/drawing/2014/main" id="{C06BB6C0-369C-4288-A58A-73A06FBE931D}"/>
              </a:ext>
            </a:extLst>
          </p:cNvPr>
          <p:cNvSpPr>
            <a:spLocks noGrp="1"/>
          </p:cNvSpPr>
          <p:nvPr/>
        </p:nvSpPr>
        <p:spPr>
          <a:xfrm>
            <a:off x="809625" y="723900"/>
            <a:ext cx="3238500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4F7E19"/>
            </a:solidFill>
            <a:prstDash val="solid"/>
          </a:ln>
        </p:spPr>
      </p:sp>
      <p:sp>
        <p:nvSpPr>
          <p:cNvPr id="89" name="lab-poster-number-text">
            <a:extLst>
              <a:ext uri="{FF2B5EF4-FFF2-40B4-BE49-F238E27FC236}">
                <a16:creationId xmlns:a16="http://schemas.microsoft.com/office/drawing/2014/main" id="{D43AC103-FC50-4E9C-8B36-BBC4F23CF2D7}"/>
              </a:ext>
            </a:extLst>
          </p:cNvPr>
          <p:cNvSpPr>
            <a:spLocks noGrp="1"/>
          </p:cNvSpPr>
          <p:nvPr/>
        </p:nvSpPr>
        <p:spPr>
          <a:xfrm>
            <a:off x="1066800" y="971550"/>
            <a:ext cx="2724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演題番号</a:t>
            </a:r>
          </a:p>
        </p:txBody>
      </p:sp>
      <p:sp>
        <p:nvSpPr>
          <p:cNvPr id="90" name="lab-visible-title">
            <a:extLst>
              <a:ext uri="{FF2B5EF4-FFF2-40B4-BE49-F238E27FC236}">
                <a16:creationId xmlns:a16="http://schemas.microsoft.com/office/drawing/2014/main" id="{4FB6D832-F38B-4091-858F-5D70982D16D8}"/>
              </a:ext>
            </a:extLst>
          </p:cNvPr>
          <p:cNvSpPr>
            <a:spLocks noGrp="1"/>
          </p:cNvSpPr>
          <p:nvPr/>
        </p:nvSpPr>
        <p:spPr>
          <a:xfrm>
            <a:off x="6477000" y="552450"/>
            <a:ext cx="1952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感情語の意味的VADは</a:t>
            </a:r>
          </a:p>
          <a:p>
            <a:pPr>
              <a:buNone/>
              <a:defRPr sz="7800" b="1">
                <a:solidFill>
                  <a:srgbClr val="111111"/>
                </a:solidFill>
              </a:defRPr>
            </a:pPr>
            <a:r>
              <a:rPr sz="7800" b="1">
                <a:solidFill>
                  <a:srgbClr val="111111"/>
                </a:solidFill>
              </a:rPr>
              <a:t>映像誘発体験へ移送できるか</a:t>
            </a:r>
          </a:p>
        </p:txBody>
      </p:sp>
      <p:sp>
        <p:nvSpPr>
          <p:cNvPr id="91" name="lab-visible-subtitle">
            <a:extLst>
              <a:ext uri="{FF2B5EF4-FFF2-40B4-BE49-F238E27FC236}">
                <a16:creationId xmlns:a16="http://schemas.microsoft.com/office/drawing/2014/main" id="{953C17B3-0AB1-4DDD-B10F-2572254F2431}"/>
              </a:ext>
            </a:extLst>
          </p:cNvPr>
          <p:cNvSpPr>
            <a:spLocks noGrp="1"/>
          </p:cNvSpPr>
          <p:nvPr/>
        </p:nvSpPr>
        <p:spPr>
          <a:xfrm>
            <a:off x="6477000" y="2781300"/>
            <a:ext cx="1952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DREAMER × NRC-VADによる9感情カテゴリーの次元別対応</a:t>
            </a:r>
          </a:p>
        </p:txBody>
      </p:sp>
      <p:sp>
        <p:nvSpPr>
          <p:cNvPr id="92" name="lab-visible-author">
            <a:extLst>
              <a:ext uri="{FF2B5EF4-FFF2-40B4-BE49-F238E27FC236}">
                <a16:creationId xmlns:a16="http://schemas.microsoft.com/office/drawing/2014/main" id="{F211BEF2-50AC-43BE-ABEA-252B9AA33F0A}"/>
              </a:ext>
            </a:extLst>
          </p:cNvPr>
          <p:cNvSpPr>
            <a:spLocks noGrp="1"/>
          </p:cNvSpPr>
          <p:nvPr/>
        </p:nvSpPr>
        <p:spPr>
          <a:xfrm>
            <a:off x="6477000" y="3543300"/>
            <a:ext cx="19526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300" b="1">
                <a:solidFill>
                  <a:srgbClr val="111111"/>
                </a:solidFill>
              </a:defRPr>
            </a:pPr>
            <a:r>
              <a:rPr sz="3300" b="1" dirty="0" err="1">
                <a:solidFill>
                  <a:srgbClr val="111111"/>
                </a:solidFill>
              </a:rPr>
              <a:t>芝浦工業大学</a:t>
            </a:r>
            <a:r>
              <a:rPr sz="3300" b="1" dirty="0">
                <a:solidFill>
                  <a:srgbClr val="111111"/>
                </a:solidFill>
              </a:rPr>
              <a:t> Doly Lab　○</a:t>
            </a:r>
            <a:r>
              <a:rPr sz="3300" b="1" dirty="0" err="1">
                <a:solidFill>
                  <a:srgbClr val="111111"/>
                </a:solidFill>
              </a:rPr>
              <a:t>姜晰</a:t>
            </a:r>
            <a:r>
              <a:rPr lang="ja-MO" altLang="en-US" sz="3300" b="1" dirty="0">
                <a:solidFill>
                  <a:srgbClr val="111111"/>
                </a:solidFill>
              </a:rPr>
              <a:t>頡</a:t>
            </a:r>
            <a:r>
              <a:rPr sz="3300" b="1" dirty="0">
                <a:solidFill>
                  <a:srgbClr val="111111"/>
                </a:solidFill>
              </a:rPr>
              <a:t>（MA26006）</a:t>
            </a:r>
          </a:p>
        </p:txBody>
      </p:sp>
    </p:spTree>
    <p:extLst>
      <p:ext uri="{BB962C8B-B14F-4D97-AF65-F5344CB8AC3E}">
        <p14:creationId xmlns:p14="http://schemas.microsoft.com/office/powerpoint/2010/main" val="6639682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Macintosh PowerPoint</Application>
  <DocSecurity>0</DocSecurity>
  <PresentationFormat>ユーザー設定</PresentationFormat>
  <Paragraphs>85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Hiragino Sans</vt:lpstr>
      <vt:lpstr>Arial</vt:lpstr>
      <vt:lpstr>Calibri</vt:lpstr>
      <vt:lpstr>ChatGPT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晰颉 姜</cp:lastModifiedBy>
  <cp:revision>1</cp:revision>
  <dcterms:created xsi:type="dcterms:W3CDTF">2026-07-30T08:49:39Z</dcterms:created>
  <dcterms:modified xsi:type="dcterms:W3CDTF">2026-07-30T09:13:38Z</dcterms:modified>
</cp:coreProperties>
</file>