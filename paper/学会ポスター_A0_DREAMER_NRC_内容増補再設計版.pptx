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bfb86a62204cea" /><Relationship Type="http://schemas.openxmlformats.org/officeDocument/2006/relationships/extended-properties" Target="/docProps/app.xml" Id="R5fbdc461e2d1494f" /><Relationship Type="http://schemas.openxmlformats.org/officeDocument/2006/relationships/officeDocument" Target="/ppt/presentation.xml" Id="R39ef0717bda6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b41cef59444e5"/>
  </p:sldMasterIdLst>
  <p:notesMasterIdLst>
    <p:notesMasterId xmlns:r="http://schemas.openxmlformats.org/officeDocument/2006/relationships" r:id="R57de05753934439b"/>
  </p:notesMasterIdLst>
  <p:sldIdLst>
    <p:sldId xmlns:r="http://schemas.openxmlformats.org/officeDocument/2006/relationships" id="256" r:id="R2c9b4cfa1f4c4011"/>
  </p:sldIdLst>
  <p:sldSz cx="30279975" cy="42805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8a13ba257e41c7" /><Relationship Type="http://schemas.openxmlformats.org/officeDocument/2006/relationships/slideMaster" Target="/ppt/slideMasters/slideMaster1.xml" Id="Rb2cb41cef59444e5" /><Relationship Type="http://schemas.openxmlformats.org/officeDocument/2006/relationships/notesMaster" Target="/ppt/notesMasters/notesMaster1.xml" Id="R57de05753934439b" /><Relationship Type="http://schemas.openxmlformats.org/officeDocument/2006/relationships/presProps" Target="/ppt/presProps.xml" Id="R5f583a7383164bea" /><Relationship Type="http://schemas.openxmlformats.org/officeDocument/2006/relationships/viewProps" Target="/ppt/viewProps.xml" Id="R228006bdde9d41b9" /><Relationship Type="http://schemas.openxmlformats.org/officeDocument/2006/relationships/tableStyles" Target="/ppt/tableStyles.xml" Id="Ra2ee2457d91a4bc7" /><Relationship Type="http://schemas.openxmlformats.org/officeDocument/2006/relationships/slide" Target="/ppt/slides/slide1.xml" Id="R2c9b4cfa1f4c40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76740f24cc4b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35567c05174273" /><Relationship Type="http://schemas.openxmlformats.org/officeDocument/2006/relationships/notesMaster" Target="/ppt/notesMasters/notesMaster1.xml" Id="R4b24a92b323a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</a:t>
            </a:r>
            <a:r>
              <a:t>DREAMER_NRC_完全分析報告_日本語.md</a:t>
            </a:r>
            <a:r>
              <a:t> (study scope, category definitions, statistics, limitations)</a:t>
            </a:r>
          </a:p>
          <a:p xmlns:a="http://schemas.openxmlformats.org/drawingml/2006/main">
            <a:r>
              <a:t>- /Users/mac/Downloads/</a:t>
            </a:r>
            <a:r>
              <a:t>shibaura开题相关</a:t>
            </a:r>
            <a:r>
              <a:t>/</a:t>
            </a:r>
            <a:r>
              <a:t>VAD坐标相关</a:t>
            </a:r>
            <a:r>
              <a:t>/</a:t>
            </a:r>
            <a:r>
              <a:t>vad</a:t>
            </a:r>
            <a:r>
              <a:t>-emotion-research/paper/学会ポスター_A0_DREAMER_NRC_研究室参考版.pptx (inherited A0 layout and visual system)</a:t>
            </a:r>
          </a:p>
          <a:p xmlns:a="http://schemas.openxmlformats.org/drawingml/2006/main">
            <a:r>
              <a:t>- User-supplied 2025 Doly Lab pre-seminar posters (content hierarchy conventions)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2e73aafb9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795d1bd5d44b98" /><Relationship Type="http://schemas.openxmlformats.org/officeDocument/2006/relationships/slideLayout" Target="/ppt/slideLayouts/slideLayout1.xml" Id="Red55621b5ed64e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5621b5ed64e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d8d48e2f648df" /><Relationship Type="http://schemas.openxmlformats.org/officeDocument/2006/relationships/image" Target="/ppt/media/image.png" Id="Refba3ff41cf0470d" /><Relationship Type="http://schemas.openxmlformats.org/officeDocument/2006/relationships/image" Target="/ppt/media/image2.png" Id="R299eae5eeef147ca" /><Relationship Type="http://schemas.openxmlformats.org/officeDocument/2006/relationships/image" Target="/ppt/media/image3.png" Id="Rb72f5364bd8d4494" /><Relationship Type="http://schemas.openxmlformats.org/officeDocument/2006/relationships/image" Target="/ppt/media/image4.png" Id="R898c718382b540ca" /><Relationship Type="http://schemas.openxmlformats.org/officeDocument/2006/relationships/image" Target="/ppt/media/image5.png" Id="Rff8b66d8fa324fc5" /><Relationship Type="http://schemas.openxmlformats.org/officeDocument/2006/relationships/notesSlide" Target="/ppt/notesSlides/notesSlide1.xml" Id="Rc88c5abcae2c44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ster-number-frame">
            <a:extLst xmlns:a="http://schemas.openxmlformats.org/drawingml/2006/main"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" name="poster-number-label">
            <a:extLst xmlns:a="http://schemas.openxmlformats.org/drawingml/2006/main"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 xmlns:a="http://schemas.openxmlformats.org/drawingml/2006/main"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79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947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 xmlns:a="http://schemas.openxmlformats.org/drawingml/2006/main"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48200"/>
            <a:ext cx="302799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section-1-bar">
            <a:extLst xmlns:a="http://schemas.openxmlformats.org/drawingml/2006/main"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626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10" name="section-1-accent">
            <a:extLst xmlns:a="http://schemas.openxmlformats.org/drawingml/2006/main"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11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背景：同じVADでも測定対象が異なる</a:t>
            </a:r>
          </a:p>
        </p:txBody>
      </p:sp>
      <p:sp>
        <p:nvSpPr>
          <p:cNvPr id="12" name="background-copy">
            <a:extLst xmlns:a="http://schemas.openxmlformats.org/drawingml/2006/main"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13287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V｜不快 ↔ 快　A｜沈静 ↔ 覚醒　D｜受動 ↔ 統制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語彙VAD（NRC）：感情語の一般的意味・典型性を評価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誘発VAD（DREAMER）：特定映像の直後に、視聴者自身の状態を評価</a:t>
            </a:r>
          </a:p>
        </p:txBody>
      </p:sp>
      <p:sp>
        <p:nvSpPr>
          <p:cNvPr id="13" name="gap-callout">
            <a:extLst xmlns:a="http://schemas.openxmlformats.org/drawingml/2006/main"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48625"/>
            <a:ext cx="13525500" cy="17621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gap-label">
            <a:extLst xmlns:a="http://schemas.openxmlformats.org/drawingml/2006/main"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191500"/>
            <a:ext cx="1304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比較上の問題</a:t>
            </a:r>
          </a:p>
        </p:txBody>
      </p:sp>
      <p:sp>
        <p:nvSpPr>
          <p:cNvPr id="15" name="gap-copy">
            <a:extLst xmlns:a="http://schemas.openxmlformats.org/drawingml/2006/main"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715375"/>
            <a:ext cx="13049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共通の［-1, 1］へ変換しても、心理的単位の等価性は保証されない。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文脈差を無視すると、尺度範囲差を「感情固有の差」と誤認する。</a:t>
            </a:r>
          </a:p>
        </p:txBody>
      </p:sp>
      <p:sp>
        <p:nvSpPr>
          <p:cNvPr id="16" name="purpose-callout">
            <a:extLst xmlns:a="http://schemas.openxmlformats.org/drawingml/2006/main"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0"/>
            <a:ext cx="13525500" cy="33337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17" name="purpose-label">
            <a:extLst xmlns:a="http://schemas.openxmlformats.org/drawingml/2006/main"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191750"/>
            <a:ext cx="1304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研究目的・研究質問</a:t>
            </a:r>
          </a:p>
        </p:txBody>
      </p:sp>
      <p:sp>
        <p:nvSpPr>
          <p:cNvPr id="18" name="purpose-copy">
            <a:extLst xmlns:a="http://schemas.openxmlformats.org/drawingml/2006/main"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810875"/>
            <a:ext cx="1266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RQ1｜V・A・D別にカテゴリー構造を共有するか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RQ2｜差のどこまでが全体的な尺度圧縮で説明されるか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RQ3｜校正後も感情固有の残差が残るか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RQ4｜結論は単一感情・語形・Dの方向に依存しないか</a:t>
            </a:r>
          </a:p>
        </p:txBody>
      </p:sp>
      <p:sp>
        <p:nvSpPr>
          <p:cNvPr id="19" name="section-2-bar">
            <a:extLst xmlns:a="http://schemas.openxmlformats.org/drawingml/2006/main"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3035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20" name="section-2-accent">
            <a:extLst xmlns:a="http://schemas.openxmlformats.org/drawingml/2006/main"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1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21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データ・分析設計</a:t>
            </a:r>
          </a:p>
        </p:txBody>
      </p:sp>
      <p:sp>
        <p:nvSpPr>
          <p:cNvPr id="22" name="flow-nrc">
            <a:extLst xmlns:a="http://schemas.openxmlformats.org/drawingml/2006/main"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0"/>
            <a:ext cx="5905500" cy="17621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 xmlns:a="http://schemas.openxmlformats.org/drawingml/2006/main"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6685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 xmlns:a="http://schemas.openxmlformats.org/drawingml/2006/main"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59230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9英語感情名詞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一般的意味・典型性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尺度［-1, 1］</a:t>
            </a:r>
          </a:p>
        </p:txBody>
      </p:sp>
      <p:sp>
        <p:nvSpPr>
          <p:cNvPr id="2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000875" y="14973300"/>
            <a:ext cx="8572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26" name="flow-dreamer">
            <a:extLst xmlns:a="http://schemas.openxmlformats.org/drawingml/2006/main"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478000"/>
            <a:ext cx="638175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 xmlns:a="http://schemas.openxmlformats.org/drawingml/2006/main"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 xmlns:a="http://schemas.openxmlformats.org/drawingml/2006/main"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4573250"/>
            <a:ext cx="376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23名・18映像・414試行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9感情（各2映像）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視聴後SAM 1–5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3537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0" name="flow-transform">
            <a:extLst xmlns:a="http://schemas.openxmlformats.org/drawingml/2006/main"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240250"/>
            <a:ext cx="13525500" cy="17621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 xmlns:a="http://schemas.openxmlformats.org/drawingml/2006/main"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47837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 xmlns:a="http://schemas.openxmlformats.org/drawingml/2006/main"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83125"/>
            <a:ext cx="10239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DREAMER：（score - 3）/ 2 → ［-1, 1］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数値範囲を統一しても心理的等価性は仮定しない</a:t>
            </a:r>
          </a:p>
        </p:txBody>
      </p:sp>
      <p:sp>
        <p:nvSpPr>
          <p:cNvPr id="33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97625"/>
            <a:ext cx="8572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F7E19"/>
          </a:solidFill>
          <a:ln xmlns:a="http://schemas.openxmlformats.org/drawingml/2006/main" w="0">
            <a:solidFill>
              <a:srgbClr val="4F7E19"/>
            </a:solidFill>
            <a:prstDash val="solid"/>
          </a:ln>
        </p:spPr>
      </p:sp>
      <p:sp>
        <p:nvSpPr>
          <p:cNvPr id="34" name="flow-analysis">
            <a:extLst xmlns:a="http://schemas.openxmlformats.org/drawingml/2006/main"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0"/>
            <a:ext cx="13525500" cy="31432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6E4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 xmlns:a="http://schemas.openxmlformats.org/drawingml/2006/main"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240625"/>
            <a:ext cx="1295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四つの問いを次元別・段階的に評価</a:t>
            </a:r>
          </a:p>
        </p:txBody>
      </p:sp>
      <p:sp>
        <p:nvSpPr>
          <p:cNvPr id="36" name="flow-analysis-body">
            <a:extLst xmlns:a="http://schemas.openxmlformats.org/drawingml/2006/main"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0"/>
            <a:ext cx="1295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構造：Pearson / Spearman ＋ 9! 厳密置換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不確実性：参加者・映像の階層bootstrap 5,000回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尺度：次元別回帰傾き　｜　固有差：LOEO校正残差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頑健性：一感情除外・語形・Dominance方向</a:t>
            </a:r>
          </a:p>
        </p:txBody>
      </p:sp>
      <p:sp>
        <p:nvSpPr>
          <p:cNvPr id="37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24100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対応：NRCのカテゴリー名詞 ↔ DREAMERのカテゴリー平均VAD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推論単位＝9感情カテゴリー（414試行ではない）｜414試行は平均値と不確実性の推定に使用</a:t>
            </a:r>
          </a:p>
        </p:txBody>
      </p:sp>
      <p:sp>
        <p:nvSpPr>
          <p:cNvPr id="38" name="section-3-bar">
            <a:extLst xmlns:a="http://schemas.openxmlformats.org/drawingml/2006/main"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6260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39" name="section-3-accent">
            <a:extLst xmlns:a="http://schemas.openxmlformats.org/drawingml/2006/main"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55435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0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95300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結果1：カテゴリー構造</a:t>
            </a:r>
          </a:p>
        </p:txBody>
      </p:sp>
      <p:sp>
        <p:nvSpPr>
          <p:cNvPr id="41" name="result-main-title">
            <a:extLst xmlns:a="http://schemas.openxmlformats.org/drawingml/2006/main"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762625"/>
            <a:ext cx="1347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カテゴリー構造の移送可能性：Valence ＞ Arousal ≫ Dominance</a:t>
            </a:r>
          </a:p>
        </p:txBody>
      </p:sp>
      <p:pic>
        <p:nvPicPr>
          <p:cNvPr id="140" name="図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a3ff41cf0470d"/>
          <a:stretch xmlns:a="http://schemas.openxmlformats.org/drawingml/2006/main"/>
        </p:blipFill>
        <p:spPr>
          <a:xfrm xmlns:a="http://schemas.openxmlformats.org/drawingml/2006/main">
            <a:off x="15811500" y="6619875"/>
            <a:ext cx="13525500" cy="4714875"/>
          </a:xfrm>
          <a:prstGeom xmlns:a="http://schemas.openxmlformats.org/drawingml/2006/main" prst="rect">
            <a:avLst/>
          </a:prstGeom>
        </p:spPr>
      </p:pic>
      <p:sp>
        <p:nvSpPr>
          <p:cNvPr id="43" name="main-figure-caption">
            <a:extLst xmlns:a="http://schemas.openxmlformats.org/drawingml/2006/main"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11382375"/>
            <a:ext cx="1333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図1　V：r=.875（p=.018）・ρ=.895（p=.007）・LOEO .848-.922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A：r=.832（p=.034）だがρ=.433（p=.500）・LOEO .482-.898｜D：r=-.121（p=.792）［p：Holm補正］</a:t>
            </a:r>
          </a:p>
        </p:txBody>
      </p:sp>
      <p:sp>
        <p:nvSpPr>
          <p:cNvPr id="44" name="result-keyline">
            <a:extLst xmlns:a="http://schemas.openxmlformats.org/drawingml/2006/main"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2573000"/>
            <a:ext cx="13525500" cy="138112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5" name="result-keyline-copy">
            <a:extLst xmlns:a="http://schemas.openxmlformats.org/drawingml/2006/main"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2696825"/>
            <a:ext cx="13049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V：r=.875・ρ=.895・LOEO .848-.922｜A：r=.832だがρ=.433・calmness除外で低下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D：r=-.121（非有意）｜三次元全体の構成一致 C=.529, p=.0058</a:t>
            </a:r>
          </a:p>
        </p:txBody>
      </p:sp>
      <p:sp>
        <p:nvSpPr>
          <p:cNvPr id="46" name="section-4-bar">
            <a:extLst xmlns:a="http://schemas.openxmlformats.org/drawingml/2006/main"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992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47" name="section-4-accent">
            <a:extLst xmlns:a="http://schemas.openxmlformats.org/drawingml/2006/main"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973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48" name="section-4-title">
            <a:extLst xmlns:a="http://schemas.openxmlformats.org/drawingml/2006/main"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4382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結果2：尺度圧縮と固有残差</a:t>
            </a:r>
          </a:p>
        </p:txBody>
      </p:sp>
      <p:sp>
        <p:nvSpPr>
          <p:cNvPr id="49" name="scale-title">
            <a:extLst xmlns:a="http://schemas.openxmlformats.org/drawingml/2006/main"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51447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V・AはDREAMER側で中心方向へ圧縮</a:t>
            </a:r>
          </a:p>
        </p:txBody>
      </p:sp>
      <p:pic>
        <p:nvPicPr>
          <p:cNvPr id="148" name="図 1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eae5eeef147ca"/>
          <a:srcRect xmlns:a="http://schemas.openxmlformats.org/drawingml/2006/main" l="0" t="29000" r="0" b="2000"/>
          <a:stretch xmlns:a="http://schemas.openxmlformats.org/drawingml/2006/main"/>
        </p:blipFill>
        <p:spPr>
          <a:xfrm xmlns:a="http://schemas.openxmlformats.org/drawingml/2006/main">
            <a:off x="15811500" y="15906750"/>
            <a:ext cx="6477000" cy="3552825"/>
          </a:xfrm>
          <a:prstGeom xmlns:a="http://schemas.openxmlformats.org/drawingml/2006/main" prst="rect">
            <a:avLst/>
          </a:prstGeom>
        </p:spPr>
      </p:pic>
      <p:sp>
        <p:nvSpPr>
          <p:cNvPr id="51" name="scale-stats">
            <a:extLst xmlns:a="http://schemas.openxmlformats.org/drawingml/2006/main"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19573875"/>
            <a:ext cx="6477000" cy="138112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 xmlns:a="http://schemas.openxmlformats.org/drawingml/2006/main"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19669125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DREAMER（傾き, 95% CI）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 .520 [.423-.611]　A .341 [.184-.501]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傾き1から離れる＝数値は交換不可</a:t>
            </a:r>
          </a:p>
        </p:txBody>
      </p:sp>
      <p:sp>
        <p:nvSpPr>
          <p:cNvPr id="53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151447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校正後もcalmness残差が最大候補</a:t>
            </a:r>
          </a:p>
        </p:txBody>
      </p:sp>
      <p:pic>
        <p:nvPicPr>
          <p:cNvPr id="152" name="図 1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f5364bd8d4494"/>
          <a:stretch xmlns:a="http://schemas.openxmlformats.org/drawingml/2006/main"/>
        </p:blipFill>
        <p:spPr>
          <a:xfrm xmlns:a="http://schemas.openxmlformats.org/drawingml/2006/main">
            <a:off x="22764750" y="15906750"/>
            <a:ext cx="6572250" cy="4038600"/>
          </a:xfrm>
          <a:prstGeom xmlns:a="http://schemas.openxmlformats.org/drawingml/2006/main" prst="rect">
            <a:avLst/>
          </a:prstGeom>
        </p:spPr>
      </p:pic>
      <p:sp>
        <p:nvSpPr>
          <p:cNvPr id="55" name="residual-note">
            <a:extLst xmlns:a="http://schemas.openxmlformats.org/drawingml/2006/main"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005012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calmnessは再検証候補。ただし95% CIが重なるため順位は未確定。</a:t>
            </a:r>
          </a:p>
        </p:txBody>
      </p:sp>
      <p:sp>
        <p:nvSpPr>
          <p:cNvPr id="56" name="section-5-bar">
            <a:extLst xmlns:a="http://schemas.openxmlformats.org/drawingml/2006/main"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50350"/>
            <a:ext cx="1381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57" name="section-5-accent">
            <a:extLst xmlns:a="http://schemas.openxmlformats.org/drawingml/2006/main"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8313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58" name="section-5-title">
            <a:extLst xmlns:a="http://schemas.openxmlformats.org/drawingml/2006/main"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1240750"/>
            <a:ext cx="1381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考察・応用</a:t>
            </a:r>
          </a:p>
        </p:txBody>
      </p:sp>
      <p:sp>
        <p:nvSpPr>
          <p:cNvPr id="59" name="discussion-title">
            <a:extLst xmlns:a="http://schemas.openxmlformats.org/drawingml/2006/main"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002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なぜ圧縮・次元差が生じるのか</a:t>
            </a:r>
          </a:p>
        </p:txBody>
      </p:sp>
      <p:sp>
        <p:nvSpPr>
          <p:cNvPr id="60" name="discussion-copy">
            <a:extLst xmlns:a="http://schemas.openxmlformats.org/drawingml/2006/main"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22669500"/>
            <a:ext cx="6477000" cy="723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尺度圧縮｜語彙は典型的・極端な概念を想起する一方、DREAMERは23名×2映像の平均で極端値が平滑化される。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Arousal｜刺激強度・時間・個人差に依存し、同じ「高覚醒」語でも実際の誘発量が異なる。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Dominance｜語彙のpower/controlと、映像後の自己統制感で参照対象が異なる可能性。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方法論的貢献｜生距離とLOEO残差を分け、全体尺度差と感情固有差を区別した。</a:t>
            </a:r>
          </a:p>
        </p:txBody>
      </p:sp>
      <p:sp>
        <p:nvSpPr>
          <p:cNvPr id="61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0" y="22002750"/>
            <a:ext cx="6572250" cy="7905750"/>
          </a:xfrm>
          <a:prstGeom xmlns:a="http://schemas.openxmlformats.org/drawingml/2006/main" prst="roundRect">
            <a:avLst>
              <a:gd name="adj" fmla="val 1791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22885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結論・利用指針</a:t>
            </a:r>
          </a:p>
        </p:txBody>
      </p:sp>
      <p:sp>
        <p:nvSpPr>
          <p:cNvPr id="63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75" y="23050500"/>
            <a:ext cx="6096000" cy="647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Valence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順序の橋渡しには有望。</a:t>
            </a:r>
          </a:p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絶対値には校正が必要。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Arousal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刺激・対象サンプルごとに再評価。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Dominance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参照対象と尺度方向を明示するまで直接移送しない。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　データ統合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同じ数値範囲 ≠ 同じ心理的単位。</a:t>
            </a:r>
          </a:p>
        </p:txBody>
      </p:sp>
      <p:sp>
        <p:nvSpPr>
          <p:cNvPr id="64" name="section-6-bar">
            <a:extLst xmlns:a="http://schemas.openxmlformats.org/drawingml/2006/main"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84100"/>
            <a:ext cx="1366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FB5"/>
          </a:solidFill>
          <a:ln xmlns:a="http://schemas.openxmlformats.org/drawingml/2006/main" w="0">
            <a:solidFill>
              <a:srgbClr val="A9AFB5"/>
            </a:solidFill>
            <a:prstDash val="solid"/>
          </a:ln>
        </p:spPr>
      </p:sp>
      <p:sp>
        <p:nvSpPr>
          <p:cNvPr id="65" name="section-6-accent">
            <a:extLst xmlns:a="http://schemas.openxmlformats.org/drawingml/2006/main"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6505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66" name="section-6-title">
            <a:extLst xmlns:a="http://schemas.openxmlformats.org/drawingml/2006/main"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574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分析の判断基準・限界</a:t>
            </a:r>
          </a:p>
        </p:txBody>
      </p:sp>
      <p:sp>
        <p:nvSpPr>
          <p:cNvPr id="67" name="limits-copy">
            <a:extLst xmlns:a="http://schemas.openxmlformats.org/drawingml/2006/main"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0"/>
            <a:ext cx="13382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Pearson＝線形構造、Spearman＝カテゴリー順位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傾き1＝数値範囲の一致、0＜傾き＜1＝中心方向への圧縮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LOEO残差＝全体尺度を校正した後の感情固有差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• 主推論は9カテゴリー。複雑感情全体への一般化はできない</a:t>
            </a:r>
          </a:p>
        </p:txBody>
      </p:sp>
      <p:sp>
        <p:nvSpPr>
          <p:cNvPr id="68" name="honesty-callout">
            <a:extLst xmlns:a="http://schemas.openxmlformats.org/drawingml/2006/main"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0"/>
            <a:ext cx="13525500" cy="166687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9" name="honesty-copy">
            <a:extLst xmlns:a="http://schemas.openxmlformats.org/drawingml/2006/main"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670250"/>
            <a:ext cx="1304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探索的二次データ分析：相関・残差は因果効果や同一個人内の置換可能性を証明しない</a:t>
            </a:r>
          </a:p>
        </p:txBody>
      </p:sp>
      <p:sp>
        <p:nvSpPr>
          <p:cNvPr id="70" name="footer-bg">
            <a:extLst xmlns:a="http://schemas.openxmlformats.org/drawingml/2006/main"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719500"/>
            <a:ext cx="302799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1" name="footer-top-rule">
            <a:extLst xmlns:a="http://schemas.openxmlformats.org/drawingml/2006/main"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43300"/>
            <a:ext cx="302799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solidFill>
              <a:srgbClr val="B4DC3C"/>
            </a:solidFill>
            <a:prstDash val="solid"/>
          </a:ln>
        </p:spPr>
      </p:sp>
      <p:sp>
        <p:nvSpPr>
          <p:cNvPr id="72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限界と次段階</a:t>
            </a:r>
          </a:p>
        </p:txBody>
      </p:sp>
      <p:sp>
        <p:nvSpPr>
          <p:cNvPr id="73" name="future-copy">
            <a:extLst xmlns:a="http://schemas.openxmlformats.org/drawingml/2006/main"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94375"/>
            <a:ext cx="133826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限界｜各感情2映像・異なる参加者集団・NRC側の測定誤差は未伝播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再検証｜calmness・surpriseを優先し、外部データで圧縮と残差を再現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直接実験｜同一参加者・同一尺度で Lexical → Prototype → Induced を比較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Dominance｜「感情概念」「自分の統制感」「登場人物の支配性」を分離</a:t>
            </a:r>
          </a:p>
        </p:txBody>
      </p:sp>
      <p:sp>
        <p:nvSpPr>
          <p:cNvPr id="74" name="refs-title">
            <a:extLst xmlns:a="http://schemas.openxmlformats.org/drawingml/2006/main"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05752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参考文献</a:t>
            </a:r>
          </a:p>
        </p:txBody>
      </p:sp>
      <p:sp>
        <p:nvSpPr>
          <p:cNvPr id="75" name="refs-copy">
            <a:extLst xmlns:a="http://schemas.openxmlformats.org/drawingml/2006/main"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1242000"/>
            <a:ext cx="13525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Bradley &amp; Lang (1994) J Behav Ther Exp Psychiatry, 25, 49-59.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Robinson &amp; Clore (2002) Psychol Bull, 128, 934-960.　Barrett (2004) Pers Soc Psychol Bull, 30, 266-270.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Katsigiannis &amp; Ramzan (2018) IEEE J Biomed Health Inform, 22, 98-107.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0">
                <a:solidFill>
                  <a:srgbClr val="5F6B76"/>
                </a:solidFill>
                <a:latin typeface="Hiragino Sans"/>
                <a:ea typeface="Hiragino Sans"/>
                <a:cs typeface="Hiragino Sans"/>
              </a:rPr>
              <a:t>Mohammad (2025) NRC VAD Lexicon v2, arXiv:2503.23547.</a:t>
            </a:r>
          </a:p>
        </p:txBody>
      </p:sp>
      <p:sp>
        <p:nvSpPr>
          <p:cNvPr id="76" name="ack-title">
            <a:extLst xmlns:a="http://schemas.openxmlformats.org/drawingml/2006/main"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● 謝辞</a:t>
            </a:r>
          </a:p>
        </p:txBody>
      </p:sp>
      <p:sp>
        <p:nvSpPr>
          <p:cNvPr id="77" name="ack-copy">
            <a:extLst xmlns:a="http://schemas.openxmlformats.org/drawingml/2006/main"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0"/>
            <a:ext cx="1338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 xmlns:a="http://schemas.openxmlformats.org/drawingml/2006/main"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36385500"/>
            <a:ext cx="1352550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79" name="footer-message-copy">
            <a:extLst xmlns:a="http://schemas.openxmlformats.org/drawingml/2006/main"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36671250"/>
            <a:ext cx="1295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語彙VADと誘発VADは「関連する」が「交換可能ではない」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→ V・A・D別に妥当性を確認し、校正して用いる</a:t>
            </a:r>
          </a:p>
        </p:txBody>
      </p:sp>
      <p:sp>
        <p:nvSpPr>
          <p:cNvPr id="85" name="lab-header-background">
            <a:extLst xmlns:a="http://schemas.openxmlformats.org/drawingml/2006/main"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C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9" name="図 1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c718382b540ca"/>
          <a:srcRect xmlns:a="http://schemas.openxmlformats.org/drawingml/2006/main" l="8372" t="0" r="8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685800"/>
            <a:ext cx="1952625" cy="2143125"/>
          </a:xfrm>
          <a:prstGeom xmlns:a="http://schemas.openxmlformats.org/drawingml/2006/main" prst="rect">
            <a:avLst/>
          </a:prstGeom>
        </p:spPr>
      </p:pic>
      <p:pic>
        <p:nvPicPr>
          <p:cNvPr id="180" name="図 1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b66d8fa324fc5"/>
          <a:srcRect xmlns:a="http://schemas.openxmlformats.org/drawingml/2006/main" l="6923" t="0" r="6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974800" y="742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88" name="lab-poster-number-frame">
            <a:extLst xmlns:a="http://schemas.openxmlformats.org/drawingml/2006/main"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23900"/>
            <a:ext cx="323850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 xmlns:a="http://schemas.openxmlformats.org/drawingml/2006/main"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715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演題番号</a:t>
            </a:r>
          </a:p>
        </p:txBody>
      </p:sp>
      <p:sp>
        <p:nvSpPr>
          <p:cNvPr id="90" name="lab-visible-title">
            <a:extLst xmlns:a="http://schemas.openxmlformats.org/drawingml/2006/main"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"/>
            <a:ext cx="19526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感情語の意味的VADは</a:t>
            </a:r>
          </a:p>
          <a:p xmlns:a="http://schemas.openxmlformats.org/drawingml/2006/main"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映像誘発体験へ移送できるか</a:t>
            </a:r>
          </a:p>
        </p:txBody>
      </p:sp>
      <p:sp>
        <p:nvSpPr>
          <p:cNvPr id="91" name="lab-visible-subtitle">
            <a:extLst xmlns:a="http://schemas.openxmlformats.org/drawingml/2006/main"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52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DREAMER × NRC-VADによる9感情カテゴリーの次元別対応</a:t>
            </a:r>
          </a:p>
        </p:txBody>
      </p:sp>
      <p:sp>
        <p:nvSpPr>
          <p:cNvPr id="92" name="lab-visible-author">
            <a:extLst xmlns:a="http://schemas.openxmlformats.org/drawingml/2006/main"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952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芝浦工業大学</a:t>
            </a:r>
            <a:r>
              <a:rPr sz="3300" b="1">
                <a:solidFill>
                  <a:srgbClr val="111111"/>
                </a:solidFill>
              </a:rPr>
              <a:t> Doly Lab　○</a:t>
            </a:r>
            <a:r>
              <a:rPr sz="3300" b="1">
                <a:solidFill>
                  <a:srgbClr val="111111"/>
                </a:solidFill>
              </a:rPr>
              <a:t>姜晰</a:t>
            </a:r>
            <a:r>
              <a:rPr sz="3300" b="1">
                <a:solidFill>
                  <a:srgbClr val="111111"/>
                </a:solidFill>
              </a:rPr>
              <a:t>頡</a:t>
            </a:r>
            <a:r>
              <a:rPr sz="3300" b="1">
                <a:solidFill>
                  <a:srgbClr val="111111"/>
                </a:solidFill>
              </a:rPr>
              <a:t>（MA26006）</a:t>
            </a:r>
          </a:p>
        </p:txBody>
      </p:sp>
      <p:sp>
        <p:nvSpPr>
          <p:cNvPr id="98" name="senior-center-divider">
            <a:extLst xmlns:a="http://schemas.openxmlformats.org/drawingml/2006/main">
              <a:ext uri="{FF2B5EF4-FFF2-40B4-BE49-F238E27FC236}">
                <a16:creationId xmlns:a16="http://schemas.microsoft.com/office/drawing/2014/main" id="{33E1B659-86DB-4DC7-A402-9334C137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4857750"/>
            <a:ext cx="0" cy="364807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EA4AA"/>
            </a:solidFill>
            <a:prstDash val="dot"/>
          </a:ln>
        </p:spPr>
      </p:sp>
    </p:spTree>
    <p:extLst>
      <p:ext uri="{BB962C8B-B14F-4D97-AF65-F5344CB8AC3E}">
        <p14:creationId xmlns:p14="http://schemas.microsoft.com/office/powerpoint/2010/main" val="663968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2026-07-30T10:36:34.4320000Z</dcterms:created>
  <dcterms:modified xsi:type="dcterms:W3CDTF">2026-07-30T10:36:34.4320000Z</dcterms:modified>
</coreProperties>
</file>