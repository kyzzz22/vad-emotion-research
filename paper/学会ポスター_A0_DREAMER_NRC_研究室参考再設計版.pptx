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db6e24eae704928" /><Relationship Type="http://schemas.openxmlformats.org/officeDocument/2006/relationships/extended-properties" Target="/docProps/app.xml" Id="R0b4045c765564944" /><Relationship Type="http://schemas.openxmlformats.org/officeDocument/2006/relationships/officeDocument" Target="/ppt/presentation.xml" Id="Rc03d461fbc35444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300e55751774732"/>
  </p:sldMasterIdLst>
  <p:notesMasterIdLst>
    <p:notesMasterId xmlns:r="http://schemas.openxmlformats.org/officeDocument/2006/relationships" r:id="R9b8ad75ed5794f8e"/>
  </p:notesMasterIdLst>
  <p:sldIdLst>
    <p:sldId xmlns:r="http://schemas.openxmlformats.org/officeDocument/2006/relationships" id="256" r:id="R614e9f4d69b146c6"/>
  </p:sldIdLst>
  <p:sldSz cx="30279975" cy="4280535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9cd8e7170a54813" /><Relationship Type="http://schemas.openxmlformats.org/officeDocument/2006/relationships/slideMaster" Target="/ppt/slideMasters/slideMaster1.xml" Id="Rf300e55751774732" /><Relationship Type="http://schemas.openxmlformats.org/officeDocument/2006/relationships/notesMaster" Target="/ppt/notesMasters/notesMaster1.xml" Id="R9b8ad75ed5794f8e" /><Relationship Type="http://schemas.openxmlformats.org/officeDocument/2006/relationships/presProps" Target="/ppt/presProps.xml" Id="R95f355d002e741fa" /><Relationship Type="http://schemas.openxmlformats.org/officeDocument/2006/relationships/viewProps" Target="/ppt/viewProps.xml" Id="R7e4a4bd4b91e4cd5" /><Relationship Type="http://schemas.openxmlformats.org/officeDocument/2006/relationships/tableStyles" Target="/ppt/tableStyles.xml" Id="R52049e4c2d794b87" /><Relationship Type="http://schemas.openxmlformats.org/officeDocument/2006/relationships/slide" Target="/ppt/slides/slide1.xml" Id="R614e9f4d69b146c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e6635170401460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8427ea376bb4519" /><Relationship Type="http://schemas.openxmlformats.org/officeDocument/2006/relationships/notesMaster" Target="/ppt/notesMasters/notesMaster1.xml" Id="R1025f7e1d8d0439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/Users/mac/Downloads/shibaura开题相关/VAD坐标相关/vad-emotion-research/paper/研究进展报告_DREAMER_NRC.md (study scope, quantitative findings, interpretation, and limitations)</a:t>
            </a:r>
          </a:p>
          <a:p xmlns:a="http://schemas.openxmlformats.org/drawingml/2006/main">
            <a:r>
              <a:t>- /Users/mac/Downloads/shibaura开题相关/VAD坐标相关/vad-emotion-research/results/dreamer_nrc_robustness/robustness_report_zh.md (permutation tests, Holm adjustment, bootstrap intervals, slopes, and LOEO analysis)</a:t>
            </a:r>
          </a:p>
          <a:p xmlns:a="http://schemas.openxmlformats.org/drawingml/2006/main">
            <a:r>
              <a:t>- Bradley, M. M., &amp; Lang, P. J. (1994). Measuring emotion: The Self-Assessment Manikin and the Semantic Differential.</a:t>
            </a:r>
          </a:p>
          <a:p xmlns:a="http://schemas.openxmlformats.org/drawingml/2006/main">
            <a:r>
              <a:t>- Katsigiannis, S., &amp; Ramzan, N. (2018). DREAMER: A Database for Emotion Recognition Through EEG and ECG Signals From Wireless Low-cost Off-the-Shelf Devices.</a:t>
            </a:r>
          </a:p>
          <a:p xmlns:a="http://schemas.openxmlformats.org/drawingml/2006/main">
            <a:r>
              <a:t>- Mohammad, S. M. (2025). NRC VAD Lexicon v2.</a:t>
            </a:r>
          </a:p>
          <a:p xmlns:a="http://schemas.openxmlformats.org/drawingml/2006/main">
            <a:r>
              <a:t>- Design references: 24 supplied 2025 Doly Lab pre-seminar posters (poster files 01–12 and 14–25 in the user-provided reference directory).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08f87655b134f4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69ef5cf03e445b6" /><Relationship Type="http://schemas.openxmlformats.org/officeDocument/2006/relationships/slideLayout" Target="/ppt/slideLayouts/slideLayout1.xml" Id="R086bd87c9d5848d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86bd87c9d5848d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d623dd81554d98" /><Relationship Type="http://schemas.openxmlformats.org/officeDocument/2006/relationships/image" Target="/ppt/media/image.png" Id="R1ed019e0c1d94933" /><Relationship Type="http://schemas.openxmlformats.org/officeDocument/2006/relationships/image" Target="/ppt/media/image2.png" Id="Rdb88a2b8f9ee4622" /><Relationship Type="http://schemas.openxmlformats.org/officeDocument/2006/relationships/image" Target="/ppt/media/image3.png" Id="R9df5cffa86e748b8" /><Relationship Type="http://schemas.openxmlformats.org/officeDocument/2006/relationships/image" Target="/ppt/media/image4.png" Id="R16e42e7453c041ef" /><Relationship Type="http://schemas.openxmlformats.org/officeDocument/2006/relationships/image" Target="/ppt/media/image5.png" Id="R01d50d1e4af049a6" /><Relationship Type="http://schemas.openxmlformats.org/officeDocument/2006/relationships/notesSlide" Target="/ppt/notesSlides/notesSlide1.xml" Id="R9234b0a782124bf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section-1-bar">
            <a:extLst xmlns:a="http://schemas.openxmlformats.org/drawingml/2006/main">
              <a:ext uri="{FF2B5EF4-FFF2-40B4-BE49-F238E27FC236}">
                <a16:creationId xmlns:a16="http://schemas.microsoft.com/office/drawing/2014/main" id="{AD851A9D-C533-4B9C-8E71-6FE565CBC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667250"/>
            <a:ext cx="136683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9AFB5"/>
          </a:solidFill>
          <a:ln xmlns:a="http://schemas.openxmlformats.org/drawingml/2006/main" w="0">
            <a:solidFill>
              <a:srgbClr val="A9AFB5"/>
            </a:solidFill>
            <a:prstDash val="solid"/>
          </a:ln>
        </p:spPr>
      </p:sp>
      <p:sp>
        <p:nvSpPr>
          <p:cNvPr id="10" name="section-1-accent">
            <a:extLst xmlns:a="http://schemas.openxmlformats.org/drawingml/2006/main">
              <a:ext uri="{FF2B5EF4-FFF2-40B4-BE49-F238E27FC236}">
                <a16:creationId xmlns:a16="http://schemas.microsoft.com/office/drawing/2014/main" id="{F41F26E8-2532-4B67-A6D8-4A074852E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648200"/>
            <a:ext cx="1762125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DC3C"/>
          </a:solidFill>
          <a:ln xmlns:a="http://schemas.openxmlformats.org/drawingml/2006/main" w="0">
            <a:solidFill>
              <a:srgbClr val="B4DC3C"/>
            </a:solidFill>
            <a:prstDash val="solid"/>
          </a:ln>
        </p:spPr>
      </p:sp>
      <p:sp>
        <p:nvSpPr>
          <p:cNvPr id="11" name="section-1-title">
            <a:extLst xmlns:a="http://schemas.openxmlformats.org/drawingml/2006/main">
              <a:ext uri="{FF2B5EF4-FFF2-40B4-BE49-F238E27FC236}">
                <a16:creationId xmlns:a16="http://schemas.microsoft.com/office/drawing/2014/main" id="{2091FDD7-1692-4C1B-85A1-381948F76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076700"/>
            <a:ext cx="136683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buNone/>
              <a:defRPr sz="285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285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1  研究問い</a:t>
            </a:r>
          </a:p>
        </p:txBody>
      </p:sp>
      <p:sp>
        <p:nvSpPr>
          <p:cNvPr id="12" name="background-copy">
            <a:extLst xmlns:a="http://schemas.openxmlformats.org/drawingml/2006/main">
              <a:ext uri="{FF2B5EF4-FFF2-40B4-BE49-F238E27FC236}">
                <a16:creationId xmlns:a16="http://schemas.microsoft.com/office/drawing/2014/main" id="{95B0A47C-6629-40C7-8031-DCFC18F54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857750"/>
            <a:ext cx="13287375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325" b="0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2325" b="0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感情語の意味と、映像視聴後の体験は、ともに V・A・D の3次元で記述できる。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325" b="0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2325" b="0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ただし語彙常模と誘発実験では、文脈・課題・回答者が異なる。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325" b="0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2325" b="0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同じ数値範囲へ変換できても、同じ座標として交換できるとは限らない。</a:t>
            </a:r>
          </a:p>
        </p:txBody>
      </p:sp>
      <p:sp>
        <p:nvSpPr>
          <p:cNvPr id="13" name="gap-callout">
            <a:extLst xmlns:a="http://schemas.openxmlformats.org/drawingml/2006/main">
              <a:ext uri="{FF2B5EF4-FFF2-40B4-BE49-F238E27FC236}">
                <a16:creationId xmlns:a16="http://schemas.microsoft.com/office/drawing/2014/main" id="{11EFD229-1260-4204-A33A-87529FC01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6610350"/>
            <a:ext cx="13525500" cy="160020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FF1B8"/>
          </a:solidFill>
          <a:ln xmlns:a="http://schemas.openxmlformats.org/drawingml/2006/main" w="19050">
            <a:solidFill>
              <a:srgbClr val="111111"/>
            </a:solidFill>
            <a:prstDash val="solid"/>
          </a:ln>
        </p:spPr>
      </p:sp>
      <p:sp>
        <p:nvSpPr>
          <p:cNvPr id="14" name="gap-label">
            <a:extLst xmlns:a="http://schemas.openxmlformats.org/drawingml/2006/main">
              <a:ext uri="{FF2B5EF4-FFF2-40B4-BE49-F238E27FC236}">
                <a16:creationId xmlns:a16="http://schemas.microsoft.com/office/drawing/2014/main" id="{BFA3CA7D-5DCD-45BF-A4F6-6FF3F1AC8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6715125"/>
            <a:ext cx="13049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9039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buNone/>
              <a:defRPr sz="2325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2325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● 中心となる問い</a:t>
            </a:r>
          </a:p>
        </p:txBody>
      </p:sp>
      <p:sp>
        <p:nvSpPr>
          <p:cNvPr id="15" name="gap-copy">
            <a:extLst xmlns:a="http://schemas.openxmlformats.org/drawingml/2006/main">
              <a:ext uri="{FF2B5EF4-FFF2-40B4-BE49-F238E27FC236}">
                <a16:creationId xmlns:a16="http://schemas.microsoft.com/office/drawing/2014/main" id="{ACD8EEED-C2A6-40D2-94B1-7ADD359EB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7115175"/>
            <a:ext cx="13049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2925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2925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感情語のVAD座標は</a:t>
            </a:r>
          </a:p>
          <a:p xmlns:a="http://schemas.openxmlformats.org/drawingml/2006/main">
            <a:pPr algn="ctr">
              <a:lnSpc>
                <a:spcPct val="102000"/>
              </a:lnSpc>
              <a:buNone/>
              <a:defRPr sz="2925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2925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映像誘発体験の座標として使えるか？</a:t>
            </a:r>
          </a:p>
        </p:txBody>
      </p:sp>
      <p:sp>
        <p:nvSpPr>
          <p:cNvPr id="16" name="purpose-callout">
            <a:extLst xmlns:a="http://schemas.openxmlformats.org/drawingml/2006/main">
              <a:ext uri="{FF2B5EF4-FFF2-40B4-BE49-F238E27FC236}">
                <a16:creationId xmlns:a16="http://schemas.microsoft.com/office/drawing/2014/main" id="{F24B19EE-4C2B-4A0B-8196-8409AB114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8353425"/>
            <a:ext cx="13525500" cy="1619250"/>
          </a:xfrm>
          <a:prstGeom xmlns:a="http://schemas.openxmlformats.org/drawingml/2006/main" prst="roundRect">
            <a:avLst>
              <a:gd name="adj" fmla="val 48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7" name="purpose-label">
            <a:extLst xmlns:a="http://schemas.openxmlformats.org/drawingml/2006/main">
              <a:ext uri="{FF2B5EF4-FFF2-40B4-BE49-F238E27FC236}">
                <a16:creationId xmlns:a16="http://schemas.microsoft.com/office/drawing/2014/main" id="{EDB46B44-AD09-4C81-8BB7-DAA770178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8458200"/>
            <a:ext cx="13049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9039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buNone/>
              <a:defRPr sz="2325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2325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● 3つの判定軸</a:t>
            </a:r>
          </a:p>
        </p:txBody>
      </p:sp>
      <p:sp>
        <p:nvSpPr>
          <p:cNvPr id="18" name="purpose-copy">
            <a:extLst xmlns:a="http://schemas.openxmlformats.org/drawingml/2006/main">
              <a:ext uri="{FF2B5EF4-FFF2-40B4-BE49-F238E27FC236}">
                <a16:creationId xmlns:a16="http://schemas.microsoft.com/office/drawing/2014/main" id="{4E6D0923-4CF1-4C0D-B8F5-990586580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8858250"/>
            <a:ext cx="13049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225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225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① 構造対応　② 座標範囲の圧縮　③ 感情固有の逸脱</a:t>
            </a:r>
          </a:p>
          <a:p xmlns:a="http://schemas.openxmlformats.org/drawingml/2006/main">
            <a:pPr algn="ctr">
              <a:lnSpc>
                <a:spcPct val="106000"/>
              </a:lnSpc>
              <a:buNone/>
              <a:defRPr sz="225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225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Valence / Arousal / Dominance を分けて判定</a:t>
            </a:r>
          </a:p>
        </p:txBody>
      </p:sp>
      <p:sp>
        <p:nvSpPr>
          <p:cNvPr id="19" name="section-2-bar">
            <a:extLst xmlns:a="http://schemas.openxmlformats.org/drawingml/2006/main">
              <a:ext uri="{FF2B5EF4-FFF2-40B4-BE49-F238E27FC236}">
                <a16:creationId xmlns:a16="http://schemas.microsoft.com/office/drawing/2014/main" id="{32316196-29E5-4E81-B3E2-0FDDDE040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0877550"/>
            <a:ext cx="136683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9AFB5"/>
          </a:solidFill>
          <a:ln xmlns:a="http://schemas.openxmlformats.org/drawingml/2006/main" w="0">
            <a:solidFill>
              <a:srgbClr val="A9AFB5"/>
            </a:solidFill>
            <a:prstDash val="solid"/>
          </a:ln>
        </p:spPr>
      </p:sp>
      <p:sp>
        <p:nvSpPr>
          <p:cNvPr id="20" name="section-2-accent">
            <a:extLst xmlns:a="http://schemas.openxmlformats.org/drawingml/2006/main">
              <a:ext uri="{FF2B5EF4-FFF2-40B4-BE49-F238E27FC236}">
                <a16:creationId xmlns:a16="http://schemas.microsoft.com/office/drawing/2014/main" id="{2A8FA4A1-D2A0-4E2B-9AB8-559AFD99E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0858500"/>
            <a:ext cx="1762125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DC3C"/>
          </a:solidFill>
          <a:ln xmlns:a="http://schemas.openxmlformats.org/drawingml/2006/main" w="0">
            <a:solidFill>
              <a:srgbClr val="B4DC3C"/>
            </a:solidFill>
            <a:prstDash val="solid"/>
          </a:ln>
        </p:spPr>
      </p:sp>
      <p:sp>
        <p:nvSpPr>
          <p:cNvPr id="21" name="section-2-title">
            <a:extLst xmlns:a="http://schemas.openxmlformats.org/drawingml/2006/main">
              <a:ext uri="{FF2B5EF4-FFF2-40B4-BE49-F238E27FC236}">
                <a16:creationId xmlns:a16="http://schemas.microsoft.com/office/drawing/2014/main" id="{2D05A2D8-C82D-464A-B54E-23587DC6F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0287000"/>
            <a:ext cx="136683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buNone/>
              <a:defRPr sz="285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285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2  比較設計</a:t>
            </a:r>
          </a:p>
        </p:txBody>
      </p:sp>
      <p:sp>
        <p:nvSpPr>
          <p:cNvPr id="22" name="flow-nrc">
            <a:extLst xmlns:a="http://schemas.openxmlformats.org/drawingml/2006/main">
              <a:ext uri="{FF2B5EF4-FFF2-40B4-BE49-F238E27FC236}">
                <a16:creationId xmlns:a16="http://schemas.microsoft.com/office/drawing/2014/main" id="{069F34FB-FD82-4F10-BD75-616ED8919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0953750"/>
            <a:ext cx="5905500" cy="1714500"/>
          </a:xfrm>
          <a:prstGeom xmlns:a="http://schemas.openxmlformats.org/drawingml/2006/main" prst="roundRect">
            <a:avLst>
              <a:gd name="adj" fmla="val 6522"/>
            </a:avLst>
          </a:prstGeom>
          <a:solidFill xmlns:a="http://schemas.openxmlformats.org/drawingml/2006/main">
            <a:srgbClr val="EEF6E4"/>
          </a:solidFill>
          <a:ln xmlns:a="http://schemas.openxmlformats.org/drawingml/2006/main" w="19050">
            <a:solidFill>
              <a:srgbClr val="4F7E19"/>
            </a:solidFill>
            <a:prstDash val="solid"/>
          </a:ln>
        </p:spPr>
      </p:sp>
      <p:sp>
        <p:nvSpPr>
          <p:cNvPr id="23" name="flow-nrc-title">
            <a:extLst xmlns:a="http://schemas.openxmlformats.org/drawingml/2006/main">
              <a:ext uri="{FF2B5EF4-FFF2-40B4-BE49-F238E27FC236}">
                <a16:creationId xmlns:a16="http://schemas.microsoft.com/office/drawing/2014/main" id="{CD72FD37-BAAE-4074-9FCB-AA9E021EB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1077575"/>
            <a:ext cx="233362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40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240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NRC-VAD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240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240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v2.1</a:t>
            </a:r>
          </a:p>
        </p:txBody>
      </p:sp>
      <p:sp>
        <p:nvSpPr>
          <p:cNvPr id="24" name="flow-nrc-body">
            <a:extLst xmlns:a="http://schemas.openxmlformats.org/drawingml/2006/main">
              <a:ext uri="{FF2B5EF4-FFF2-40B4-BE49-F238E27FC236}">
                <a16:creationId xmlns:a16="http://schemas.microsoft.com/office/drawing/2014/main" id="{6531AFB5-934F-4327-911F-4403ADD93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11049000"/>
            <a:ext cx="29527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3000"/>
              </a:lnSpc>
              <a:buNone/>
              <a:defRPr sz="2100" b="0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2100" b="0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9種類の英語感情名詞</a:t>
            </a:r>
          </a:p>
          <a:p xmlns:a="http://schemas.openxmlformats.org/drawingml/2006/main">
            <a:pPr algn="ctr">
              <a:lnSpc>
                <a:spcPct val="113000"/>
              </a:lnSpc>
              <a:buNone/>
              <a:defRPr sz="2100" b="0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2100" b="0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意味的VAD座標</a:t>
            </a:r>
          </a:p>
        </p:txBody>
      </p:sp>
      <p:sp>
        <p:nvSpPr>
          <p:cNvPr id="25" name="flow-arrow-1">
            <a:extLst xmlns:a="http://schemas.openxmlformats.org/drawingml/2006/main">
              <a:ext uri="{FF2B5EF4-FFF2-40B4-BE49-F238E27FC236}">
                <a16:creationId xmlns:a16="http://schemas.microsoft.com/office/drawing/2014/main" id="{BD74B401-F6EA-4A86-A130-CC5354157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200000">
            <a:off x="7000875" y="11410950"/>
            <a:ext cx="857250" cy="74295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4F7E19"/>
          </a:solidFill>
          <a:ln xmlns:a="http://schemas.openxmlformats.org/drawingml/2006/main" w="0">
            <a:solidFill>
              <a:srgbClr val="4F7E19"/>
            </a:solidFill>
            <a:prstDash val="solid"/>
          </a:ln>
        </p:spPr>
      </p:sp>
      <p:sp>
        <p:nvSpPr>
          <p:cNvPr id="26" name="flow-dreamer">
            <a:extLst xmlns:a="http://schemas.openxmlformats.org/drawingml/2006/main">
              <a:ext uri="{FF2B5EF4-FFF2-40B4-BE49-F238E27FC236}">
                <a16:creationId xmlns:a16="http://schemas.microsoft.com/office/drawing/2014/main" id="{C2AC944C-D9AA-4345-B362-D960BC866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0953750"/>
            <a:ext cx="6381750" cy="1714500"/>
          </a:xfrm>
          <a:prstGeom xmlns:a="http://schemas.openxmlformats.org/drawingml/2006/main" prst="roundRect">
            <a:avLst>
              <a:gd name="adj" fmla="val 5825"/>
            </a:avLst>
          </a:prstGeom>
          <a:solidFill xmlns:a="http://schemas.openxmlformats.org/drawingml/2006/main">
            <a:srgbClr val="EEF6E4"/>
          </a:solidFill>
          <a:ln xmlns:a="http://schemas.openxmlformats.org/drawingml/2006/main" w="19050">
            <a:solidFill>
              <a:srgbClr val="4F7E19"/>
            </a:solidFill>
            <a:prstDash val="solid"/>
          </a:ln>
        </p:spPr>
      </p:sp>
      <p:sp>
        <p:nvSpPr>
          <p:cNvPr id="27" name="flow-dreamer-title">
            <a:extLst xmlns:a="http://schemas.openxmlformats.org/drawingml/2006/main">
              <a:ext uri="{FF2B5EF4-FFF2-40B4-BE49-F238E27FC236}">
                <a16:creationId xmlns:a16="http://schemas.microsoft.com/office/drawing/2014/main" id="{96DCBF29-29C8-492D-983B-FFB5BFFD5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1144250"/>
            <a:ext cx="2190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buNone/>
              <a:defRPr sz="240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240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DREAMER</a:t>
            </a:r>
          </a:p>
        </p:txBody>
      </p:sp>
      <p:sp>
        <p:nvSpPr>
          <p:cNvPr id="28" name="flow-dreamer-body">
            <a:extLst xmlns:a="http://schemas.openxmlformats.org/drawingml/2006/main">
              <a:ext uri="{FF2B5EF4-FFF2-40B4-BE49-F238E27FC236}">
                <a16:creationId xmlns:a16="http://schemas.microsoft.com/office/drawing/2014/main" id="{96D5BAB3-43ED-4AE3-905C-10663F831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11029950"/>
            <a:ext cx="38100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3000"/>
              </a:lnSpc>
              <a:buNone/>
              <a:defRPr sz="2100" b="0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2100" b="0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23名 × 18映像 = 414試行</a:t>
            </a:r>
          </a:p>
          <a:p xmlns:a="http://schemas.openxmlformats.org/drawingml/2006/main">
            <a:pPr algn="ctr">
              <a:lnSpc>
                <a:spcPct val="113000"/>
              </a:lnSpc>
              <a:buNone/>
              <a:defRPr sz="2100" b="0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2100" b="0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9感情・映像後VAD評定</a:t>
            </a:r>
          </a:p>
        </p:txBody>
      </p:sp>
      <p:sp>
        <p:nvSpPr>
          <p:cNvPr id="29" name="flow-arrow-2">
            <a:extLst xmlns:a="http://schemas.openxmlformats.org/drawingml/2006/main">
              <a:ext uri="{FF2B5EF4-FFF2-40B4-BE49-F238E27FC236}">
                <a16:creationId xmlns:a16="http://schemas.microsoft.com/office/drawing/2014/main" id="{5B575E44-1872-4C45-97BE-DC5FE92AB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2744450"/>
            <a:ext cx="857250" cy="6858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4F7E19"/>
          </a:solidFill>
          <a:ln xmlns:a="http://schemas.openxmlformats.org/drawingml/2006/main" w="0">
            <a:solidFill>
              <a:srgbClr val="4F7E19"/>
            </a:solidFill>
            <a:prstDash val="solid"/>
          </a:ln>
        </p:spPr>
      </p:sp>
      <p:sp>
        <p:nvSpPr>
          <p:cNvPr id="30" name="flow-transform">
            <a:extLst xmlns:a="http://schemas.openxmlformats.org/drawingml/2006/main">
              <a:ext uri="{FF2B5EF4-FFF2-40B4-BE49-F238E27FC236}">
                <a16:creationId xmlns:a16="http://schemas.microsoft.com/office/drawing/2014/main" id="{ABB10255-6C78-4785-825A-396957892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3525500"/>
            <a:ext cx="13525500" cy="1666875"/>
          </a:xfrm>
          <a:prstGeom xmlns:a="http://schemas.openxmlformats.org/drawingml/2006/main" prst="roundRect">
            <a:avLst>
              <a:gd name="adj" fmla="val 5825"/>
            </a:avLst>
          </a:prstGeom>
          <a:solidFill xmlns:a="http://schemas.openxmlformats.org/drawingml/2006/main">
            <a:srgbClr val="FFF1B8"/>
          </a:solidFill>
          <a:ln xmlns:a="http://schemas.openxmlformats.org/drawingml/2006/main" w="19050">
            <a:solidFill>
              <a:srgbClr val="4F7E19"/>
            </a:solidFill>
            <a:prstDash val="solid"/>
          </a:ln>
        </p:spPr>
      </p:sp>
      <p:sp>
        <p:nvSpPr>
          <p:cNvPr id="31" name="flow-transform-title">
            <a:extLst xmlns:a="http://schemas.openxmlformats.org/drawingml/2006/main">
              <a:ext uri="{FF2B5EF4-FFF2-40B4-BE49-F238E27FC236}">
                <a16:creationId xmlns:a16="http://schemas.microsoft.com/office/drawing/2014/main" id="{44AB8EEA-D4C1-460F-9412-7D2307E0C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3716000"/>
            <a:ext cx="247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buNone/>
              <a:defRPr sz="240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240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尺度統一</a:t>
            </a:r>
          </a:p>
        </p:txBody>
      </p:sp>
      <p:sp>
        <p:nvSpPr>
          <p:cNvPr id="32" name="flow-transform-body">
            <a:extLst xmlns:a="http://schemas.openxmlformats.org/drawingml/2006/main">
              <a:ext uri="{FF2B5EF4-FFF2-40B4-BE49-F238E27FC236}">
                <a16:creationId xmlns:a16="http://schemas.microsoft.com/office/drawing/2014/main" id="{BB76D7B6-0E3D-447D-AC3D-E84B7AE91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13649325"/>
            <a:ext cx="10239375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3000"/>
              </a:lnSpc>
              <a:buNone/>
              <a:defRPr sz="2250" b="0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2250" b="0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DREAMER: (score − 3) / 2</a:t>
            </a:r>
          </a:p>
          <a:p xmlns:a="http://schemas.openxmlformats.org/drawingml/2006/main">
            <a:pPr algn="ctr">
              <a:lnSpc>
                <a:spcPct val="113000"/>
              </a:lnSpc>
              <a:buNone/>
              <a:defRPr sz="2250" b="0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2250" b="0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両データを [−1, 1] へ正規化</a:t>
            </a:r>
          </a:p>
        </p:txBody>
      </p:sp>
      <p:sp>
        <p:nvSpPr>
          <p:cNvPr id="33" name="flow-arrow-3">
            <a:extLst xmlns:a="http://schemas.openxmlformats.org/drawingml/2006/main">
              <a:ext uri="{FF2B5EF4-FFF2-40B4-BE49-F238E27FC236}">
                <a16:creationId xmlns:a16="http://schemas.microsoft.com/office/drawing/2014/main" id="{71F239B8-BB97-4290-ABDE-4BBD58DF6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5259050"/>
            <a:ext cx="857250" cy="6858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4F7E19"/>
          </a:solidFill>
          <a:ln xmlns:a="http://schemas.openxmlformats.org/drawingml/2006/main" w="0">
            <a:solidFill>
              <a:srgbClr val="4F7E19"/>
            </a:solidFill>
            <a:prstDash val="solid"/>
          </a:ln>
        </p:spPr>
      </p:sp>
      <p:sp>
        <p:nvSpPr>
          <p:cNvPr id="34" name="flow-analysis">
            <a:extLst xmlns:a="http://schemas.openxmlformats.org/drawingml/2006/main">
              <a:ext uri="{FF2B5EF4-FFF2-40B4-BE49-F238E27FC236}">
                <a16:creationId xmlns:a16="http://schemas.microsoft.com/office/drawing/2014/main" id="{39685649-BCCE-437E-B892-FFCAE1563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6049625"/>
            <a:ext cx="13525500" cy="2809875"/>
          </a:xfrm>
          <a:prstGeom xmlns:a="http://schemas.openxmlformats.org/drawingml/2006/main" prst="roundRect">
            <a:avLst>
              <a:gd name="adj" fmla="val 4196"/>
            </a:avLst>
          </a:prstGeom>
          <a:solidFill xmlns:a="http://schemas.openxmlformats.org/drawingml/2006/main">
            <a:srgbClr val="EEF6E4"/>
          </a:solidFill>
          <a:ln xmlns:a="http://schemas.openxmlformats.org/drawingml/2006/main" w="19050">
            <a:solidFill>
              <a:srgbClr val="4F7E19"/>
            </a:solidFill>
            <a:prstDash val="solid"/>
          </a:ln>
        </p:spPr>
      </p:sp>
      <p:sp>
        <p:nvSpPr>
          <p:cNvPr id="35" name="flow-analysis-title">
            <a:extLst xmlns:a="http://schemas.openxmlformats.org/drawingml/2006/main">
              <a:ext uri="{FF2B5EF4-FFF2-40B4-BE49-F238E27FC236}">
                <a16:creationId xmlns:a16="http://schemas.microsoft.com/office/drawing/2014/main" id="{13F7BF59-EB00-4018-B5BE-AD9BB8FB1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6211550"/>
            <a:ext cx="12954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3000"/>
              </a:lnSpc>
              <a:buNone/>
              <a:defRPr sz="240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240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次元別・段階的に比較</a:t>
            </a:r>
          </a:p>
        </p:txBody>
      </p:sp>
      <p:sp>
        <p:nvSpPr>
          <p:cNvPr id="36" name="flow-analysis-body">
            <a:extLst xmlns:a="http://schemas.openxmlformats.org/drawingml/2006/main">
              <a:ext uri="{FF2B5EF4-FFF2-40B4-BE49-F238E27FC236}">
                <a16:creationId xmlns:a16="http://schemas.microsoft.com/office/drawing/2014/main" id="{72373702-9449-4BA6-A454-E649D20EE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6811625"/>
            <a:ext cx="129540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2100" b="0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2100" b="0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構造対応｜Pearson / Spearman ＋ 9! 厳密置換</a:t>
            </a:r>
          </a:p>
          <a:p xmlns:a="http://schemas.openxmlformats.org/drawingml/2006/main">
            <a:pPr algn="ctr">
              <a:lnSpc>
                <a:spcPct val="115000"/>
              </a:lnSpc>
              <a:buNone/>
              <a:defRPr sz="2100" b="0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2100" b="0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不確実性｜5,000回の参加者・映像階層 bootstrap</a:t>
            </a:r>
          </a:p>
          <a:p xmlns:a="http://schemas.openxmlformats.org/drawingml/2006/main">
            <a:pPr algn="ctr">
              <a:lnSpc>
                <a:spcPct val="115000"/>
              </a:lnSpc>
              <a:buNone/>
              <a:defRPr sz="2100" b="0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2100" b="0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座標一致｜回帰傾き　　感情固有差｜LOEO残差・感度分析</a:t>
            </a:r>
          </a:p>
        </p:txBody>
      </p:sp>
      <p:sp>
        <p:nvSpPr>
          <p:cNvPr id="37" name="inference-note">
            <a:extLst xmlns:a="http://schemas.openxmlformats.org/drawingml/2006/main">
              <a:ext uri="{FF2B5EF4-FFF2-40B4-BE49-F238E27FC236}">
                <a16:creationId xmlns:a16="http://schemas.microsoft.com/office/drawing/2014/main" id="{8AD1DCD8-51EF-4D08-BF19-63A7FCEDF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8935700"/>
            <a:ext cx="13430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75" b="0">
                <a:solidFill>
                  <a:srgbClr val="5F6C78"/>
                </a:solidFill>
                <a:latin typeface="Hiragino Sans"/>
                <a:ea typeface="Hiragino Sans"/>
                <a:cs typeface="Hiragino Sans"/>
              </a:defRPr>
            </a:pPr>
            <a:r>
              <a:rPr sz="1875" b="0">
                <a:solidFill>
                  <a:srgbClr val="5F6C78"/>
                </a:solidFill>
                <a:latin typeface="Hiragino Sans"/>
                <a:ea typeface="Hiragino Sans"/>
                <a:cs typeface="Hiragino Sans"/>
              </a:rPr>
              <a:t>対応単位：NRC感情名詞VAD ↔ DREAMERカテゴリー平均VAD（23名 × 各感情2映像）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875" b="0">
                <a:solidFill>
                  <a:srgbClr val="5F6C78"/>
                </a:solidFill>
                <a:latin typeface="Hiragino Sans"/>
                <a:ea typeface="Hiragino Sans"/>
                <a:cs typeface="Hiragino Sans"/>
              </a:defRPr>
            </a:pPr>
            <a:r>
              <a:rPr sz="1875" b="0">
                <a:solidFill>
                  <a:srgbClr val="5F6C78"/>
                </a:solidFill>
                <a:latin typeface="Hiragino Sans"/>
                <a:ea typeface="Hiragino Sans"/>
                <a:cs typeface="Hiragino Sans"/>
              </a:rPr>
              <a:t>推論単位は414試行ではなく9カテゴリー｜9感情すべてを対応させて比較</a:t>
            </a:r>
          </a:p>
        </p:txBody>
      </p:sp>
      <p:sp>
        <p:nvSpPr>
          <p:cNvPr id="38" name="section-3-bar">
            <a:extLst xmlns:a="http://schemas.openxmlformats.org/drawingml/2006/main">
              <a:ext uri="{FF2B5EF4-FFF2-40B4-BE49-F238E27FC236}">
                <a16:creationId xmlns:a16="http://schemas.microsoft.com/office/drawing/2014/main" id="{4B91B1B4-F44E-4CCC-9127-AB48B0CC6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0" y="4667250"/>
            <a:ext cx="13811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9AFB5"/>
          </a:solidFill>
          <a:ln xmlns:a="http://schemas.openxmlformats.org/drawingml/2006/main" w="0">
            <a:solidFill>
              <a:srgbClr val="A9AFB5"/>
            </a:solidFill>
            <a:prstDash val="solid"/>
          </a:ln>
        </p:spPr>
      </p:sp>
      <p:sp>
        <p:nvSpPr>
          <p:cNvPr id="39" name="section-3-accent">
            <a:extLst xmlns:a="http://schemas.openxmlformats.org/drawingml/2006/main">
              <a:ext uri="{FF2B5EF4-FFF2-40B4-BE49-F238E27FC236}">
                <a16:creationId xmlns:a16="http://schemas.microsoft.com/office/drawing/2014/main" id="{528769B7-78D5-400D-BE75-9230A6A15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0" y="4648200"/>
            <a:ext cx="1762125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DC3C"/>
          </a:solidFill>
          <a:ln xmlns:a="http://schemas.openxmlformats.org/drawingml/2006/main" w="0">
            <a:solidFill>
              <a:srgbClr val="B4DC3C"/>
            </a:solidFill>
            <a:prstDash val="solid"/>
          </a:ln>
        </p:spPr>
      </p:sp>
      <p:sp>
        <p:nvSpPr>
          <p:cNvPr id="40" name="section-3-title">
            <a:extLst xmlns:a="http://schemas.openxmlformats.org/drawingml/2006/main">
              <a:ext uri="{FF2B5EF4-FFF2-40B4-BE49-F238E27FC236}">
                <a16:creationId xmlns:a16="http://schemas.microsoft.com/office/drawing/2014/main" id="{6CD5AE9F-E38A-4468-8234-3D7E8469F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0" y="4076700"/>
            <a:ext cx="1381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buNone/>
              <a:defRPr sz="285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285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3  主要結果</a:t>
            </a:r>
          </a:p>
        </p:txBody>
      </p:sp>
      <p:sp>
        <p:nvSpPr>
          <p:cNvPr id="41" name="result-main-title">
            <a:extLst xmlns:a="http://schemas.openxmlformats.org/drawingml/2006/main">
              <a:ext uri="{FF2B5EF4-FFF2-40B4-BE49-F238E27FC236}">
                <a16:creationId xmlns:a16="http://schemas.microsoft.com/office/drawing/2014/main" id="{7791C77D-D7E8-4424-9507-1CC60FF63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0" y="4838700"/>
            <a:ext cx="1347787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88324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2775" b="1">
                <a:solidFill>
                  <a:srgbClr val="C62828"/>
                </a:solidFill>
                <a:latin typeface="Hiragino Sans"/>
                <a:ea typeface="Hiragino Sans"/>
                <a:cs typeface="Hiragino Sans"/>
              </a:defRPr>
            </a:pPr>
            <a:r>
              <a:rPr sz="2775" b="1">
                <a:solidFill>
                  <a:srgbClr val="C62828"/>
                </a:solidFill>
                <a:latin typeface="Hiragino Sans"/>
                <a:ea typeface="Hiragino Sans"/>
                <a:cs typeface="Hiragino Sans"/>
              </a:rPr>
              <a:t>共有できるのは主に Valence</a:t>
            </a:r>
          </a:p>
          <a:p xmlns:a="http://schemas.openxmlformats.org/drawingml/2006/main">
            <a:pPr algn="ctr">
              <a:lnSpc>
                <a:spcPct val="102000"/>
              </a:lnSpc>
              <a:buNone/>
              <a:defRPr sz="2775" b="1">
                <a:solidFill>
                  <a:srgbClr val="C62828"/>
                </a:solidFill>
                <a:latin typeface="Hiragino Sans"/>
                <a:ea typeface="Hiragino Sans"/>
                <a:cs typeface="Hiragino Sans"/>
              </a:defRPr>
            </a:pPr>
            <a:r>
              <a:rPr sz="2775" b="1">
                <a:solidFill>
                  <a:srgbClr val="C62828"/>
                </a:solidFill>
                <a:latin typeface="Hiragino Sans"/>
                <a:ea typeface="Hiragino Sans"/>
                <a:cs typeface="Hiragino Sans"/>
              </a:rPr>
              <a:t>Arousal は不安定、Dominance は未支持</a:t>
            </a:r>
          </a:p>
        </p:txBody>
      </p:sp>
      <p:pic>
        <p:nvPicPr>
          <p:cNvPr id="137" name="図 13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ed019e0c1d94933"/>
          <a:stretch xmlns:a="http://schemas.openxmlformats.org/drawingml/2006/main"/>
        </p:blipFill>
        <p:spPr>
          <a:xfrm xmlns:a="http://schemas.openxmlformats.org/drawingml/2006/main" flipH="0" flipV="0">
            <a:off x="15811500" y="5753100"/>
            <a:ext cx="13525500" cy="4267200"/>
          </a:xfrm>
          <a:prstGeom xmlns:a="http://schemas.openxmlformats.org/drawingml/2006/main" prst="rect">
            <a:avLst/>
          </a:prstGeom>
        </p:spPr>
      </p:pic>
      <p:sp>
        <p:nvSpPr>
          <p:cNvPr id="43" name="main-figure-caption">
            <a:extLst xmlns:a="http://schemas.openxmlformats.org/drawingml/2006/main">
              <a:ext uri="{FF2B5EF4-FFF2-40B4-BE49-F238E27FC236}">
                <a16:creationId xmlns:a16="http://schemas.microsoft.com/office/drawing/2014/main" id="{1D3D1EB0-C8EE-44BC-9343-2034FC222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06750" y="10096500"/>
            <a:ext cx="13335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3000"/>
              </a:lnSpc>
              <a:buNone/>
              <a:defRPr sz="1950" b="0">
                <a:solidFill>
                  <a:srgbClr val="5F6C78"/>
                </a:solidFill>
                <a:latin typeface="Hiragino Sans"/>
                <a:ea typeface="Hiragino Sans"/>
                <a:cs typeface="Hiragino Sans"/>
              </a:defRPr>
            </a:pPr>
            <a:r>
              <a:rPr sz="1950" b="0">
                <a:solidFill>
                  <a:srgbClr val="5F6C78"/>
                </a:solidFill>
                <a:latin typeface="Hiragino Sans"/>
                <a:ea typeface="Hiragino Sans"/>
                <a:cs typeface="Hiragino Sans"/>
              </a:rPr>
              <a:t>図1｜9カテゴリーの対応　V r=.875 / ρ=.895　｜　A r=.832 / ρ=.433　｜　D r=−.121</a:t>
            </a:r>
          </a:p>
          <a:p xmlns:a="http://schemas.openxmlformats.org/drawingml/2006/main">
            <a:pPr algn="ctr">
              <a:lnSpc>
                <a:spcPct val="113000"/>
              </a:lnSpc>
              <a:buNone/>
              <a:defRPr sz="1950" b="0">
                <a:solidFill>
                  <a:srgbClr val="5F6C78"/>
                </a:solidFill>
                <a:latin typeface="Hiragino Sans"/>
                <a:ea typeface="Hiragino Sans"/>
                <a:cs typeface="Hiragino Sans"/>
              </a:defRPr>
            </a:pPr>
            <a:r>
              <a:rPr sz="1950" b="0">
                <a:solidFill>
                  <a:srgbClr val="5F6C78"/>
                </a:solidFill>
                <a:latin typeface="Hiragino Sans"/>
                <a:ea typeface="Hiragino Sans"/>
                <a:cs typeface="Hiragino Sans"/>
              </a:rPr>
              <a:t>厳密置換・Holm補正：VとAのPearsonのみ有意、Dは非有意</a:t>
            </a:r>
          </a:p>
        </p:txBody>
      </p:sp>
      <p:sp>
        <p:nvSpPr>
          <p:cNvPr id="44" name="result-keyline">
            <a:extLst xmlns:a="http://schemas.openxmlformats.org/drawingml/2006/main">
              <a:ext uri="{FF2B5EF4-FFF2-40B4-BE49-F238E27FC236}">
                <a16:creationId xmlns:a16="http://schemas.microsoft.com/office/drawing/2014/main" id="{92373BE6-47E6-45C3-93DF-62AEEF372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0" y="10972800"/>
            <a:ext cx="13525500" cy="1428750"/>
          </a:xfrm>
          <a:prstGeom xmlns:a="http://schemas.openxmlformats.org/drawingml/2006/main" prst="roundRect">
            <a:avLst>
              <a:gd name="adj" fmla="val 7742"/>
            </a:avLst>
          </a:prstGeom>
          <a:solidFill xmlns:a="http://schemas.openxmlformats.org/drawingml/2006/main">
            <a:srgbClr val="FFF1B8"/>
          </a:solidFill>
          <a:ln xmlns:a="http://schemas.openxmlformats.org/drawingml/2006/main" w="19050">
            <a:solidFill>
              <a:srgbClr val="111111"/>
            </a:solidFill>
            <a:prstDash val="solid"/>
          </a:ln>
        </p:spPr>
      </p:sp>
      <p:sp>
        <p:nvSpPr>
          <p:cNvPr id="45" name="result-keyline-copy">
            <a:extLst xmlns:a="http://schemas.openxmlformats.org/drawingml/2006/main">
              <a:ext uri="{FF2B5EF4-FFF2-40B4-BE49-F238E27FC236}">
                <a16:creationId xmlns:a16="http://schemas.microsoft.com/office/drawing/2014/main" id="{FD1ED57B-8ACC-4C5E-A1F6-32AEEA9B1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49625" y="11096625"/>
            <a:ext cx="1304925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3000"/>
              </a:lnSpc>
              <a:buNone/>
              <a:defRPr sz="2325" b="1">
                <a:solidFill>
                  <a:srgbClr val="C62828"/>
                </a:solidFill>
                <a:latin typeface="Hiragino Sans"/>
                <a:ea typeface="Hiragino Sans"/>
                <a:cs typeface="Hiragino Sans"/>
              </a:defRPr>
            </a:pPr>
            <a:r>
              <a:rPr sz="2325" b="1">
                <a:solidFill>
                  <a:srgbClr val="C62828"/>
                </a:solidFill>
                <a:latin typeface="Hiragino Sans"/>
                <a:ea typeface="Hiragino Sans"/>
                <a:cs typeface="Hiragino Sans"/>
              </a:rPr>
              <a:t>相関しても座標は一致しない</a:t>
            </a:r>
          </a:p>
          <a:p xmlns:a="http://schemas.openxmlformats.org/drawingml/2006/main">
            <a:pPr algn="ctr">
              <a:lnSpc>
                <a:spcPct val="103000"/>
              </a:lnSpc>
              <a:buNone/>
              <a:defRPr sz="2325" b="1">
                <a:solidFill>
                  <a:srgbClr val="C62828"/>
                </a:solidFill>
                <a:latin typeface="Hiragino Sans"/>
                <a:ea typeface="Hiragino Sans"/>
                <a:cs typeface="Hiragino Sans"/>
              </a:defRPr>
            </a:pPr>
            <a:r>
              <a:rPr sz="2325" b="1">
                <a:solidFill>
                  <a:srgbClr val="C62828"/>
                </a:solidFill>
                <a:latin typeface="Hiragino Sans"/>
                <a:ea typeface="Hiragino Sans"/>
                <a:cs typeface="Hiragino Sans"/>
              </a:rPr>
              <a:t>誘発体験は中性点側へ圧縮：V slope=.520｜A slope=.341</a:t>
            </a:r>
          </a:p>
        </p:txBody>
      </p:sp>
      <p:sp>
        <p:nvSpPr>
          <p:cNvPr id="46" name="section-4-bar">
            <a:extLst xmlns:a="http://schemas.openxmlformats.org/drawingml/2006/main">
              <a:ext uri="{FF2B5EF4-FFF2-40B4-BE49-F238E27FC236}">
                <a16:creationId xmlns:a16="http://schemas.microsoft.com/office/drawing/2014/main" id="{F21A1CF1-7888-4502-96B9-1F16A5A81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0" y="13258800"/>
            <a:ext cx="13811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9AFB5"/>
          </a:solidFill>
          <a:ln xmlns:a="http://schemas.openxmlformats.org/drawingml/2006/main" w="0">
            <a:solidFill>
              <a:srgbClr val="A9AFB5"/>
            </a:solidFill>
            <a:prstDash val="solid"/>
          </a:ln>
        </p:spPr>
      </p:sp>
      <p:sp>
        <p:nvSpPr>
          <p:cNvPr id="47" name="section-4-accent">
            <a:extLst xmlns:a="http://schemas.openxmlformats.org/drawingml/2006/main">
              <a:ext uri="{FF2B5EF4-FFF2-40B4-BE49-F238E27FC236}">
                <a16:creationId xmlns:a16="http://schemas.microsoft.com/office/drawing/2014/main" id="{011D0545-41F4-43D5-870A-CEF9BF5F1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0" y="13239750"/>
            <a:ext cx="1762125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DC3C"/>
          </a:solidFill>
          <a:ln xmlns:a="http://schemas.openxmlformats.org/drawingml/2006/main" w="0">
            <a:solidFill>
              <a:srgbClr val="B4DC3C"/>
            </a:solidFill>
            <a:prstDash val="solid"/>
          </a:ln>
        </p:spPr>
      </p:sp>
      <p:sp>
        <p:nvSpPr>
          <p:cNvPr id="48" name="section-4-title">
            <a:extLst xmlns:a="http://schemas.openxmlformats.org/drawingml/2006/main">
              <a:ext uri="{FF2B5EF4-FFF2-40B4-BE49-F238E27FC236}">
                <a16:creationId xmlns:a16="http://schemas.microsoft.com/office/drawing/2014/main" id="{54407601-1CA4-4299-87EB-253DC22F1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0" y="12668250"/>
            <a:ext cx="1381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buNone/>
              <a:defRPr sz="285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285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4  ズレの構造</a:t>
            </a:r>
          </a:p>
        </p:txBody>
      </p:sp>
      <p:sp>
        <p:nvSpPr>
          <p:cNvPr id="49" name="scale-title">
            <a:extLst xmlns:a="http://schemas.openxmlformats.org/drawingml/2006/main">
              <a:ext uri="{FF2B5EF4-FFF2-40B4-BE49-F238E27FC236}">
                <a16:creationId xmlns:a16="http://schemas.microsoft.com/office/drawing/2014/main" id="{7D487DB6-AFBD-49F5-9A86-EB139CC52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0" y="13411200"/>
            <a:ext cx="647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buNone/>
              <a:defRPr sz="210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210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図2｜V・Aともに誘発体験の尺度範囲が圧縮</a:t>
            </a:r>
          </a:p>
        </p:txBody>
      </p:sp>
      <p:pic>
        <p:nvPicPr>
          <p:cNvPr id="145" name="図 14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b88a2b8f9ee4622"/>
          <a:srcRect xmlns:a="http://schemas.openxmlformats.org/drawingml/2006/main" l="0" t="29000" r="0" b="2000"/>
          <a:stretch xmlns:a="http://schemas.openxmlformats.org/drawingml/2006/main"/>
        </p:blipFill>
        <p:spPr>
          <a:xfrm xmlns:a="http://schemas.openxmlformats.org/drawingml/2006/main" flipH="0" flipV="0">
            <a:off x="15811500" y="14039850"/>
            <a:ext cx="6477000" cy="2952750"/>
          </a:xfrm>
          <a:prstGeom xmlns:a="http://schemas.openxmlformats.org/drawingml/2006/main" prst="rect">
            <a:avLst/>
          </a:prstGeom>
        </p:spPr>
      </p:pic>
      <p:sp>
        <p:nvSpPr>
          <p:cNvPr id="51" name="scale-stats">
            <a:extLst xmlns:a="http://schemas.openxmlformats.org/drawingml/2006/main">
              <a:ext uri="{FF2B5EF4-FFF2-40B4-BE49-F238E27FC236}">
                <a16:creationId xmlns:a16="http://schemas.microsoft.com/office/drawing/2014/main" id="{89E6BB1E-F4D1-4106-8C07-2D75C6397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0" y="17097375"/>
            <a:ext cx="6477000" cy="1238250"/>
          </a:xfrm>
          <a:prstGeom xmlns:a="http://schemas.openxmlformats.org/drawingml/2006/main" prst="roundRect">
            <a:avLst>
              <a:gd name="adj" fmla="val 7742"/>
            </a:avLst>
          </a:prstGeom>
          <a:solidFill xmlns:a="http://schemas.openxmlformats.org/drawingml/2006/main">
            <a:srgbClr val="FFF1B8"/>
          </a:solidFill>
          <a:ln xmlns:a="http://schemas.openxmlformats.org/drawingml/2006/main" w="19050">
            <a:solidFill>
              <a:srgbClr val="4F7E19"/>
            </a:solidFill>
            <a:prstDash val="solid"/>
          </a:ln>
        </p:spPr>
      </p:sp>
      <p:sp>
        <p:nvSpPr>
          <p:cNvPr id="52" name="scale-stats-copy">
            <a:extLst xmlns:a="http://schemas.openxmlformats.org/drawingml/2006/main">
              <a:ext uri="{FF2B5EF4-FFF2-40B4-BE49-F238E27FC236}">
                <a16:creationId xmlns:a16="http://schemas.microsoft.com/office/drawing/2014/main" id="{157D37F8-5962-4CA3-9829-E2F8D5D8F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0" y="17221200"/>
            <a:ext cx="6096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3000"/>
              </a:lnSpc>
              <a:buNone/>
              <a:defRPr sz="2025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2025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NRC → DREAMER（傾き, 95% CI）</a:t>
            </a:r>
          </a:p>
          <a:p xmlns:a="http://schemas.openxmlformats.org/drawingml/2006/main">
            <a:pPr algn="ctr">
              <a:lnSpc>
                <a:spcPct val="113000"/>
              </a:lnSpc>
              <a:buNone/>
              <a:defRPr sz="2025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2025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V .520 [.423–.611]｜A .341 [.184–.501]</a:t>
            </a:r>
          </a:p>
        </p:txBody>
      </p:sp>
      <p:sp>
        <p:nvSpPr>
          <p:cNvPr id="53" name="residual-title">
            <a:extLst xmlns:a="http://schemas.openxmlformats.org/drawingml/2006/main">
              <a:ext uri="{FF2B5EF4-FFF2-40B4-BE49-F238E27FC236}">
                <a16:creationId xmlns:a16="http://schemas.microsoft.com/office/drawing/2014/main" id="{2E0DA7C7-0506-43AF-9F75-77191C893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64750" y="13411200"/>
            <a:ext cx="6572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buNone/>
              <a:defRPr sz="2025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2025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図3｜calmnessの校正後残差が最大（探索的）</a:t>
            </a:r>
          </a:p>
        </p:txBody>
      </p:sp>
      <p:pic>
        <p:nvPicPr>
          <p:cNvPr id="149" name="図 15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df5cffa86e748b8"/>
          <a:stretch xmlns:a="http://schemas.openxmlformats.org/drawingml/2006/main"/>
        </p:blipFill>
        <p:spPr>
          <a:xfrm xmlns:a="http://schemas.openxmlformats.org/drawingml/2006/main" flipH="0" flipV="0">
            <a:off x="22764750" y="14039850"/>
            <a:ext cx="6572250" cy="3333750"/>
          </a:xfrm>
          <a:prstGeom xmlns:a="http://schemas.openxmlformats.org/drawingml/2006/main" prst="rect">
            <a:avLst/>
          </a:prstGeom>
        </p:spPr>
      </p:pic>
      <p:sp>
        <p:nvSpPr>
          <p:cNvPr id="55" name="residual-note">
            <a:extLst xmlns:a="http://schemas.openxmlformats.org/drawingml/2006/main">
              <a:ext uri="{FF2B5EF4-FFF2-40B4-BE49-F238E27FC236}">
                <a16:creationId xmlns:a16="http://schemas.microsoft.com/office/drawing/2014/main" id="{0438D9C6-38EC-4563-BFD0-293FB2970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64750" y="17459325"/>
            <a:ext cx="6572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3000"/>
              </a:lnSpc>
              <a:buNone/>
              <a:defRPr sz="1875" b="0">
                <a:solidFill>
                  <a:srgbClr val="5F6C78"/>
                </a:solidFill>
                <a:latin typeface="Hiragino Sans"/>
                <a:ea typeface="Hiragino Sans"/>
                <a:cs typeface="Hiragino Sans"/>
              </a:defRPr>
            </a:pPr>
            <a:r>
              <a:rPr sz="1875" b="0">
                <a:solidFill>
                  <a:srgbClr val="5F6C78"/>
                </a:solidFill>
                <a:latin typeface="Hiragino Sans"/>
                <a:ea typeface="Hiragino Sans"/>
                <a:cs typeface="Hiragino Sans"/>
              </a:rPr>
              <a:t>95% CIは広く重なるため、残差順位は確定できない。</a:t>
            </a:r>
          </a:p>
        </p:txBody>
      </p:sp>
      <p:sp>
        <p:nvSpPr>
          <p:cNvPr id="56" name="section-5-bar">
            <a:extLst xmlns:a="http://schemas.openxmlformats.org/drawingml/2006/main">
              <a:ext uri="{FF2B5EF4-FFF2-40B4-BE49-F238E27FC236}">
                <a16:creationId xmlns:a16="http://schemas.microsoft.com/office/drawing/2014/main" id="{6797DEAB-BDAF-4AFA-933F-1A2AB6C2B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0" y="19164300"/>
            <a:ext cx="13811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9AFB5"/>
          </a:solidFill>
          <a:ln xmlns:a="http://schemas.openxmlformats.org/drawingml/2006/main" w="0">
            <a:solidFill>
              <a:srgbClr val="A9AFB5"/>
            </a:solidFill>
            <a:prstDash val="solid"/>
          </a:ln>
        </p:spPr>
      </p:sp>
      <p:sp>
        <p:nvSpPr>
          <p:cNvPr id="57" name="section-5-accent">
            <a:extLst xmlns:a="http://schemas.openxmlformats.org/drawingml/2006/main">
              <a:ext uri="{FF2B5EF4-FFF2-40B4-BE49-F238E27FC236}">
                <a16:creationId xmlns:a16="http://schemas.microsoft.com/office/drawing/2014/main" id="{90555133-524B-40AC-86D5-AFC542E16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0" y="19145250"/>
            <a:ext cx="1762125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DC3C"/>
          </a:solidFill>
          <a:ln xmlns:a="http://schemas.openxmlformats.org/drawingml/2006/main" w="0">
            <a:solidFill>
              <a:srgbClr val="B4DC3C"/>
            </a:solidFill>
            <a:prstDash val="solid"/>
          </a:ln>
        </p:spPr>
      </p:sp>
      <p:sp>
        <p:nvSpPr>
          <p:cNvPr id="58" name="section-5-title">
            <a:extLst xmlns:a="http://schemas.openxmlformats.org/drawingml/2006/main">
              <a:ext uri="{FF2B5EF4-FFF2-40B4-BE49-F238E27FC236}">
                <a16:creationId xmlns:a16="http://schemas.microsoft.com/office/drawing/2014/main" id="{21298E8A-F3EB-4350-A2D2-D4620D402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0" y="18573750"/>
            <a:ext cx="1381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buNone/>
              <a:defRPr sz="285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285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5  結論</a:t>
            </a:r>
          </a:p>
        </p:txBody>
      </p:sp>
      <p:sp>
        <p:nvSpPr>
          <p:cNvPr id="59" name="discussion-title">
            <a:extLst xmlns:a="http://schemas.openxmlformats.org/drawingml/2006/main">
              <a:ext uri="{FF2B5EF4-FFF2-40B4-BE49-F238E27FC236}">
                <a16:creationId xmlns:a16="http://schemas.microsoft.com/office/drawing/2014/main" id="{60274D17-5F46-4804-81A5-4ECDE3700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0" y="19316700"/>
            <a:ext cx="647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buNone/>
              <a:defRPr sz="2325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2325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● 次元別に読む</a:t>
            </a:r>
          </a:p>
        </p:txBody>
      </p:sp>
      <p:sp>
        <p:nvSpPr>
          <p:cNvPr id="60" name="discussion-copy">
            <a:extLst xmlns:a="http://schemas.openxmlformats.org/drawingml/2006/main">
              <a:ext uri="{FF2B5EF4-FFF2-40B4-BE49-F238E27FC236}">
                <a16:creationId xmlns:a16="http://schemas.microsoft.com/office/drawing/2014/main" id="{9D88576B-7916-421E-BD5C-B8EBB6247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0" y="19907250"/>
            <a:ext cx="6477000" cy="6362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buNone/>
              <a:defRPr sz="2175" b="0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2175" b="0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V｜線形対応・順位・除外分析が一致</a:t>
            </a:r>
          </a:p>
          <a:p xmlns:a="http://schemas.openxmlformats.org/drawingml/2006/main">
            <a:pPr algn="l">
              <a:lnSpc>
                <a:spcPct val="113000"/>
              </a:lnSpc>
              <a:buNone/>
              <a:defRPr sz="2175" b="0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2175" b="0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　→ カテゴリー構造は最も頑健</a:t>
            </a:r>
          </a:p>
          <a:p xmlns:a="http://schemas.openxmlformats.org/drawingml/2006/main">
            <a:pPr algn="l">
              <a:lnSpc>
                <a:spcPct val="113000"/>
              </a:lnSpc>
              <a:buNone/>
              <a:defRPr sz="2175" b="0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2175" b="0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　→ ただし slope &lt; 1、数値校正が必要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2250" b="0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2250" b="0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/>
            </a:r>
          </a:p>
          <a:p xmlns:a="http://schemas.openxmlformats.org/drawingml/2006/main">
            <a:pPr algn="l">
              <a:lnSpc>
                <a:spcPct val="113000"/>
              </a:lnSpc>
              <a:buNone/>
              <a:defRPr sz="2175" b="0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2175" b="0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A｜線形対応はあるが、順位は不安定</a:t>
            </a:r>
          </a:p>
          <a:p xmlns:a="http://schemas.openxmlformats.org/drawingml/2006/main">
            <a:pPr algn="l">
              <a:lnSpc>
                <a:spcPct val="113000"/>
              </a:lnSpc>
              <a:buNone/>
              <a:defRPr sz="2175" b="0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2175" b="0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　→ 全体傾向の共有にとどまる</a:t>
            </a:r>
          </a:p>
          <a:p xmlns:a="http://schemas.openxmlformats.org/drawingml/2006/main">
            <a:pPr algn="l">
              <a:lnSpc>
                <a:spcPct val="113000"/>
              </a:lnSpc>
              <a:buNone/>
              <a:defRPr sz="2175" b="0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2175" b="0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　→ カテゴリー別座標の移送は危険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2250" b="0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2250" b="0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/>
            </a:r>
          </a:p>
          <a:p xmlns:a="http://schemas.openxmlformats.org/drawingml/2006/main">
            <a:pPr algn="l">
              <a:lnSpc>
                <a:spcPct val="113000"/>
              </a:lnSpc>
              <a:buNone/>
              <a:defRPr sz="2175" b="0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2175" b="0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D｜対応証拠を確認できず</a:t>
            </a:r>
          </a:p>
          <a:p xmlns:a="http://schemas.openxmlformats.org/drawingml/2006/main">
            <a:pPr algn="l">
              <a:lnSpc>
                <a:spcPct val="113000"/>
              </a:lnSpc>
              <a:buNone/>
              <a:defRPr sz="2175" b="0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2175" b="0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　→ 語のpower/controlと体験後の</a:t>
            </a:r>
          </a:p>
          <a:p xmlns:a="http://schemas.openxmlformats.org/drawingml/2006/main">
            <a:pPr algn="l">
              <a:lnSpc>
                <a:spcPct val="113000"/>
              </a:lnSpc>
              <a:buNone/>
              <a:defRPr sz="2175" b="0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2175" b="0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　　自己統制感で参照対象が異なる可能性</a:t>
            </a:r>
          </a:p>
        </p:txBody>
      </p:sp>
      <p:sp>
        <p:nvSpPr>
          <p:cNvPr id="61" name="conclusion-box">
            <a:extLst xmlns:a="http://schemas.openxmlformats.org/drawingml/2006/main">
              <a:ext uri="{FF2B5EF4-FFF2-40B4-BE49-F238E27FC236}">
                <a16:creationId xmlns:a16="http://schemas.microsoft.com/office/drawing/2014/main" id="{4DEF4056-0E21-4F6C-AB1E-7B5F43BE5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64750" y="19316700"/>
            <a:ext cx="6572250" cy="6953250"/>
          </a:xfrm>
          <a:prstGeom xmlns:a="http://schemas.openxmlformats.org/drawingml/2006/main" prst="roundRect">
            <a:avLst>
              <a:gd name="adj" fmla="val 1791"/>
            </a:avLst>
          </a:prstGeom>
          <a:solidFill xmlns:a="http://schemas.openxmlformats.org/drawingml/2006/main">
            <a:srgbClr val="FFF1B8"/>
          </a:solidFill>
          <a:ln xmlns:a="http://schemas.openxmlformats.org/drawingml/2006/main" w="19050">
            <a:solidFill>
              <a:srgbClr val="4F7E19"/>
            </a:solidFill>
            <a:prstDash val="solid"/>
          </a:ln>
        </p:spPr>
      </p:sp>
      <p:sp>
        <p:nvSpPr>
          <p:cNvPr id="62" name="conclusion-label">
            <a:extLst xmlns:a="http://schemas.openxmlformats.org/drawingml/2006/main">
              <a:ext uri="{FF2B5EF4-FFF2-40B4-BE49-F238E27FC236}">
                <a16:creationId xmlns:a16="http://schemas.microsoft.com/office/drawing/2014/main" id="{72AD50DC-B4E1-451F-B192-23693FBBA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02875" y="19526250"/>
            <a:ext cx="6096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3000"/>
              </a:lnSpc>
              <a:buNone/>
              <a:defRPr sz="2625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2625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次元別判定</a:t>
            </a:r>
          </a:p>
        </p:txBody>
      </p:sp>
      <p:sp>
        <p:nvSpPr>
          <p:cNvPr id="63" name="conclusion-copy">
            <a:extLst xmlns:a="http://schemas.openxmlformats.org/drawingml/2006/main">
              <a:ext uri="{FF2B5EF4-FFF2-40B4-BE49-F238E27FC236}">
                <a16:creationId xmlns:a16="http://schemas.microsoft.com/office/drawing/2014/main" id="{447BDEAD-1D91-458F-9811-B9857D8B2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02875" y="20173950"/>
            <a:ext cx="6096000" cy="581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25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225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1  Valence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225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225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　構造は共有できる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225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225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　数値は中性点側へ圧縮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325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2325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/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225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225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2  Arousal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225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225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　全体傾向のみ共有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225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225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　カテゴリー順位は不安定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325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2325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/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225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225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3  Dominance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225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225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　共有構造を確認できず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325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2325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/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225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225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共通尺度として使うなら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225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225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次元別の検証と校正が必要</a:t>
            </a:r>
          </a:p>
        </p:txBody>
      </p:sp>
      <p:sp>
        <p:nvSpPr>
          <p:cNvPr id="64" name="section-6-bar">
            <a:extLst xmlns:a="http://schemas.openxmlformats.org/drawingml/2006/main">
              <a:ext uri="{FF2B5EF4-FFF2-40B4-BE49-F238E27FC236}">
                <a16:creationId xmlns:a16="http://schemas.microsoft.com/office/drawing/2014/main" id="{ED7552BF-497E-4B16-B68D-D2E699EBC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0688300"/>
            <a:ext cx="136683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9AFB5"/>
          </a:solidFill>
          <a:ln xmlns:a="http://schemas.openxmlformats.org/drawingml/2006/main" w="0">
            <a:solidFill>
              <a:srgbClr val="A9AFB5"/>
            </a:solidFill>
            <a:prstDash val="solid"/>
          </a:ln>
        </p:spPr>
      </p:sp>
      <p:sp>
        <p:nvSpPr>
          <p:cNvPr id="65" name="section-6-accent">
            <a:extLst xmlns:a="http://schemas.openxmlformats.org/drawingml/2006/main">
              <a:ext uri="{FF2B5EF4-FFF2-40B4-BE49-F238E27FC236}">
                <a16:creationId xmlns:a16="http://schemas.microsoft.com/office/drawing/2014/main" id="{707B316D-F20C-45FC-8C19-B920F6E4F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0669250"/>
            <a:ext cx="1762125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DC3C"/>
          </a:solidFill>
          <a:ln xmlns:a="http://schemas.openxmlformats.org/drawingml/2006/main" w="0">
            <a:solidFill>
              <a:srgbClr val="B4DC3C"/>
            </a:solidFill>
            <a:prstDash val="solid"/>
          </a:ln>
        </p:spPr>
      </p:sp>
      <p:sp>
        <p:nvSpPr>
          <p:cNvPr id="66" name="section-6-title">
            <a:extLst xmlns:a="http://schemas.openxmlformats.org/drawingml/2006/main">
              <a:ext uri="{FF2B5EF4-FFF2-40B4-BE49-F238E27FC236}">
                <a16:creationId xmlns:a16="http://schemas.microsoft.com/office/drawing/2014/main" id="{29A85990-A950-456F-BAE0-0327380B7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0097750"/>
            <a:ext cx="136683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buNone/>
              <a:defRPr sz="285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285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6  研究の境界</a:t>
            </a:r>
          </a:p>
        </p:txBody>
      </p:sp>
      <p:sp>
        <p:nvSpPr>
          <p:cNvPr id="67" name="limits-copy">
            <a:extLst xmlns:a="http://schemas.openxmlformats.org/drawingml/2006/main">
              <a:ext uri="{FF2B5EF4-FFF2-40B4-BE49-F238E27FC236}">
                <a16:creationId xmlns:a16="http://schemas.microsoft.com/office/drawing/2014/main" id="{97143751-F091-4CF3-B8B5-5C23D9AE3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0812125"/>
            <a:ext cx="13382625" cy="2647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325" b="0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2325" b="0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• 推論単位は9感情（各2映像）で、カテゴリー数は小さい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2325" b="0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2325" b="0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• 語彙常模とDREAMERは参加者・課題・文脈が異なる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2325" b="0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2325" b="0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• 個人内の交換可能性、測定不変性、因果関係は未検証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2325" b="0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2325" b="0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• Dominanceは評価方向と参照対象を原資料で再確認する必要がある</a:t>
            </a:r>
          </a:p>
        </p:txBody>
      </p:sp>
      <p:sp>
        <p:nvSpPr>
          <p:cNvPr id="68" name="honesty-callout">
            <a:extLst xmlns:a="http://schemas.openxmlformats.org/drawingml/2006/main">
              <a:ext uri="{FF2B5EF4-FFF2-40B4-BE49-F238E27FC236}">
                <a16:creationId xmlns:a16="http://schemas.microsoft.com/office/drawing/2014/main" id="{9D205C14-04C0-464B-B123-6233AC910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622000"/>
            <a:ext cx="13525500" cy="1676400"/>
          </a:xfrm>
          <a:prstGeom xmlns:a="http://schemas.openxmlformats.org/drawingml/2006/main" prst="roundRect">
            <a:avLst>
              <a:gd name="adj" fmla="val 7317"/>
            </a:avLst>
          </a:prstGeom>
          <a:solidFill xmlns:a="http://schemas.openxmlformats.org/drawingml/2006/main">
            <a:srgbClr val="FFF1B8"/>
          </a:solidFill>
          <a:ln xmlns:a="http://schemas.openxmlformats.org/drawingml/2006/main" w="19050">
            <a:solidFill>
              <a:srgbClr val="111111"/>
            </a:solidFill>
            <a:prstDash val="solid"/>
          </a:ln>
        </p:spPr>
      </p:sp>
      <p:sp>
        <p:nvSpPr>
          <p:cNvPr id="69" name="honesty-copy">
            <a:extLst xmlns:a="http://schemas.openxmlformats.org/drawingml/2006/main">
              <a:ext uri="{FF2B5EF4-FFF2-40B4-BE49-F238E27FC236}">
                <a16:creationId xmlns:a16="http://schemas.microsoft.com/office/drawing/2014/main" id="{C0CE301A-E8DE-4F87-8C4A-DB5DD1BFB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3774400"/>
            <a:ext cx="130492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255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255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この結果が示すのは「群レベルの構造対応」</a:t>
            </a:r>
          </a:p>
          <a:p xmlns:a="http://schemas.openxmlformats.org/drawingml/2006/main">
            <a:pPr algn="ctr">
              <a:lnSpc>
                <a:spcPct val="104000"/>
              </a:lnSpc>
              <a:buNone/>
              <a:defRPr sz="255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255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同一個人内での座標交換可能性ではない</a:t>
            </a:r>
          </a:p>
        </p:txBody>
      </p:sp>
      <p:sp>
        <p:nvSpPr>
          <p:cNvPr id="70" name="footer-bg">
            <a:extLst xmlns:a="http://schemas.openxmlformats.org/drawingml/2006/main">
              <a:ext uri="{FF2B5EF4-FFF2-40B4-BE49-F238E27FC236}">
                <a16:creationId xmlns:a16="http://schemas.microsoft.com/office/drawing/2014/main" id="{E5D6A7CF-CC3D-4AF8-A664-52DCE9531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1948100"/>
            <a:ext cx="30279975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DC3C"/>
          </a:solidFill>
          <a:ln xmlns:a="http://schemas.openxmlformats.org/drawingml/2006/main" w="0">
            <a:solidFill>
              <a:srgbClr val="B4DC3C"/>
            </a:solidFill>
            <a:prstDash val="solid"/>
          </a:ln>
        </p:spPr>
      </p:sp>
      <p:sp>
        <p:nvSpPr>
          <p:cNvPr id="71" name="footer-top-rule">
            <a:extLst xmlns:a="http://schemas.openxmlformats.org/drawingml/2006/main">
              <a:ext uri="{FF2B5EF4-FFF2-40B4-BE49-F238E27FC236}">
                <a16:creationId xmlns:a16="http://schemas.microsoft.com/office/drawing/2014/main" id="{7983E35B-EDEC-4240-A0F2-9BC4ABC26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1871900"/>
            <a:ext cx="30279975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DC3C"/>
          </a:solidFill>
          <a:ln xmlns:a="http://schemas.openxmlformats.org/drawingml/2006/main" w="0">
            <a:solidFill>
              <a:srgbClr val="B4DC3C"/>
            </a:solidFill>
            <a:prstDash val="solid"/>
          </a:ln>
        </p:spPr>
      </p:sp>
      <p:sp>
        <p:nvSpPr>
          <p:cNvPr id="72" name="future-title">
            <a:extLst xmlns:a="http://schemas.openxmlformats.org/drawingml/2006/main">
              <a:ext uri="{FF2B5EF4-FFF2-40B4-BE49-F238E27FC236}">
                <a16:creationId xmlns:a16="http://schemas.microsoft.com/office/drawing/2014/main" id="{3A87E2D9-154F-4053-8A80-8FBF93194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5527000"/>
            <a:ext cx="13525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9703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buNone/>
              <a:defRPr sz="285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285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次の検証</a:t>
            </a:r>
          </a:p>
        </p:txBody>
      </p:sp>
      <p:sp>
        <p:nvSpPr>
          <p:cNvPr id="73" name="future-copy">
            <a:extLst xmlns:a="http://schemas.openxmlformats.org/drawingml/2006/main">
              <a:ext uri="{FF2B5EF4-FFF2-40B4-BE49-F238E27FC236}">
                <a16:creationId xmlns:a16="http://schemas.microsoft.com/office/drawing/2014/main" id="{57057FC9-1635-4B65-967B-2C8793F48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6193750"/>
            <a:ext cx="13382625" cy="471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550" b="0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2550" b="0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① Dominanceの原尺度・指示文・評価方向を確認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2550" b="0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2550" b="0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② 外部データで次元別対応と尺度圧縮を再現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2550" b="0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2550" b="0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③ 同一参加者・同一尺度で3層を直接比較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2550" b="0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2550" b="0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　Lexical → Prototype → Induced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2550" b="0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2550" b="0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④ 次元 × 評価層の交互作用から、移送できる範囲を特定</a:t>
            </a:r>
          </a:p>
        </p:txBody>
      </p:sp>
      <p:sp>
        <p:nvSpPr>
          <p:cNvPr id="74" name="refs-title">
            <a:extLst xmlns:a="http://schemas.openxmlformats.org/drawingml/2006/main">
              <a:ext uri="{FF2B5EF4-FFF2-40B4-BE49-F238E27FC236}">
                <a16:creationId xmlns:a16="http://schemas.microsoft.com/office/drawing/2014/main" id="{165BB2F0-04B6-4B8C-9F1E-82288F9DE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0" y="26574750"/>
            <a:ext cx="13525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9703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buNone/>
              <a:defRPr sz="285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285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実験設計への示唆</a:t>
            </a:r>
          </a:p>
        </p:txBody>
      </p:sp>
      <p:sp>
        <p:nvSpPr>
          <p:cNvPr id="75" name="refs-copy">
            <a:extLst xmlns:a="http://schemas.openxmlformats.org/drawingml/2006/main">
              <a:ext uri="{FF2B5EF4-FFF2-40B4-BE49-F238E27FC236}">
                <a16:creationId xmlns:a16="http://schemas.microsoft.com/office/drawing/2014/main" id="{61F17F80-CB61-4D31-8825-4E0C1CA24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0" y="27193875"/>
            <a:ext cx="13525500" cy="6334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buNone/>
              <a:defRPr sz="2325" b="0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2325" b="0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次の実験では、同一参加者・同一尺度で3層を直接比較する。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875" b="0">
                <a:solidFill>
                  <a:srgbClr val="5F6B76"/>
                </a:solidFill>
                <a:latin typeface="Hiragino Sans"/>
                <a:ea typeface="Hiragino Sans"/>
                <a:cs typeface="Hiragino Sans"/>
              </a:defRPr>
            </a:pPr>
            <a:r>
              <a:rPr sz="1875" b="0">
                <a:solidFill>
                  <a:srgbClr val="5F6B76"/>
                </a:solidFill>
                <a:latin typeface="Hiragino Sans"/>
                <a:ea typeface="Hiragino Sans"/>
                <a:cs typeface="Hiragino Sans"/>
              </a:rPr>
              <a:t/>
            </a:r>
          </a:p>
          <a:p xmlns:a="http://schemas.openxmlformats.org/drawingml/2006/main">
            <a:pPr algn="l">
              <a:lnSpc>
                <a:spcPct val="113000"/>
              </a:lnSpc>
              <a:buNone/>
              <a:defRPr sz="2325" b="0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2325" b="0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① Lexical　｜感情語を見たときの意味判断</a:t>
            </a:r>
          </a:p>
          <a:p xmlns:a="http://schemas.openxmlformats.org/drawingml/2006/main">
            <a:pPr algn="l">
              <a:lnSpc>
                <a:spcPct val="113000"/>
              </a:lnSpc>
              <a:buNone/>
              <a:defRPr sz="2325" b="0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2325" b="0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② Prototype｜典型的な感情状態の判断</a:t>
            </a:r>
          </a:p>
          <a:p xmlns:a="http://schemas.openxmlformats.org/drawingml/2006/main">
            <a:pPr algn="l">
              <a:lnSpc>
                <a:spcPct val="113000"/>
              </a:lnSpc>
              <a:buNone/>
              <a:defRPr sz="2325" b="0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2325" b="0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③ Induced　｜映像視聴後の当事者体験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875" b="0">
                <a:solidFill>
                  <a:srgbClr val="5F6B76"/>
                </a:solidFill>
                <a:latin typeface="Hiragino Sans"/>
                <a:ea typeface="Hiragino Sans"/>
                <a:cs typeface="Hiragino Sans"/>
              </a:defRPr>
            </a:pPr>
            <a:r>
              <a:rPr sz="1875" b="0">
                <a:solidFill>
                  <a:srgbClr val="5F6B76"/>
                </a:solidFill>
                <a:latin typeface="Hiragino Sans"/>
                <a:ea typeface="Hiragino Sans"/>
                <a:cs typeface="Hiragino Sans"/>
              </a:rPr>
              <a:t/>
            </a:r>
          </a:p>
          <a:p xmlns:a="http://schemas.openxmlformats.org/drawingml/2006/main">
            <a:pPr algn="l">
              <a:lnSpc>
                <a:spcPct val="113000"/>
              </a:lnSpc>
              <a:buNone/>
              <a:defRPr sz="2325" b="0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2325" b="0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主要仮説</a:t>
            </a:r>
          </a:p>
          <a:p xmlns:a="http://schemas.openxmlformats.org/drawingml/2006/main">
            <a:pPr algn="l">
              <a:lnSpc>
                <a:spcPct val="113000"/>
              </a:lnSpc>
              <a:buNone/>
              <a:defRPr sz="2325" b="0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2325" b="0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• Valence：3層で順位構造は保たれるが、Inducedで範囲が縮小</a:t>
            </a:r>
          </a:p>
          <a:p xmlns:a="http://schemas.openxmlformats.org/drawingml/2006/main">
            <a:pPr algn="l">
              <a:lnSpc>
                <a:spcPct val="113000"/>
              </a:lnSpc>
              <a:buNone/>
              <a:defRPr sz="2325" b="0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2325" b="0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• Arousal：評価層 × カテゴリーの交互作用が大きい</a:t>
            </a:r>
          </a:p>
          <a:p xmlns:a="http://schemas.openxmlformats.org/drawingml/2006/main">
            <a:pPr algn="l">
              <a:lnSpc>
                <a:spcPct val="113000"/>
              </a:lnSpc>
              <a:buNone/>
              <a:defRPr sz="2325" b="0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2325" b="0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• Dominance：指示文・参照対象に強く依存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2700" b="0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2700" b="0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/>
            </a:r>
          </a:p>
          <a:p xmlns:a="http://schemas.openxmlformats.org/drawingml/2006/main">
            <a:pPr algn="l">
              <a:lnSpc>
                <a:spcPct val="113000"/>
              </a:lnSpc>
              <a:buNone/>
              <a:defRPr sz="2325" b="0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2325" b="0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→ 次元 × 評価層の交互作用から「移送できる範囲」を特定</a:t>
            </a:r>
          </a:p>
        </p:txBody>
      </p:sp>
      <p:sp>
        <p:nvSpPr>
          <p:cNvPr id="76" name="ack-title">
            <a:extLst xmlns:a="http://schemas.openxmlformats.org/drawingml/2006/main">
              <a:ext uri="{FF2B5EF4-FFF2-40B4-BE49-F238E27FC236}">
                <a16:creationId xmlns:a16="http://schemas.microsoft.com/office/drawing/2014/main" id="{EB55AC60-9E1B-4DBF-8F36-8BC7FED8B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1384875"/>
            <a:ext cx="13525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9703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buNone/>
              <a:defRPr sz="285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285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研究の意味</a:t>
            </a:r>
          </a:p>
        </p:txBody>
      </p:sp>
      <p:sp>
        <p:nvSpPr>
          <p:cNvPr id="77" name="ack-copy">
            <a:extLst xmlns:a="http://schemas.openxmlformats.org/drawingml/2006/main">
              <a:ext uri="{FF2B5EF4-FFF2-40B4-BE49-F238E27FC236}">
                <a16:creationId xmlns:a16="http://schemas.microsoft.com/office/drawing/2014/main" id="{0B60BB93-A25D-4AF8-9254-BA0F4FD03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2080200"/>
            <a:ext cx="13382625" cy="842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2400" b="0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2400" b="0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① 「関連」と「座標一致」を分けた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2400" b="0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2400" b="0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　相関だけで共通尺度と判断せず、傾きと残差を併用</a:t>
            </a:r>
          </a:p>
          <a:p xmlns:a="http://schemas.openxmlformats.org/drawingml/2006/main">
            <a:pPr algn="ctr">
              <a:lnSpc>
                <a:spcPct val="110000"/>
              </a:lnSpc>
              <a:buNone/>
              <a:defRPr sz="330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330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/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2400" b="0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2400" b="0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② V・A・Dを一括評価しない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2400" b="0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2400" b="0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　Valenceは比較的頑健、Arousalは限定的、Dominanceは未支持</a:t>
            </a:r>
          </a:p>
          <a:p xmlns:a="http://schemas.openxmlformats.org/drawingml/2006/main">
            <a:pPr algn="ctr">
              <a:lnSpc>
                <a:spcPct val="110000"/>
              </a:lnSpc>
              <a:buNone/>
              <a:defRPr sz="330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330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/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2400" b="0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2400" b="0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③ 次の実験設計へ接続した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2400" b="0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2400" b="0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　同一参加者・同一尺度で評価層を直接比較する必要を提示</a:t>
            </a:r>
          </a:p>
          <a:p xmlns:a="http://schemas.openxmlformats.org/drawingml/2006/main">
            <a:pPr algn="ctr">
              <a:lnSpc>
                <a:spcPct val="110000"/>
              </a:lnSpc>
              <a:buNone/>
              <a:defRPr sz="330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330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/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2400" b="0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2400" b="0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データベース統合や感情認識モデルでVADを用いる前に、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2400" b="0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2400" b="0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次元別の検証と校正を組み込むべきことを示した。</a:t>
            </a:r>
          </a:p>
        </p:txBody>
      </p:sp>
      <p:sp>
        <p:nvSpPr>
          <p:cNvPr id="78" name="footer-message">
            <a:extLst xmlns:a="http://schemas.openxmlformats.org/drawingml/2006/main">
              <a:ext uri="{FF2B5EF4-FFF2-40B4-BE49-F238E27FC236}">
                <a16:creationId xmlns:a16="http://schemas.microsoft.com/office/drawing/2014/main" id="{E5A55C05-C01E-4E77-848F-D41D9EBA9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0" y="33909000"/>
            <a:ext cx="13525500" cy="69532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FF1B8"/>
          </a:solidFill>
          <a:ln xmlns:a="http://schemas.openxmlformats.org/drawingml/2006/main" w="28575">
            <a:solidFill>
              <a:srgbClr val="111111"/>
            </a:solidFill>
            <a:prstDash val="solid"/>
          </a:ln>
        </p:spPr>
      </p:sp>
      <p:sp>
        <p:nvSpPr>
          <p:cNvPr id="79" name="footer-message-copy">
            <a:extLst xmlns:a="http://schemas.openxmlformats.org/drawingml/2006/main">
              <a:ext uri="{FF2B5EF4-FFF2-40B4-BE49-F238E27FC236}">
                <a16:creationId xmlns:a16="http://schemas.microsoft.com/office/drawing/2014/main" id="{3E42AF2A-3D48-4250-B6FC-AF7AE41A6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0" y="34194750"/>
            <a:ext cx="12954000" cy="638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300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300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TAKE-HOME MESSAGE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315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315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/>
            </a:r>
          </a:p>
          <a:p xmlns:a="http://schemas.openxmlformats.org/drawingml/2006/main">
            <a:pPr algn="ctr">
              <a:lnSpc>
                <a:spcPct val="112000"/>
              </a:lnSpc>
              <a:buNone/>
              <a:defRPr sz="300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300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V｜構造は共有、数値は校正が必要</a:t>
            </a:r>
          </a:p>
          <a:p xmlns:a="http://schemas.openxmlformats.org/drawingml/2006/main">
            <a:pPr algn="ctr">
              <a:lnSpc>
                <a:spcPct val="112000"/>
              </a:lnSpc>
              <a:buNone/>
              <a:defRPr sz="300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300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A｜全体傾向のみ、順位は不安定</a:t>
            </a:r>
          </a:p>
          <a:p xmlns:a="http://schemas.openxmlformats.org/drawingml/2006/main">
            <a:pPr algn="ctr">
              <a:lnSpc>
                <a:spcPct val="112000"/>
              </a:lnSpc>
              <a:buNone/>
              <a:defRPr sz="300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300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D｜共有構造を確認できず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315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315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/>
            </a:r>
          </a:p>
          <a:p xmlns:a="http://schemas.openxmlformats.org/drawingml/2006/main">
            <a:pPr algn="ctr">
              <a:lnSpc>
                <a:spcPct val="112000"/>
              </a:lnSpc>
              <a:buNone/>
              <a:defRPr sz="300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300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語彙VADと誘発体験VADは</a:t>
            </a:r>
          </a:p>
          <a:p xmlns:a="http://schemas.openxmlformats.org/drawingml/2006/main">
            <a:pPr algn="ctr">
              <a:lnSpc>
                <a:spcPct val="112000"/>
              </a:lnSpc>
              <a:buNone/>
              <a:defRPr sz="300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300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「関連する」が「交換可能ではない」</a:t>
            </a:r>
          </a:p>
        </p:txBody>
      </p:sp>
      <p:sp>
        <p:nvSpPr>
          <p:cNvPr id="85" name="lab-header-background">
            <a:extLst xmlns:a="http://schemas.openxmlformats.org/drawingml/2006/main">
              <a:ext uri="{FF2B5EF4-FFF2-40B4-BE49-F238E27FC236}">
                <a16:creationId xmlns:a16="http://schemas.microsoft.com/office/drawing/2014/main" id="{BEFE6CF6-AC4C-4DFA-B9D5-830D5891C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30279975" cy="381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DC3C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76" name="図 17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6e42e7453c041ef"/>
          <a:srcRect xmlns:a="http://schemas.openxmlformats.org/drawingml/2006/main" l="8372" t="0" r="837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4095750" y="514350"/>
            <a:ext cx="1809750" cy="1981200"/>
          </a:xfrm>
          <a:prstGeom xmlns:a="http://schemas.openxmlformats.org/drawingml/2006/main" prst="rect">
            <a:avLst/>
          </a:prstGeom>
        </p:spPr>
      </p:pic>
      <p:pic>
        <p:nvPicPr>
          <p:cNvPr id="177" name="図 17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1d50d1e4af049a6"/>
          <a:srcRect xmlns:a="http://schemas.openxmlformats.org/drawingml/2006/main" l="6923" t="0" r="692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27317700" y="685800"/>
            <a:ext cx="1714500" cy="1714500"/>
          </a:xfrm>
          <a:prstGeom xmlns:a="http://schemas.openxmlformats.org/drawingml/2006/main" prst="rect">
            <a:avLst/>
          </a:prstGeom>
        </p:spPr>
      </p:pic>
      <p:sp>
        <p:nvSpPr>
          <p:cNvPr id="88" name="lab-poster-number-frame">
            <a:extLst xmlns:a="http://schemas.openxmlformats.org/drawingml/2006/main">
              <a:ext uri="{FF2B5EF4-FFF2-40B4-BE49-F238E27FC236}">
                <a16:creationId xmlns:a16="http://schemas.microsoft.com/office/drawing/2014/main" id="{C06BB6C0-369C-4288-A58A-73A06FBE9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609600"/>
            <a:ext cx="2952750" cy="2095500"/>
          </a:xfrm>
          <a:prstGeom xmlns:a="http://schemas.openxmlformats.org/drawingml/2006/main" prst="roundRect">
            <a:avLst>
              <a:gd name="adj" fmla="val 30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4F7E19"/>
            </a:solidFill>
            <a:prstDash val="solid"/>
          </a:ln>
        </p:spPr>
      </p:sp>
      <p:sp>
        <p:nvSpPr>
          <p:cNvPr id="89" name="lab-poster-number-text">
            <a:extLst xmlns:a="http://schemas.openxmlformats.org/drawingml/2006/main">
              <a:ext uri="{FF2B5EF4-FFF2-40B4-BE49-F238E27FC236}">
                <a16:creationId xmlns:a16="http://schemas.microsoft.com/office/drawing/2014/main" id="{D43AC103-FC50-4E9C-8B36-BBC4F23CF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838200"/>
            <a:ext cx="2514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3000"/>
              </a:lnSpc>
              <a:buNone/>
              <a:defRPr sz="255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255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演題番号</a:t>
            </a:r>
          </a:p>
        </p:txBody>
      </p:sp>
      <p:sp>
        <p:nvSpPr>
          <p:cNvPr id="90" name="lab-visible-title">
            <a:extLst xmlns:a="http://schemas.openxmlformats.org/drawingml/2006/main">
              <a:ext uri="{FF2B5EF4-FFF2-40B4-BE49-F238E27FC236}">
                <a16:creationId xmlns:a16="http://schemas.microsoft.com/office/drawing/2014/main" id="{4FB6D832-F38B-4091-858F-5D70982D1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28600"/>
            <a:ext cx="19716750" cy="1771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5475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5475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感情語のVAD座標は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5475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5475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映像誘発体験に移送できるか</a:t>
            </a:r>
          </a:p>
        </p:txBody>
      </p:sp>
      <p:sp>
        <p:nvSpPr>
          <p:cNvPr id="91" name="lab-visible-subtitle">
            <a:extLst xmlns:a="http://schemas.openxmlformats.org/drawingml/2006/main">
              <a:ext uri="{FF2B5EF4-FFF2-40B4-BE49-F238E27FC236}">
                <a16:creationId xmlns:a16="http://schemas.microsoft.com/office/drawing/2014/main" id="{953C17B3-0AB1-4DDD-B10F-2572254F2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038350"/>
            <a:ext cx="19716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buNone/>
              <a:defRPr sz="255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255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NRC-VAD × DREAMER｜9感情カテゴリーの次元別対応</a:t>
            </a:r>
          </a:p>
        </p:txBody>
      </p:sp>
      <p:sp>
        <p:nvSpPr>
          <p:cNvPr id="92" name="lab-visible-author">
            <a:extLst xmlns:a="http://schemas.openxmlformats.org/drawingml/2006/main">
              <a:ext uri="{FF2B5EF4-FFF2-40B4-BE49-F238E27FC236}">
                <a16:creationId xmlns:a16="http://schemas.microsoft.com/office/drawing/2014/main" id="{F211BEF2-50AC-43BE-ABEA-252B9AA33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781300"/>
            <a:ext cx="19716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3000"/>
              </a:lnSpc>
              <a:buNone/>
              <a:defRPr sz="2175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2175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芝浦工業大学 Doly Lab　○姜晰頡（MA26006）</a:t>
            </a:r>
          </a:p>
        </p:txBody>
      </p:sp>
      <p:sp>
        <p:nvSpPr>
          <p:cNvPr id="98" name="senior-center-divider">
            <a:extLst xmlns:a="http://schemas.openxmlformats.org/drawingml/2006/main">
              <a:ext uri="{FF2B5EF4-FFF2-40B4-BE49-F238E27FC236}">
                <a16:creationId xmlns:a16="http://schemas.microsoft.com/office/drawing/2014/main" id="{EB643967-049B-4501-99BC-651C2AB56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35225" y="3981450"/>
            <a:ext cx="0" cy="3781425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9EA4AA"/>
            </a:solidFill>
            <a:prstDash val="dot"/>
          </a:ln>
        </p:spPr>
      </p:sp>
    </p:spTree>
    <p:extLst>
      <p:ext uri="{BB962C8B-B14F-4D97-AF65-F5344CB8AC3E}">
        <p14:creationId xmlns:p14="http://schemas.microsoft.com/office/powerpoint/2010/main" val="66396820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2026-07-30T12:44:22.1330000Z</dcterms:created>
  <dcterms:modified xsi:type="dcterms:W3CDTF">2026-07-30T12:44:22.1330000Z</dcterms:modified>
</coreProperties>
</file>