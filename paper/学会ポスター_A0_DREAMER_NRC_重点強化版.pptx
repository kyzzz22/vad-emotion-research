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1da270707f4471" /><Relationship Type="http://schemas.openxmlformats.org/officeDocument/2006/relationships/extended-properties" Target="/docProps/app.xml" Id="Rb68f349ba5e04fb6" /><Relationship Type="http://schemas.openxmlformats.org/officeDocument/2006/relationships/officeDocument" Target="/ppt/presentation.xml" Id="R29c53a33163749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c7883a5da4eec"/>
  </p:sldMasterIdLst>
  <p:notesMasterIdLst>
    <p:notesMasterId xmlns:r="http://schemas.openxmlformats.org/officeDocument/2006/relationships" r:id="R5f57d6eebdda49ee"/>
  </p:notesMasterIdLst>
  <p:sldIdLst>
    <p:sldId xmlns:r="http://schemas.openxmlformats.org/officeDocument/2006/relationships" id="256" r:id="R0224b7a82a3c4938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946d60b6be470f" /><Relationship Type="http://schemas.openxmlformats.org/officeDocument/2006/relationships/slideMaster" Target="/ppt/slideMasters/slideMaster1.xml" Id="R8a7c7883a5da4eec" /><Relationship Type="http://schemas.openxmlformats.org/officeDocument/2006/relationships/notesMaster" Target="/ppt/notesMasters/notesMaster1.xml" Id="R5f57d6eebdda49ee" /><Relationship Type="http://schemas.openxmlformats.org/officeDocument/2006/relationships/presProps" Target="/ppt/presProps.xml" Id="R40657d46ca4d491b" /><Relationship Type="http://schemas.openxmlformats.org/officeDocument/2006/relationships/viewProps" Target="/ppt/viewProps.xml" Id="Rcd350fb5024241ac" /><Relationship Type="http://schemas.openxmlformats.org/officeDocument/2006/relationships/tableStyles" Target="/ppt/tableStyles.xml" Id="Rac1600e847924d15" /><Relationship Type="http://schemas.openxmlformats.org/officeDocument/2006/relationships/slide" Target="/ppt/slides/slide1.xml" Id="R0224b7a82a3c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c341ed3ec546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2654284f084f98" /><Relationship Type="http://schemas.openxmlformats.org/officeDocument/2006/relationships/notesMaster" Target="/ppt/notesMasters/notesMaster1.xml" Id="R0a51d93e1ce3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/Users/mac/Downloads/shibaura开题相关/VAD坐标相关/vad-emotion-research/paper/研究进展报告_DREAMER_NRC.md (study scope, statistics, interpretation, and limitations)</a:t>
            </a:r>
          </a:p>
          <a:p xmlns:a="http://schemas.openxmlformats.org/drawingml/2006/main">
            <a:r>
              <a:t>- /Users/mac/Downloads/shibaura开题相关/VAD坐标相关/vad-emotion-research/results/dreamer_nrc_robustness/robustness_report_zh.md (exact permutation, Holm-adjusted results, bootstrap intervals, and LOEO analysis)</a:t>
            </a:r>
          </a:p>
          <a:p xmlns:a="http://schemas.openxmlformats.org/drawingml/2006/main">
            <a:r>
              <a:t>- Bradley, M. M., &amp; Lang, P. J. (1994). Measuring emotion: The Self-Assessment Manikin and the Semantic Differential.</a:t>
            </a:r>
          </a:p>
          <a:p xmlns:a="http://schemas.openxmlformats.org/drawingml/2006/main">
            <a:r>
              <a:t>- Katsigiannis, S., &amp; Ramzan, N. (2018). DREAMER: A Database for Emotion Recognition Through EEG and ECG Signals From Wireless Low-cost Off-the-Shelf Devices.</a:t>
            </a:r>
          </a:p>
          <a:p xmlns:a="http://schemas.openxmlformats.org/drawingml/2006/main">
            <a:r>
              <a:t>- Mohammad, S. M. (2025). NRC VAD Lexicon v2.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f023470984e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11e3c76584c6b" /><Relationship Type="http://schemas.openxmlformats.org/officeDocument/2006/relationships/slideLayout" Target="/ppt/slideLayouts/slideLayout1.xml" Id="Ra57ccb9901a848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7ccb9901a848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c3e5402e94f73" /><Relationship Type="http://schemas.openxmlformats.org/officeDocument/2006/relationships/image" Target="/ppt/media/image.png" Id="Re7493050d73d4e9c" /><Relationship Type="http://schemas.openxmlformats.org/officeDocument/2006/relationships/image" Target="/ppt/media/image2.png" Id="R7af573f333a34263" /><Relationship Type="http://schemas.openxmlformats.org/officeDocument/2006/relationships/image" Target="/ppt/media/image3.png" Id="Ra864d4a5281b4002" /><Relationship Type="http://schemas.openxmlformats.org/officeDocument/2006/relationships/image" Target="/ppt/media/image4.png" Id="R9d53ff0f2a5a4378" /><Relationship Type="http://schemas.openxmlformats.org/officeDocument/2006/relationships/image" Target="/ppt/media/image5.png" Id="R59fffb9cb12e4464" /><Relationship Type="http://schemas.openxmlformats.org/officeDocument/2006/relationships/notesSlide" Target="/ppt/notesSlides/notesSlide1.xml" Id="Rab159dffa67e44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62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研究問い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13287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VADは、語の意味と映像後の体験を同じ3次元で表せる。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しかし両者は、文脈・課題・回答者が異なる。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「同じ尺度に変換できる」ことは「同じ座標として使える」ことを意味しない。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48625"/>
            <a:ext cx="13525500" cy="17621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153400"/>
            <a:ext cx="1304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1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中心となる問い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591550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感情語のVAD座標は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映像誘発体験の座標として使えるか？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115550"/>
            <a:ext cx="13525500" cy="1695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210800"/>
            <a:ext cx="1304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3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検証する3点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629900"/>
            <a:ext cx="1304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カテゴリー構造　② 座標値の圧縮　③ 感情固有の逸脱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── それぞれを Valence / Arousal / Dominance 別に比較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6111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592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001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比較設計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858750"/>
            <a:ext cx="5905500" cy="17621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001625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295400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000875" y="13315950"/>
            <a:ext cx="857250" cy="762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858750"/>
            <a:ext cx="6381750" cy="17621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049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9349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16125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0"/>
            <a:ext cx="13525500" cy="18097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305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63875"/>
            <a:ext cx="10239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0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30875"/>
            <a:ext cx="13525500" cy="285750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21375"/>
            <a:ext cx="1295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59550"/>
            <a:ext cx="1295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構造対応：Pearson / Spearman ＋ 9! 厳密置換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不確実性：5,000回の参加者・映像階層bootstrap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一致と逸脱：回帰傾き / LOEO残差 / 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0"/>
            <a:ext cx="1343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対応：NRC感情名詞VAD ↔ DREAMERカテゴリー平均VAD（23名 × 各感情2映像）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9感情：amusement / anger / calmness / disgust / excitement / fear / happiness / sadness / surprise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推論単位は414試行ではなく、9カテゴリー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626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9530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主要結果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638800"/>
            <a:ext cx="1347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共有できるのは主にValence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Arousalは不安定、Dominanceは未支持</a:t>
            </a:r>
          </a:p>
        </p:txBody>
      </p:sp>
      <p:pic>
        <p:nvPicPr>
          <p:cNvPr id="137" name="図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93050d73d4e9c"/>
          <a:stretch xmlns:a="http://schemas.openxmlformats.org/drawingml/2006/main"/>
        </p:blipFill>
        <p:spPr>
          <a:xfrm xmlns:a="http://schemas.openxmlformats.org/drawingml/2006/main" flipH="0" flipV="0">
            <a:off x="15811500" y="6648450"/>
            <a:ext cx="13525500" cy="5048250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1715750"/>
            <a:ext cx="1333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図1　9カテゴリーの対応：V  r=.875 / ρ=.895　｜　A  r=.832 / ρ=.433　｜　D  r=−.121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厳密置換・Holm補正：VとAのPearsonのみ有意、Dは非有意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2668250"/>
            <a:ext cx="13525500" cy="12858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2763500"/>
            <a:ext cx="1304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相関しても座標は一致しない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誘発体験は中性点側へ圧縮：V slope=.520 / A slope=.341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971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78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2875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ズレの構造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50495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V・Aともに誘発体験の尺度範囲が圧縮</a:t>
            </a:r>
          </a:p>
        </p:txBody>
      </p:sp>
      <p:pic>
        <p:nvPicPr>
          <p:cNvPr id="145" name="図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573f333a34263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 flipH="0" flipV="0">
            <a:off x="15811500" y="15811500"/>
            <a:ext cx="6477000" cy="35528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526250"/>
            <a:ext cx="6477000" cy="12382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966912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DREAMER（傾き, 95% CI）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 .520 [.423–.611]　A .341 [.184–.501]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50495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calmnessの校正後残差が最大（探索的）</a:t>
            </a:r>
          </a:p>
        </p:txBody>
      </p:sp>
      <p:pic>
        <p:nvPicPr>
          <p:cNvPr id="149" name="図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4d4a5281b4002"/>
          <a:stretch xmlns:a="http://schemas.openxmlformats.org/drawingml/2006/main"/>
        </p:blipFill>
        <p:spPr>
          <a:xfrm xmlns:a="http://schemas.openxmlformats.org/drawingml/2006/main" flipH="0" flipV="0">
            <a:off x="22764750" y="15811500"/>
            <a:ext cx="6572250" cy="4038600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00025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95% CIは広く重なるため、残差順位は確定できない。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503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31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240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002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次元別の解釈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669500"/>
            <a:ext cx="6477000" cy="72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V｜線形対応・順位・除外分析が一致。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→ カテゴリー構造は最も頑健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A｜線形対応はあるが、順位は不安定。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→ 全体傾向だけで座標移送はできない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D｜対応証拠なし。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→ 語のpower/controlと体験後の自己統制感では、参照対象が異なる可能性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2002750"/>
            <a:ext cx="6572250" cy="7905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22885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2955250"/>
            <a:ext cx="6096000" cy="666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Valence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構造は共有できる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ただし数値は圧縮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Arousal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全体傾向のみ共有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カテゴリー順位は不安定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Dominance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共有構造を確認できず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VADを共通尺度にするなら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次元別の検証と校正が必要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31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12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研究の境界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0"/>
            <a:ext cx="133826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推論単位は9感情（各2映像）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語彙常模とDREAMERは参加者・課題が異なる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個人内の置換可能性、測定不変性、因果関係は未検証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Dominanceの評価方向と参照対象は原資料確認が必要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0"/>
            <a:ext cx="13525500" cy="17621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479750"/>
            <a:ext cx="1304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本研究が示すのは「群レベルの構造対応」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同一個人内での交換可能性ではない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719500"/>
            <a:ext cx="302799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643300"/>
            <a:ext cx="30279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0"/>
            <a:ext cx="1352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次の検証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99125"/>
            <a:ext cx="133826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Dominanceの評価方向・指示文を原資料で確認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外部データで次元別の対応と尺度圧縮を再現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同一参加者・同一尺度で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Lexical → Prototype → Induced を直接比較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05752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1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実験設計への示唆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1242000"/>
            <a:ext cx="13525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次の実験では、同一参加者・同一尺度で3層を直接比較する。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Lexical｜感情語を見たときの意味判断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Prototype｜典型的な感情状態の判断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Induced｜映像視聴後の当事者体験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→ 次元 × 評価層の交互作用から「移送できる範囲」を特定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0"/>
            <a:ext cx="1352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研究の意味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0"/>
            <a:ext cx="133826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VADを「共通尺度」として使う前に、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構造対応と座標一致を分けて検証する必要性を示した。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6385500"/>
            <a:ext cx="1352550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6671250"/>
            <a:ext cx="1295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結論：語彙VADと誘発体験VADは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「関連する」が「交換可能ではない」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図 1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3ff0f2a5a4378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238625" y="685800"/>
            <a:ext cx="1952625" cy="2143125"/>
          </a:xfrm>
          <a:prstGeom xmlns:a="http://schemas.openxmlformats.org/drawingml/2006/main" prst="rect">
            <a:avLst/>
          </a:prstGeom>
        </p:spPr>
      </p:pic>
      <p:pic>
        <p:nvPicPr>
          <p:cNvPr id="177" name="図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ffb9cb12e4464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6974800" y="742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"/>
            <a:ext cx="19526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感情語のVAD座標は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映像誘発体験に移送できるか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1952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× DREAMER：9感情カテゴリーの次元別対応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1952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98" name="senior-center-divider">
            <a:extLst xmlns:a="http://schemas.openxmlformats.org/drawingml/2006/main">
              <a:ext uri="{FF2B5EF4-FFF2-40B4-BE49-F238E27FC236}">
                <a16:creationId xmlns:a16="http://schemas.microsoft.com/office/drawing/2014/main" id="{EB643967-049B-4501-99BC-651C2AB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4857750"/>
            <a:ext cx="0" cy="36480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EA4AA"/>
            </a:solidFill>
            <a:prstDash val="dot"/>
          </a:ln>
        </p:spPr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2026-07-30T12:11:48.2760000Z</dcterms:created>
  <dcterms:modified xsi:type="dcterms:W3CDTF">2026-07-30T12:11:48.2760000Z</dcterms:modified>
</coreProperties>
</file>