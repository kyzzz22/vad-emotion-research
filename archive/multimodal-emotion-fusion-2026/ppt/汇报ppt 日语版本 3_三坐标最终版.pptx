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1"/>
  </p:notesMasterIdLst>
  <p:sldIdLst>
    <p:sldId id="256" r:id="rId2"/>
    <p:sldId id="259" r:id="rId3"/>
    <p:sldId id="288" r:id="rId4"/>
    <p:sldId id="260" r:id="rId5"/>
    <p:sldId id="278" r:id="rId6"/>
    <p:sldId id="289" r:id="rId7"/>
    <p:sldId id="290" r:id="rId8"/>
    <p:sldId id="291" r:id="rId9"/>
    <p:sldId id="261" r:id="rId10"/>
    <p:sldId id="268" r:id="rId11"/>
    <p:sldId id="269" r:id="rId12"/>
    <p:sldId id="270" r:id="rId13"/>
    <p:sldId id="271" r:id="rId14"/>
    <p:sldId id="272" r:id="rId15"/>
    <p:sldId id="273" r:id="rId16"/>
    <p:sldId id="274" r:id="rId17"/>
    <p:sldId id="275" r:id="rId18"/>
    <p:sldId id="276" r:id="rId19"/>
    <p:sldId id="284" r:id="rId20"/>
    <p:sldId id="277" r:id="rId21"/>
    <p:sldId id="285" r:id="rId22"/>
    <p:sldId id="263" r:id="rId23"/>
    <p:sldId id="286" r:id="rId24"/>
    <p:sldId id="264" r:id="rId25"/>
    <p:sldId id="280" r:id="rId26"/>
    <p:sldId id="287" r:id="rId27"/>
    <p:sldId id="281" r:id="rId28"/>
    <p:sldId id="292" r:id="rId36"/>
    <p:sldId id="293" r:id="rId37"/>
    <p:sldId id="294" r:id="rId38"/>
    <p:sldId id="295" r:id="rId39"/>
    <p:sldId id="296" r:id="rId40"/>
    <p:sldId id="265" r:id="rId29"/>
    <p:sldId id="266"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9" autoAdjust="0"/>
    <p:restoredTop sz="82125" autoAdjust="0"/>
  </p:normalViewPr>
  <p:slideViewPr>
    <p:cSldViewPr snapToGrid="0">
      <p:cViewPr varScale="1">
        <p:scale>
          <a:sx n="114" d="100"/>
          <a:sy n="114" d="100"/>
        </p:scale>
        <p:origin x="1288" y="152"/>
      </p:cViewPr>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 Id="rId8" Type="http://schemas.openxmlformats.org/officeDocument/2006/relationships/slide" Target="slides/slide7.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s>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470BD-E4F4-430B-91F0-C9195A986F20}" type="datetimeFigureOut">
              <a:rPr kumimoji="1" lang="ja-JP" altLang="en-US" smtClean="0"/>
              <a:t>2026/5/7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3A2168-166C-4812-A875-771FA95E51B4}" type="slidenum">
              <a:rPr kumimoji="1" lang="ja-JP" altLang="en-US" smtClean="0"/>
              <a:t>‹#›</a:t>
            </a:fld>
            <a:endParaRPr kumimoji="1" lang="ja-JP" altLang="en-US"/>
          </a:p>
        </p:txBody>
      </p:sp>
    </p:spTree>
    <p:extLst>
      <p:ext uri="{BB962C8B-B14F-4D97-AF65-F5344CB8AC3E}">
        <p14:creationId xmlns:p14="http://schemas.microsoft.com/office/powerpoint/2010/main" val="7461161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zh-MO" altLang="en-US" b="0" i="0">
                <a:solidFill>
                  <a:srgbClr val="202122"/>
                </a:solidFill>
                <a:effectLst/>
                <a:latin typeface="Arial" panose="020B0604020202020204" pitchFamily="34" charset="0"/>
              </a:rPr>
              <a:t>本研究</a:t>
            </a:r>
            <a:r>
              <a:rPr lang="ja-JP" altLang="en-US" b="0" i="0">
                <a:solidFill>
                  <a:srgbClr val="202122"/>
                </a:solidFill>
                <a:effectLst/>
                <a:latin typeface="Arial" panose="020B0604020202020204" pitchFamily="34" charset="0"/>
              </a:rPr>
              <a:t>は、</a:t>
            </a:r>
            <a:r>
              <a:rPr lang="en-US" altLang="ja-JP" b="0" i="0" dirty="0">
                <a:solidFill>
                  <a:srgbClr val="202122"/>
                </a:solidFill>
                <a:effectLst/>
                <a:latin typeface="Arial" panose="020B0604020202020204" pitchFamily="34" charset="0"/>
              </a:rPr>
              <a:t>Jenish</a:t>
            </a:r>
            <a:r>
              <a:rPr lang="ja-JP" altLang="en-US" b="0" i="0">
                <a:solidFill>
                  <a:srgbClr val="202122"/>
                </a:solidFill>
                <a:effectLst/>
                <a:latin typeface="Arial" panose="020B0604020202020204" pitchFamily="34" charset="0"/>
              </a:rPr>
              <a:t>らが</a:t>
            </a:r>
            <a:r>
              <a:rPr lang="zh-MO" altLang="en-US" b="0" i="0">
                <a:solidFill>
                  <a:srgbClr val="202122"/>
                </a:solidFill>
                <a:effectLst/>
                <a:latin typeface="Arial" panose="020B0604020202020204" pitchFamily="34" charset="0"/>
              </a:rPr>
              <a:t>提案</a:t>
            </a:r>
            <a:r>
              <a:rPr lang="ja-JP" altLang="en-US" b="0" i="0">
                <a:solidFill>
                  <a:srgbClr val="202122"/>
                </a:solidFill>
                <a:effectLst/>
                <a:latin typeface="Arial" panose="020B0604020202020204" pitchFamily="34" charset="0"/>
              </a:rPr>
              <a:t>した</a:t>
            </a:r>
            <a:r>
              <a:rPr lang="en-US" altLang="ja-JP" b="0" i="0" dirty="0">
                <a:solidFill>
                  <a:srgbClr val="202122"/>
                </a:solidFill>
                <a:effectLst/>
                <a:latin typeface="Arial" panose="020B0604020202020204" pitchFamily="34" charset="0"/>
              </a:rPr>
              <a:t>7×7</a:t>
            </a:r>
            <a:r>
              <a:rPr lang="ja-JP" altLang="en-US" b="0" i="0">
                <a:solidFill>
                  <a:srgbClr val="202122"/>
                </a:solidFill>
                <a:effectLst/>
                <a:latin typeface="Arial" panose="020B0604020202020204" pitchFamily="34" charset="0"/>
              </a:rPr>
              <a:t>の</a:t>
            </a:r>
            <a:r>
              <a:rPr lang="zh-MO" altLang="en-US" b="0" i="0">
                <a:solidFill>
                  <a:srgbClr val="202122"/>
                </a:solidFill>
                <a:effectLst/>
                <a:latin typeface="Arial" panose="020B0604020202020204" pitchFamily="34" charset="0"/>
              </a:rPr>
              <a:t>感情</a:t>
            </a:r>
            <a:r>
              <a:rPr lang="ja-JP" altLang="en-US" b="0" i="0">
                <a:solidFill>
                  <a:srgbClr val="202122"/>
                </a:solidFill>
                <a:effectLst/>
                <a:latin typeface="Arial" panose="020B0604020202020204" pitchFamily="34" charset="0"/>
              </a:rPr>
              <a:t>マッピング</a:t>
            </a:r>
            <a:r>
              <a:rPr lang="zh-MO" altLang="en-US" b="0" i="0">
                <a:solidFill>
                  <a:srgbClr val="202122"/>
                </a:solidFill>
                <a:effectLst/>
                <a:latin typeface="Arial" panose="020B0604020202020204" pitchFamily="34" charset="0"/>
              </a:rPr>
              <a:t>表</a:t>
            </a:r>
            <a:r>
              <a:rPr lang="ja-JP" altLang="en-US" b="0" i="0">
                <a:solidFill>
                  <a:srgbClr val="202122"/>
                </a:solidFill>
                <a:effectLst/>
                <a:latin typeface="Arial" panose="020B0604020202020204" pitchFamily="34" charset="0"/>
              </a:rPr>
              <a:t>をベースとしています。</a:t>
            </a:r>
            <a:r>
              <a:rPr lang="zh-MO" altLang="en-US" b="0" i="0">
                <a:solidFill>
                  <a:srgbClr val="202122"/>
                </a:solidFill>
                <a:effectLst/>
                <a:latin typeface="Arial" panose="020B0604020202020204" pitchFamily="34" charset="0"/>
              </a:rPr>
              <a:t>彼</a:t>
            </a:r>
            <a:r>
              <a:rPr lang="ja-JP" altLang="en-US" b="0" i="0">
                <a:solidFill>
                  <a:srgbClr val="202122"/>
                </a:solidFill>
                <a:effectLst/>
                <a:latin typeface="Arial" panose="020B0604020202020204" pitchFamily="34" charset="0"/>
              </a:rPr>
              <a:t>らの</a:t>
            </a:r>
            <a:r>
              <a:rPr lang="zh-MO" altLang="en-US" b="0" i="0">
                <a:solidFill>
                  <a:srgbClr val="202122"/>
                </a:solidFill>
                <a:effectLst/>
                <a:latin typeface="Arial" panose="020B0604020202020204" pitchFamily="34" charset="0"/>
              </a:rPr>
              <a:t>表</a:t>
            </a:r>
            <a:r>
              <a:rPr lang="ja-JP" altLang="en-US" b="0" i="0">
                <a:solidFill>
                  <a:srgbClr val="202122"/>
                </a:solidFill>
                <a:effectLst/>
                <a:latin typeface="Arial" panose="020B0604020202020204" pitchFamily="34" charset="0"/>
              </a:rPr>
              <a:t>は</a:t>
            </a:r>
            <a:r>
              <a:rPr lang="zh-MO" altLang="en-US" b="0" i="0">
                <a:solidFill>
                  <a:srgbClr val="202122"/>
                </a:solidFill>
                <a:effectLst/>
                <a:latin typeface="Arial" panose="020B0604020202020204" pitchFamily="34" charset="0"/>
              </a:rPr>
              <a:t>非常</a:t>
            </a:r>
            <a:r>
              <a:rPr lang="ja-JP" altLang="en-US" b="0" i="0">
                <a:solidFill>
                  <a:srgbClr val="202122"/>
                </a:solidFill>
                <a:effectLst/>
                <a:latin typeface="Arial" panose="020B0604020202020204" pitchFamily="34" charset="0"/>
              </a:rPr>
              <a:t>に</a:t>
            </a:r>
            <a:r>
              <a:rPr lang="zh-MO" altLang="en-US" b="0" i="0">
                <a:solidFill>
                  <a:srgbClr val="202122"/>
                </a:solidFill>
                <a:effectLst/>
                <a:latin typeface="Arial" panose="020B0604020202020204" pitchFamily="34" charset="0"/>
              </a:rPr>
              <a:t>有用</a:t>
            </a:r>
            <a:r>
              <a:rPr lang="ja-JP" altLang="en-US" b="0" i="0">
                <a:solidFill>
                  <a:srgbClr val="202122"/>
                </a:solidFill>
                <a:effectLst/>
                <a:latin typeface="Arial" panose="020B0604020202020204" pitchFamily="34" charset="0"/>
              </a:rPr>
              <a:t>ですが、あくまで</a:t>
            </a:r>
            <a:r>
              <a:rPr lang="en-US" altLang="ja-JP" b="0" i="0" dirty="0">
                <a:solidFill>
                  <a:srgbClr val="202122"/>
                </a:solidFill>
                <a:effectLst/>
                <a:latin typeface="Arial" panose="020B0604020202020204" pitchFamily="34" charset="0"/>
              </a:rPr>
              <a:t>『</a:t>
            </a:r>
            <a:r>
              <a:rPr lang="zh-MO" altLang="en-US" b="0" i="0">
                <a:solidFill>
                  <a:srgbClr val="202122"/>
                </a:solidFill>
                <a:effectLst/>
                <a:latin typeface="Arial" panose="020B0604020202020204" pitchFamily="34" charset="0"/>
              </a:rPr>
              <a:t>離散的</a:t>
            </a:r>
            <a:r>
              <a:rPr lang="ja-JP" altLang="en-US" b="0" i="0">
                <a:solidFill>
                  <a:srgbClr val="202122"/>
                </a:solidFill>
                <a:effectLst/>
                <a:latin typeface="Arial" panose="020B0604020202020204" pitchFamily="34" charset="0"/>
              </a:rPr>
              <a:t>なルールの</a:t>
            </a:r>
            <a:r>
              <a:rPr lang="zh-MO" altLang="en-US" b="0" i="0">
                <a:solidFill>
                  <a:srgbClr val="202122"/>
                </a:solidFill>
                <a:effectLst/>
                <a:latin typeface="Arial" panose="020B0604020202020204" pitchFamily="34" charset="0"/>
              </a:rPr>
              <a:t>集合</a:t>
            </a:r>
            <a:r>
              <a:rPr lang="en-US" altLang="zh-MO" b="0" i="0" dirty="0">
                <a:solidFill>
                  <a:srgbClr val="202122"/>
                </a:solidFill>
                <a:effectLst/>
                <a:latin typeface="Arial" panose="020B0604020202020204" pitchFamily="34" charset="0"/>
              </a:rPr>
              <a:t>』</a:t>
            </a:r>
            <a:r>
              <a:rPr lang="ja-JP" altLang="en-US" b="0" i="0">
                <a:solidFill>
                  <a:srgbClr val="202122"/>
                </a:solidFill>
                <a:effectLst/>
                <a:latin typeface="Arial" panose="020B0604020202020204" pitchFamily="34" charset="0"/>
              </a:rPr>
              <a:t>です。そこで</a:t>
            </a:r>
            <a:r>
              <a:rPr lang="zh-MO" altLang="en-US" b="0" i="0">
                <a:solidFill>
                  <a:srgbClr val="202122"/>
                </a:solidFill>
                <a:effectLst/>
                <a:latin typeface="Arial" panose="020B0604020202020204" pitchFamily="34" charset="0"/>
              </a:rPr>
              <a:t>私</a:t>
            </a:r>
            <a:r>
              <a:rPr lang="ja-JP" altLang="en-US" b="0" i="0">
                <a:solidFill>
                  <a:srgbClr val="202122"/>
                </a:solidFill>
                <a:effectLst/>
                <a:latin typeface="Arial" panose="020B0604020202020204" pitchFamily="34" charset="0"/>
              </a:rPr>
              <a:t>は、この</a:t>
            </a:r>
            <a:r>
              <a:rPr lang="zh-MO" altLang="en-US" b="0" i="0">
                <a:solidFill>
                  <a:srgbClr val="202122"/>
                </a:solidFill>
                <a:effectLst/>
                <a:latin typeface="Arial" panose="020B0604020202020204" pitchFamily="34" charset="0"/>
              </a:rPr>
              <a:t>表</a:t>
            </a:r>
            <a:r>
              <a:rPr lang="ja-JP" altLang="en-US" b="0" i="0">
                <a:solidFill>
                  <a:srgbClr val="202122"/>
                </a:solidFill>
                <a:effectLst/>
                <a:latin typeface="Arial" panose="020B0604020202020204" pitchFamily="34" charset="0"/>
              </a:rPr>
              <a:t>の</a:t>
            </a:r>
            <a:r>
              <a:rPr lang="zh-MO" altLang="en-US" b="0" i="0">
                <a:solidFill>
                  <a:srgbClr val="202122"/>
                </a:solidFill>
                <a:effectLst/>
                <a:latin typeface="Arial" panose="020B0604020202020204" pitchFamily="34" charset="0"/>
              </a:rPr>
              <a:t>背後</a:t>
            </a:r>
            <a:r>
              <a:rPr lang="ja-JP" altLang="en-US" b="0" i="0">
                <a:solidFill>
                  <a:srgbClr val="202122"/>
                </a:solidFill>
                <a:effectLst/>
                <a:latin typeface="Arial" panose="020B0604020202020204" pitchFamily="34" charset="0"/>
              </a:rPr>
              <a:t>にはもっとシンプルで</a:t>
            </a:r>
            <a:r>
              <a:rPr lang="zh-MO" altLang="en-US" b="0" i="0">
                <a:solidFill>
                  <a:srgbClr val="202122"/>
                </a:solidFill>
                <a:effectLst/>
                <a:latin typeface="Arial" panose="020B0604020202020204" pitchFamily="34" charset="0"/>
              </a:rPr>
              <a:t>連続的</a:t>
            </a:r>
            <a:r>
              <a:rPr lang="ja-JP" altLang="en-US" b="0" i="0">
                <a:solidFill>
                  <a:srgbClr val="202122"/>
                </a:solidFill>
                <a:effectLst/>
                <a:latin typeface="Arial" panose="020B0604020202020204" pitchFamily="34" charset="0"/>
              </a:rPr>
              <a:t>な</a:t>
            </a:r>
            <a:r>
              <a:rPr lang="zh-MO" altLang="en-US" b="0" i="0">
                <a:solidFill>
                  <a:srgbClr val="202122"/>
                </a:solidFill>
                <a:effectLst/>
                <a:latin typeface="Arial" panose="020B0604020202020204" pitchFamily="34" charset="0"/>
              </a:rPr>
              <a:t>数学的法則（関数）</a:t>
            </a:r>
            <a:r>
              <a:rPr lang="ja-JP" altLang="en-US" b="0" i="0">
                <a:solidFill>
                  <a:srgbClr val="202122"/>
                </a:solidFill>
                <a:effectLst/>
                <a:latin typeface="Arial" panose="020B0604020202020204" pitchFamily="34" charset="0"/>
              </a:rPr>
              <a:t>が</a:t>
            </a:r>
            <a:r>
              <a:rPr lang="zh-MO" altLang="en-US" b="0" i="0">
                <a:solidFill>
                  <a:srgbClr val="202122"/>
                </a:solidFill>
                <a:effectLst/>
                <a:latin typeface="Arial" panose="020B0604020202020204" pitchFamily="34" charset="0"/>
              </a:rPr>
              <a:t>隠</a:t>
            </a:r>
            <a:r>
              <a:rPr lang="ja-JP" altLang="en-US" b="0" i="0">
                <a:solidFill>
                  <a:srgbClr val="202122"/>
                </a:solidFill>
                <a:effectLst/>
                <a:latin typeface="Arial" panose="020B0604020202020204" pitchFamily="34" charset="0"/>
              </a:rPr>
              <a:t>れているのではないかと</a:t>
            </a:r>
            <a:r>
              <a:rPr lang="zh-MO" altLang="en-US" b="0" i="0">
                <a:solidFill>
                  <a:srgbClr val="202122"/>
                </a:solidFill>
                <a:effectLst/>
                <a:latin typeface="Arial" panose="020B0604020202020204" pitchFamily="34" charset="0"/>
              </a:rPr>
              <a:t>考</a:t>
            </a:r>
            <a:r>
              <a:rPr lang="ja-JP" altLang="en-US" b="0" i="0">
                <a:solidFill>
                  <a:srgbClr val="202122"/>
                </a:solidFill>
                <a:effectLst/>
                <a:latin typeface="Arial" panose="020B0604020202020204" pitchFamily="34" charset="0"/>
              </a:rPr>
              <a:t>え、</a:t>
            </a:r>
            <a:r>
              <a:rPr lang="zh-MO" altLang="en-US" b="0" i="0">
                <a:solidFill>
                  <a:srgbClr val="202122"/>
                </a:solidFill>
                <a:effectLst/>
                <a:latin typeface="Arial" panose="020B0604020202020204" pitchFamily="34" charset="0"/>
              </a:rPr>
              <a:t>今回</a:t>
            </a:r>
            <a:r>
              <a:rPr lang="ja-JP" altLang="en-US" b="0" i="0">
                <a:solidFill>
                  <a:srgbClr val="202122"/>
                </a:solidFill>
                <a:effectLst/>
                <a:latin typeface="Arial" panose="020B0604020202020204" pitchFamily="34" charset="0"/>
              </a:rPr>
              <a:t>の</a:t>
            </a:r>
            <a:r>
              <a:rPr lang="zh-MO" altLang="en-US" b="0" i="0">
                <a:solidFill>
                  <a:srgbClr val="202122"/>
                </a:solidFill>
                <a:effectLst/>
                <a:latin typeface="Arial" panose="020B0604020202020204" pitchFamily="34" charset="0"/>
              </a:rPr>
              <a:t>最適化・</a:t>
            </a:r>
            <a:r>
              <a:rPr lang="ja-JP" altLang="en-US" b="0" i="0">
                <a:solidFill>
                  <a:srgbClr val="202122"/>
                </a:solidFill>
                <a:effectLst/>
                <a:latin typeface="Arial" panose="020B0604020202020204" pitchFamily="34" charset="0"/>
              </a:rPr>
              <a:t>モデリングの</a:t>
            </a:r>
            <a:r>
              <a:rPr lang="zh-MO" altLang="en-US" b="0" i="0">
                <a:solidFill>
                  <a:srgbClr val="202122"/>
                </a:solidFill>
                <a:effectLst/>
                <a:latin typeface="Arial" panose="020B0604020202020204" pitchFamily="34" charset="0"/>
              </a:rPr>
              <a:t>研究</a:t>
            </a:r>
            <a:r>
              <a:rPr lang="ja-JP" altLang="en-US" b="0" i="0">
                <a:solidFill>
                  <a:srgbClr val="202122"/>
                </a:solidFill>
                <a:effectLst/>
                <a:latin typeface="Arial" panose="020B0604020202020204" pitchFamily="34" charset="0"/>
              </a:rPr>
              <a:t>に</a:t>
            </a:r>
            <a:r>
              <a:rPr lang="zh-MO" altLang="en-US" b="0" i="0">
                <a:solidFill>
                  <a:srgbClr val="202122"/>
                </a:solidFill>
                <a:effectLst/>
                <a:latin typeface="Arial" panose="020B0604020202020204" pitchFamily="34" charset="0"/>
              </a:rPr>
              <a:t>着手</a:t>
            </a:r>
            <a:r>
              <a:rPr lang="ja-JP" altLang="en-US" b="0" i="0">
                <a:solidFill>
                  <a:srgbClr val="202122"/>
                </a:solidFill>
                <a:effectLst/>
                <a:latin typeface="Arial" panose="020B0604020202020204" pitchFamily="34" charset="0"/>
              </a:rPr>
              <a:t xml:space="preserve">しました。 </a:t>
            </a:r>
            <a:endParaRPr kumimoji="1" lang="ja-JP" altLang="en-US"/>
          </a:p>
        </p:txBody>
      </p:sp>
      <p:sp>
        <p:nvSpPr>
          <p:cNvPr id="4" name="スライド番号プレースホルダー 3"/>
          <p:cNvSpPr>
            <a:spLocks noGrp="1"/>
          </p:cNvSpPr>
          <p:nvPr>
            <p:ph type="sldNum" sz="quarter" idx="5"/>
          </p:nvPr>
        </p:nvSpPr>
        <p:spPr/>
        <p:txBody>
          <a:bodyPr/>
          <a:lstStyle/>
          <a:p>
            <a:fld id="{473A2168-166C-4812-A875-771FA95E51B4}" type="slidenum">
              <a:rPr kumimoji="1" lang="ja-JP" altLang="en-US" smtClean="0"/>
              <a:t>2</a:t>
            </a:fld>
            <a:endParaRPr kumimoji="1" lang="ja-JP" altLang="en-US"/>
          </a:p>
        </p:txBody>
      </p:sp>
    </p:spTree>
    <p:extLst>
      <p:ext uri="{BB962C8B-B14F-4D97-AF65-F5344CB8AC3E}">
        <p14:creationId xmlns:p14="http://schemas.microsoft.com/office/powerpoint/2010/main" val="410119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F6EA7-C993-AE0D-3F68-F5A93844C50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0D1FEB-A10B-A3C9-0BEC-4B026AACC3D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C05666-3298-93B6-C64A-798C6E88727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zh-MO" altLang="en-US"/>
          </a:p>
        </p:txBody>
      </p:sp>
      <p:sp>
        <p:nvSpPr>
          <p:cNvPr id="4" name="投影片編號版面配置區 3">
            <a:extLst>
              <a:ext uri="{FF2B5EF4-FFF2-40B4-BE49-F238E27FC236}">
                <a16:creationId xmlns:a16="http://schemas.microsoft.com/office/drawing/2014/main" id="{F0EBA9AE-FA7B-900D-48E6-A0D253A2F317}"/>
              </a:ext>
            </a:extLst>
          </p:cNvPr>
          <p:cNvSpPr>
            <a:spLocks noGrp="1"/>
          </p:cNvSpPr>
          <p:nvPr>
            <p:ph type="sldNum" sz="quarter" idx="5"/>
          </p:nvPr>
        </p:nvSpPr>
        <p:spPr/>
        <p:txBody>
          <a:bodyPr/>
          <a:lstStyle/>
          <a:p>
            <a:fld id="{473A2168-166C-4812-A875-771FA95E51B4}" type="slidenum">
              <a:rPr kumimoji="1" lang="ja-JP" altLang="en-US" smtClean="0"/>
              <a:t>3</a:t>
            </a:fld>
            <a:endParaRPr kumimoji="1" lang="ja-JP" altLang="en-US"/>
          </a:p>
        </p:txBody>
      </p:sp>
    </p:spTree>
    <p:extLst>
      <p:ext uri="{BB962C8B-B14F-4D97-AF65-F5344CB8AC3E}">
        <p14:creationId xmlns:p14="http://schemas.microsoft.com/office/powerpoint/2010/main" val="2097204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MO" altLang="en-GB"/>
              <a:t>「</a:t>
            </a:r>
            <a:r>
              <a:rPr kumimoji="1" lang="en-GB" altLang="zh-MO"/>
              <a:t>Jenish</a:t>
            </a:r>
            <a:r>
              <a:rPr kumimoji="1" lang="zh-MO" altLang="en-US"/>
              <a:t>氏</a:t>
            </a:r>
            <a:r>
              <a:rPr kumimoji="1" lang="ja-JP" altLang="en-US"/>
              <a:t>の</a:t>
            </a:r>
            <a:r>
              <a:rPr kumimoji="1" lang="zh-MO" altLang="en-US"/>
              <a:t>研究</a:t>
            </a:r>
            <a:r>
              <a:rPr kumimoji="1" lang="ja-JP" altLang="en-US"/>
              <a:t>が</a:t>
            </a:r>
            <a:r>
              <a:rPr kumimoji="1" lang="zh-MO" altLang="en-US"/>
              <a:t>指摘</a:t>
            </a:r>
            <a:r>
              <a:rPr kumimoji="1" lang="ja-JP" altLang="en-US"/>
              <a:t>した</a:t>
            </a:r>
            <a:r>
              <a:rPr kumimoji="1" lang="zh-MO" altLang="en-US"/>
              <a:t>通</a:t>
            </a:r>
            <a:r>
              <a:rPr kumimoji="1" lang="ja-JP" altLang="en-US"/>
              <a:t>り、</a:t>
            </a:r>
            <a:r>
              <a:rPr kumimoji="1" lang="zh-MO" altLang="en-US"/>
              <a:t>人間</a:t>
            </a:r>
            <a:r>
              <a:rPr kumimoji="1" lang="ja-JP" altLang="en-US"/>
              <a:t>の</a:t>
            </a:r>
            <a:r>
              <a:rPr kumimoji="1" lang="zh-MO" altLang="en-US"/>
              <a:t>感情</a:t>
            </a:r>
            <a:r>
              <a:rPr kumimoji="1" lang="ja-JP" altLang="en-US"/>
              <a:t>は</a:t>
            </a:r>
            <a:r>
              <a:rPr kumimoji="1" lang="zh-MO" altLang="en-US"/>
              <a:t>本質的</a:t>
            </a:r>
            <a:r>
              <a:rPr kumimoji="1" lang="ja-JP" altLang="en-US"/>
              <a:t>に</a:t>
            </a:r>
            <a:r>
              <a:rPr kumimoji="1" lang="zh-MO" altLang="en-US"/>
              <a:t>非線形</a:t>
            </a:r>
            <a:r>
              <a:rPr kumimoji="1" lang="ja-JP" altLang="en-US"/>
              <a:t>であり、</a:t>
            </a:r>
            <a:r>
              <a:rPr kumimoji="1" lang="zh-MO" altLang="en-US"/>
              <a:t>離散的</a:t>
            </a:r>
            <a:r>
              <a:rPr kumimoji="1" lang="ja-JP" altLang="en-US"/>
              <a:t>な</a:t>
            </a:r>
            <a:r>
              <a:rPr kumimoji="1" lang="zh-MO" altLang="en-US"/>
              <a:t>性質</a:t>
            </a:r>
            <a:r>
              <a:rPr kumimoji="1" lang="ja-JP" altLang="en-US"/>
              <a:t>を</a:t>
            </a:r>
            <a:r>
              <a:rPr kumimoji="1" lang="zh-MO" altLang="en-US"/>
              <a:t>持</a:t>
            </a:r>
            <a:r>
              <a:rPr kumimoji="1" lang="ja-JP" altLang="en-US"/>
              <a:t>っています。そのため、</a:t>
            </a:r>
            <a:r>
              <a:rPr kumimoji="1" lang="en-US" altLang="ja-JP"/>
              <a:t>7×7</a:t>
            </a:r>
            <a:r>
              <a:rPr kumimoji="1" lang="ja-JP" altLang="en-US"/>
              <a:t>のテーブルを</a:t>
            </a:r>
            <a:r>
              <a:rPr kumimoji="1" lang="zh-MO" altLang="en-US"/>
              <a:t>用</a:t>
            </a:r>
            <a:r>
              <a:rPr kumimoji="1" lang="ja-JP" altLang="en-US"/>
              <a:t>いたマッピングは</a:t>
            </a:r>
            <a:r>
              <a:rPr kumimoji="1" lang="zh-MO" altLang="en-US"/>
              <a:t>非常</a:t>
            </a:r>
            <a:r>
              <a:rPr kumimoji="1" lang="ja-JP" altLang="en-US"/>
              <a:t>に</a:t>
            </a:r>
            <a:r>
              <a:rPr kumimoji="1" lang="zh-MO" altLang="en-US"/>
              <a:t>理</a:t>
            </a:r>
            <a:r>
              <a:rPr kumimoji="1" lang="ja-JP" altLang="en-US"/>
              <a:t>にかなったアプローチです。</a:t>
            </a:r>
            <a:br>
              <a:rPr kumimoji="1" lang="ja-JP" altLang="en-US"/>
            </a:br>
            <a:r>
              <a:rPr kumimoji="1" lang="ja-JP" altLang="en-US"/>
              <a:t>しかし、</a:t>
            </a:r>
            <a:r>
              <a:rPr kumimoji="1" lang="zh-MO" altLang="en-US"/>
              <a:t>私</a:t>
            </a:r>
            <a:r>
              <a:rPr kumimoji="1" lang="ja-JP" altLang="en-US"/>
              <a:t>は</a:t>
            </a:r>
            <a:r>
              <a:rPr kumimoji="1" lang="zh-MO" altLang="en-US"/>
              <a:t>一歩進</a:t>
            </a:r>
            <a:r>
              <a:rPr kumimoji="1" lang="ja-JP" altLang="en-US"/>
              <a:t>んで、**</a:t>
            </a:r>
            <a:r>
              <a:rPr kumimoji="1" lang="en-US" altLang="ja-JP"/>
              <a:t>『</a:t>
            </a:r>
            <a:r>
              <a:rPr kumimoji="1" lang="ja-JP" altLang="en-US"/>
              <a:t>この</a:t>
            </a:r>
            <a:r>
              <a:rPr kumimoji="1" lang="zh-MO" altLang="en-US"/>
              <a:t>実用的</a:t>
            </a:r>
            <a:r>
              <a:rPr kumimoji="1" lang="ja-JP" altLang="en-US"/>
              <a:t>なテーブルの</a:t>
            </a:r>
            <a:r>
              <a:rPr kumimoji="1" lang="zh-MO" altLang="en-US"/>
              <a:t>背後</a:t>
            </a:r>
            <a:r>
              <a:rPr kumimoji="1" lang="ja-JP" altLang="en-US"/>
              <a:t>には、どのような</a:t>
            </a:r>
            <a:r>
              <a:rPr kumimoji="1" lang="zh-MO" altLang="en-US"/>
              <a:t>数学的・物理的</a:t>
            </a:r>
            <a:r>
              <a:rPr kumimoji="1" lang="ja-JP" altLang="en-US"/>
              <a:t>な</a:t>
            </a:r>
            <a:r>
              <a:rPr kumimoji="1" lang="zh-MO" altLang="en-US"/>
              <a:t>法則</a:t>
            </a:r>
            <a:r>
              <a:rPr kumimoji="1" lang="ja-JP" altLang="en-US"/>
              <a:t>が</a:t>
            </a:r>
            <a:r>
              <a:rPr kumimoji="1" lang="zh-MO" altLang="en-US"/>
              <a:t>隠</a:t>
            </a:r>
            <a:r>
              <a:rPr kumimoji="1" lang="ja-JP" altLang="en-US"/>
              <a:t>れているのだろうか？</a:t>
            </a:r>
            <a:r>
              <a:rPr kumimoji="1" lang="en-US" altLang="ja-JP"/>
              <a:t>』**</a:t>
            </a:r>
            <a:r>
              <a:rPr kumimoji="1" lang="ja-JP" altLang="en-US"/>
              <a:t>と</a:t>
            </a:r>
            <a:r>
              <a:rPr kumimoji="1" lang="zh-MO" altLang="en-US"/>
              <a:t>考</a:t>
            </a:r>
            <a:r>
              <a:rPr kumimoji="1" lang="ja-JP" altLang="en-US"/>
              <a:t>えました。</a:t>
            </a:r>
            <a:br>
              <a:rPr kumimoji="1" lang="ja-JP" altLang="en-US"/>
            </a:br>
            <a:r>
              <a:rPr kumimoji="1" lang="ja-JP" altLang="en-US"/>
              <a:t>つまり、</a:t>
            </a:r>
            <a:r>
              <a:rPr kumimoji="1" lang="zh-MO" altLang="en-US"/>
              <a:t>私</a:t>
            </a:r>
            <a:r>
              <a:rPr kumimoji="1" lang="ja-JP" altLang="en-US"/>
              <a:t>の</a:t>
            </a:r>
            <a:r>
              <a:rPr kumimoji="1" lang="zh-MO" altLang="en-US"/>
              <a:t>研究</a:t>
            </a:r>
            <a:r>
              <a:rPr kumimoji="1" lang="ja-JP" altLang="en-US"/>
              <a:t>は</a:t>
            </a:r>
            <a:r>
              <a:rPr kumimoji="1" lang="en-GB" altLang="zh-MO"/>
              <a:t>Jenish</a:t>
            </a:r>
            <a:r>
              <a:rPr kumimoji="1" lang="zh-MO" altLang="en-US"/>
              <a:t>氏</a:t>
            </a:r>
            <a:r>
              <a:rPr kumimoji="1" lang="ja-JP" altLang="en-US"/>
              <a:t>のモデルの</a:t>
            </a:r>
            <a:r>
              <a:rPr kumimoji="1" lang="en-US" altLang="ja-JP"/>
              <a:t>『</a:t>
            </a:r>
            <a:r>
              <a:rPr kumimoji="1" lang="zh-MO" altLang="en-US"/>
              <a:t>欠点</a:t>
            </a:r>
            <a:r>
              <a:rPr kumimoji="1" lang="en-US" altLang="zh-MO"/>
              <a:t>』</a:t>
            </a:r>
            <a:r>
              <a:rPr kumimoji="1" lang="ja-JP" altLang="en-US"/>
              <a:t>を</a:t>
            </a:r>
            <a:r>
              <a:rPr kumimoji="1" lang="zh-MO" altLang="en-US"/>
              <a:t>指摘</a:t>
            </a:r>
            <a:r>
              <a:rPr kumimoji="1" lang="ja-JP" altLang="en-US"/>
              <a:t>するものではありません。むしろ、この</a:t>
            </a:r>
            <a:r>
              <a:rPr kumimoji="1" lang="zh-MO" altLang="en-US"/>
              <a:t>経験的</a:t>
            </a:r>
            <a:r>
              <a:rPr kumimoji="1" lang="ja-JP" altLang="en-US"/>
              <a:t>に</a:t>
            </a:r>
            <a:r>
              <a:rPr kumimoji="1" lang="zh-MO" altLang="en-US"/>
              <a:t>作</a:t>
            </a:r>
            <a:r>
              <a:rPr kumimoji="1" lang="ja-JP" altLang="en-US"/>
              <a:t>られたテーブルを**</a:t>
            </a:r>
            <a:r>
              <a:rPr kumimoji="1" lang="en-US" altLang="ja-JP"/>
              <a:t>『</a:t>
            </a:r>
            <a:r>
              <a:rPr kumimoji="1" lang="zh-MO" altLang="en-US"/>
              <a:t>定量化（</a:t>
            </a:r>
            <a:r>
              <a:rPr kumimoji="1" lang="en-GB" altLang="zh-MO"/>
              <a:t>Quantify</a:t>
            </a:r>
            <a:r>
              <a:rPr kumimoji="1" lang="zh-MO" altLang="en-GB"/>
              <a:t>）</a:t>
            </a:r>
            <a:r>
              <a:rPr kumimoji="1" lang="en-GB" altLang="zh-MO"/>
              <a:t>』</a:t>
            </a:r>
            <a:r>
              <a:rPr kumimoji="1" lang="ja-JP" altLang="en-US"/>
              <a:t>し、</a:t>
            </a:r>
            <a:r>
              <a:rPr kumimoji="1" lang="zh-MO" altLang="en-US"/>
              <a:t>理論的</a:t>
            </a:r>
            <a:r>
              <a:rPr kumimoji="1" lang="ja-JP" altLang="en-US"/>
              <a:t>な</a:t>
            </a:r>
            <a:r>
              <a:rPr kumimoji="1" lang="zh-MO" altLang="en-US"/>
              <a:t>裏付</a:t>
            </a:r>
            <a:r>
              <a:rPr kumimoji="1" lang="ja-JP" altLang="en-US"/>
              <a:t>け（</a:t>
            </a:r>
            <a:r>
              <a:rPr kumimoji="1" lang="en-GB" altLang="zh-MO"/>
              <a:t>Theoretical Support</a:t>
            </a:r>
            <a:r>
              <a:rPr kumimoji="1" lang="zh-MO" altLang="en-GB"/>
              <a:t>）</a:t>
            </a:r>
            <a:r>
              <a:rPr kumimoji="1" lang="ja-JP" altLang="en-US"/>
              <a:t>を</a:t>
            </a:r>
            <a:r>
              <a:rPr kumimoji="1" lang="zh-MO" altLang="en-US"/>
              <a:t>与</a:t>
            </a:r>
            <a:r>
              <a:rPr kumimoji="1" lang="ja-JP" altLang="en-US"/>
              <a:t>えるための</a:t>
            </a:r>
            <a:r>
              <a:rPr kumimoji="1" lang="zh-MO" altLang="en-US"/>
              <a:t>試</a:t>
            </a:r>
            <a:r>
              <a:rPr kumimoji="1" lang="ja-JP" altLang="en-US"/>
              <a:t>み**です。</a:t>
            </a:r>
            <a:r>
              <a:rPr kumimoji="1" lang="zh-MO" altLang="en-US"/>
              <a:t>表</a:t>
            </a:r>
            <a:r>
              <a:rPr kumimoji="1" lang="ja-JP" altLang="en-US"/>
              <a:t>の</a:t>
            </a:r>
            <a:r>
              <a:rPr kumimoji="1" lang="zh-MO" altLang="en-US"/>
              <a:t>各</a:t>
            </a:r>
            <a:r>
              <a:rPr kumimoji="1" lang="ja-JP" altLang="en-US"/>
              <a:t>マスが</a:t>
            </a:r>
            <a:r>
              <a:rPr kumimoji="1" lang="zh-MO" altLang="en-US"/>
              <a:t>示</a:t>
            </a:r>
            <a:r>
              <a:rPr kumimoji="1" lang="ja-JP" altLang="en-US"/>
              <a:t>す</a:t>
            </a:r>
            <a:r>
              <a:rPr kumimoji="1" lang="zh-MO" altLang="en-US"/>
              <a:t>離散的</a:t>
            </a:r>
            <a:r>
              <a:rPr kumimoji="1" lang="ja-JP" altLang="en-US"/>
              <a:t>な</a:t>
            </a:r>
            <a:r>
              <a:rPr kumimoji="1" lang="zh-MO" altLang="en-US"/>
              <a:t>結果（</a:t>
            </a:r>
            <a:r>
              <a:rPr kumimoji="1" lang="en-GB" altLang="zh-MO"/>
              <a:t>What</a:t>
            </a:r>
            <a:r>
              <a:rPr kumimoji="1" lang="zh-MO" altLang="en-GB"/>
              <a:t>）</a:t>
            </a:r>
            <a:r>
              <a:rPr kumimoji="1" lang="ja-JP" altLang="en-US"/>
              <a:t>に</a:t>
            </a:r>
            <a:r>
              <a:rPr kumimoji="1" lang="zh-MO" altLang="en-US"/>
              <a:t>対</a:t>
            </a:r>
            <a:r>
              <a:rPr kumimoji="1" lang="ja-JP" altLang="en-US"/>
              <a:t>して、</a:t>
            </a:r>
            <a:r>
              <a:rPr kumimoji="1" lang="en-US" altLang="ja-JP"/>
              <a:t>『</a:t>
            </a:r>
            <a:r>
              <a:rPr kumimoji="1" lang="ja-JP" altLang="en-US"/>
              <a:t>なぜその</a:t>
            </a:r>
            <a:r>
              <a:rPr kumimoji="1" lang="zh-MO" altLang="en-US"/>
              <a:t>結果</a:t>
            </a:r>
            <a:r>
              <a:rPr kumimoji="1" lang="ja-JP" altLang="en-US"/>
              <a:t>になるのか（</a:t>
            </a:r>
            <a:r>
              <a:rPr kumimoji="1" lang="en-GB" altLang="zh-MO"/>
              <a:t>Why</a:t>
            </a:r>
            <a:r>
              <a:rPr kumimoji="1" lang="zh-MO" altLang="en-GB"/>
              <a:t>）</a:t>
            </a:r>
            <a:r>
              <a:rPr kumimoji="1" lang="en-GB" altLang="zh-MO"/>
              <a:t>』</a:t>
            </a:r>
            <a:r>
              <a:rPr kumimoji="1" lang="ja-JP" altLang="en-US"/>
              <a:t>というメカニズムを、</a:t>
            </a:r>
            <a:r>
              <a:rPr kumimoji="1" lang="zh-MO" altLang="en-US"/>
              <a:t>関数</a:t>
            </a:r>
            <a:r>
              <a:rPr kumimoji="1" lang="ja-JP" altLang="en-US"/>
              <a:t>を</a:t>
            </a:r>
            <a:r>
              <a:rPr kumimoji="1" lang="zh-MO" altLang="en-US"/>
              <a:t>用</a:t>
            </a:r>
            <a:r>
              <a:rPr kumimoji="1" lang="ja-JP" altLang="en-US"/>
              <a:t>いて</a:t>
            </a:r>
            <a:r>
              <a:rPr kumimoji="1" lang="zh-MO" altLang="en-US"/>
              <a:t>解釈可能（</a:t>
            </a:r>
            <a:r>
              <a:rPr kumimoji="1" lang="en-GB" altLang="zh-MO"/>
              <a:t>Interpretable</a:t>
            </a:r>
            <a:r>
              <a:rPr kumimoji="1" lang="zh-MO" altLang="en-GB"/>
              <a:t>）</a:t>
            </a:r>
            <a:r>
              <a:rPr kumimoji="1" lang="ja-JP" altLang="en-US"/>
              <a:t>にすることが</a:t>
            </a:r>
            <a:r>
              <a:rPr kumimoji="1" lang="zh-MO" altLang="en-US"/>
              <a:t>本研究</a:t>
            </a:r>
            <a:r>
              <a:rPr kumimoji="1" lang="ja-JP" altLang="en-US"/>
              <a:t>の</a:t>
            </a:r>
            <a:r>
              <a:rPr kumimoji="1" lang="zh-MO" altLang="en-US"/>
              <a:t>最大</a:t>
            </a:r>
            <a:r>
              <a:rPr kumimoji="1" lang="ja-JP" altLang="en-US"/>
              <a:t>の</a:t>
            </a:r>
            <a:r>
              <a:rPr kumimoji="1" lang="zh-MO" altLang="en-US"/>
              <a:t>目的</a:t>
            </a:r>
            <a:r>
              <a:rPr kumimoji="1" lang="ja-JP" altLang="en-US"/>
              <a:t xml:space="preserve">です。」 </a:t>
            </a:r>
            <a:endParaRPr kumimoji="1" lang="zh-MO" altLang="en-US"/>
          </a:p>
        </p:txBody>
      </p:sp>
      <p:sp>
        <p:nvSpPr>
          <p:cNvPr id="4" name="投影片編號版面配置區 3"/>
          <p:cNvSpPr>
            <a:spLocks noGrp="1"/>
          </p:cNvSpPr>
          <p:nvPr>
            <p:ph type="sldNum" sz="quarter" idx="5"/>
          </p:nvPr>
        </p:nvSpPr>
        <p:spPr/>
        <p:txBody>
          <a:bodyPr/>
          <a:lstStyle/>
          <a:p>
            <a:fld id="{473A2168-166C-4812-A875-771FA95E51B4}" type="slidenum">
              <a:rPr kumimoji="1" lang="ja-JP" altLang="en-US" smtClean="0"/>
              <a:t>4</a:t>
            </a:fld>
            <a:endParaRPr kumimoji="1" lang="ja-JP" altLang="en-US"/>
          </a:p>
        </p:txBody>
      </p:sp>
    </p:spTree>
    <p:extLst>
      <p:ext uri="{BB962C8B-B14F-4D97-AF65-F5344CB8AC3E}">
        <p14:creationId xmlns:p14="http://schemas.microsoft.com/office/powerpoint/2010/main" val="2318401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MO" altLang="en-US"/>
          </a:p>
        </p:txBody>
      </p:sp>
      <p:sp>
        <p:nvSpPr>
          <p:cNvPr id="4" name="投影片編號版面配置區 3"/>
          <p:cNvSpPr>
            <a:spLocks noGrp="1"/>
          </p:cNvSpPr>
          <p:nvPr>
            <p:ph type="sldNum" sz="quarter" idx="5"/>
          </p:nvPr>
        </p:nvSpPr>
        <p:spPr/>
        <p:txBody>
          <a:bodyPr/>
          <a:lstStyle/>
          <a:p>
            <a:fld id="{473A2168-166C-4812-A875-771FA95E51B4}" type="slidenum">
              <a:rPr kumimoji="1" lang="ja-JP" altLang="en-US" smtClean="0"/>
              <a:t>9</a:t>
            </a:fld>
            <a:endParaRPr kumimoji="1" lang="ja-JP" altLang="en-US"/>
          </a:p>
        </p:txBody>
      </p:sp>
    </p:spTree>
    <p:extLst>
      <p:ext uri="{BB962C8B-B14F-4D97-AF65-F5344CB8AC3E}">
        <p14:creationId xmlns:p14="http://schemas.microsoft.com/office/powerpoint/2010/main" val="2709490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MO" altLang="en-US"/>
          </a:p>
        </p:txBody>
      </p:sp>
      <p:sp>
        <p:nvSpPr>
          <p:cNvPr id="4" name="投影片編號版面配置區 3"/>
          <p:cNvSpPr>
            <a:spLocks noGrp="1"/>
          </p:cNvSpPr>
          <p:nvPr>
            <p:ph type="sldNum" sz="quarter" idx="5"/>
          </p:nvPr>
        </p:nvSpPr>
        <p:spPr/>
        <p:txBody>
          <a:bodyPr/>
          <a:lstStyle/>
          <a:p>
            <a:fld id="{473A2168-166C-4812-A875-771FA95E51B4}" type="slidenum">
              <a:rPr kumimoji="1" lang="ja-JP" altLang="en-US" smtClean="0"/>
              <a:t>24</a:t>
            </a:fld>
            <a:endParaRPr kumimoji="1" lang="ja-JP" altLang="en-US"/>
          </a:p>
        </p:txBody>
      </p:sp>
    </p:spTree>
    <p:extLst>
      <p:ext uri="{BB962C8B-B14F-4D97-AF65-F5344CB8AC3E}">
        <p14:creationId xmlns:p14="http://schemas.microsoft.com/office/powerpoint/2010/main" val="3481230733"/>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8688E5-A9DA-3442-AEF1-E7A491144478}"/>
              </a:ext>
            </a:extLst>
          </p:cNvPr>
          <p:cNvSpPr>
            <a:spLocks noGrp="1"/>
          </p:cNvSpPr>
          <p:nvPr>
            <p:ph type="ctrTitle"/>
          </p:nvPr>
        </p:nvSpPr>
        <p:spPr>
          <a:xfrm>
            <a:off x="1524000" y="1122363"/>
            <a:ext cx="9144000" cy="1655762"/>
          </a:xfrm>
        </p:spPr>
        <p:txBody>
          <a:bodyPr anchor="b">
            <a:normAutofit/>
          </a:bodyPr>
          <a:lstStyle>
            <a:lvl1pPr algn="ctr">
              <a:defRPr sz="5400"/>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A0BDE31F-8F95-AA44-8974-356A87811BDA}"/>
              </a:ext>
            </a:extLst>
          </p:cNvPr>
          <p:cNvSpPr>
            <a:spLocks noGrp="1"/>
          </p:cNvSpPr>
          <p:nvPr>
            <p:ph type="subTitle" idx="1"/>
          </p:nvPr>
        </p:nvSpPr>
        <p:spPr>
          <a:xfrm>
            <a:off x="1524000" y="3602038"/>
            <a:ext cx="9144000" cy="1655762"/>
          </a:xfrm>
        </p:spPr>
        <p:txBody>
          <a:bodyPr>
            <a:normAutofit/>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100DC753-2971-4C48-886D-5A602795571F}"/>
              </a:ext>
            </a:extLst>
          </p:cNvPr>
          <p:cNvSpPr>
            <a:spLocks noGrp="1"/>
          </p:cNvSpPr>
          <p:nvPr>
            <p:ph type="dt" sz="half" idx="10"/>
          </p:nvPr>
        </p:nvSpPr>
        <p:spPr/>
        <p:txBody>
          <a:bodyPr/>
          <a:lstStyle/>
          <a:p>
            <a:r>
              <a:rPr kumimoji="1" lang="en-US" altLang="ja-JP"/>
              <a:t>2025/4/25</a:t>
            </a:r>
            <a:endParaRPr kumimoji="1" lang="ja-JP" altLang="en-US"/>
          </a:p>
        </p:txBody>
      </p:sp>
      <p:sp>
        <p:nvSpPr>
          <p:cNvPr id="5" name="フッター プレースホルダー 4">
            <a:extLst>
              <a:ext uri="{FF2B5EF4-FFF2-40B4-BE49-F238E27FC236}">
                <a16:creationId xmlns:a16="http://schemas.microsoft.com/office/drawing/2014/main" id="{12532A61-A370-7244-8EB6-720C961B7EF3}"/>
              </a:ext>
            </a:extLst>
          </p:cNvPr>
          <p:cNvSpPr>
            <a:spLocks noGrp="1"/>
          </p:cNvSpPr>
          <p:nvPr>
            <p:ph type="ftr" sz="quarter" idx="11"/>
          </p:nvPr>
        </p:nvSpPr>
        <p:spPr/>
        <p:txBody>
          <a:body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7D5D45CA-781F-3E43-85E3-C5F044A6DB84}"/>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2440134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B0C765-E943-1C47-A5AC-8CAD1BC318C3}"/>
              </a:ext>
            </a:extLst>
          </p:cNvPr>
          <p:cNvSpPr>
            <a:spLocks noGrp="1"/>
          </p:cNvSpPr>
          <p:nvPr>
            <p:ph type="title"/>
          </p:nvPr>
        </p:nvSpPr>
        <p:spPr>
          <a:xfrm>
            <a:off x="838200" y="283171"/>
            <a:ext cx="10515600" cy="897145"/>
          </a:xfrm>
        </p:spPr>
        <p:txBody>
          <a:bodyPr>
            <a:normAutofit/>
          </a:bodyPr>
          <a:lstStyle>
            <a:lvl1pPr>
              <a:defRPr sz="4000">
                <a:latin typeface="HGPSoeiKakugothicUB" panose="020B0900000000000000" pitchFamily="34" charset="-128"/>
                <a:ea typeface="HGPSoeiKakugothicUB" panose="020B0900000000000000" pitchFamily="34"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015AC90-9896-934C-803E-9FCBA0E247B0}"/>
              </a:ext>
            </a:extLst>
          </p:cNvPr>
          <p:cNvSpPr>
            <a:spLocks noGrp="1"/>
          </p:cNvSpPr>
          <p:nvPr>
            <p:ph idx="1"/>
          </p:nvPr>
        </p:nvSpPr>
        <p:spPr>
          <a:xfrm>
            <a:off x="838200" y="1180316"/>
            <a:ext cx="10515600" cy="4996647"/>
          </a:xfrm>
        </p:spPr>
        <p:txBody>
          <a:bodyPr/>
          <a:lstStyle>
            <a:lvl1pPr>
              <a:defRPr>
                <a:latin typeface="HGPSoeiKakugothicUB" panose="020B0900000000000000" pitchFamily="34" charset="-128"/>
                <a:ea typeface="HGPSoeiKakugothicUB" panose="020B0900000000000000" pitchFamily="34" charset="-128"/>
              </a:defRPr>
            </a:lvl1pPr>
            <a:lvl2pPr>
              <a:defRPr>
                <a:latin typeface="HGPSoeiKakugothicUB" panose="020B0900000000000000" pitchFamily="34" charset="-128"/>
                <a:ea typeface="HGPSoeiKakugothicUB" panose="020B0900000000000000" pitchFamily="34" charset="-128"/>
              </a:defRPr>
            </a:lvl2pPr>
            <a:lvl3pPr>
              <a:defRPr>
                <a:latin typeface="HGPSoeiKakugothicUB" panose="020B0900000000000000" pitchFamily="34" charset="-128"/>
                <a:ea typeface="HGPSoeiKakugothicUB" panose="020B0900000000000000" pitchFamily="34" charset="-128"/>
              </a:defRPr>
            </a:lvl3pPr>
            <a:lvl4pPr>
              <a:defRPr>
                <a:latin typeface="HGPSoeiKakugothicUB" panose="020B0900000000000000" pitchFamily="34" charset="-128"/>
                <a:ea typeface="HGPSoeiKakugothicUB" panose="020B0900000000000000" pitchFamily="34" charset="-128"/>
              </a:defRPr>
            </a:lvl4pPr>
            <a:lvl5pPr>
              <a:defRPr>
                <a:latin typeface="HGPSoeiKakugothicUB" panose="020B0900000000000000" pitchFamily="34" charset="-128"/>
                <a:ea typeface="HGPSoeiKakugothicUB" panose="020B0900000000000000" pitchFamily="34" charset="-128"/>
              </a:defRPr>
            </a:lvl5pPr>
          </a:lstStyle>
          <a:p>
            <a:pPr lvl="0"/>
            <a:r>
              <a:rPr kumimoji="1" lang="ja-JP" altLang="en-US" dirty="0"/>
              <a:t>マスター テキストの書式設定</a:t>
            </a:r>
          </a:p>
          <a:p>
            <a:pPr lvl="1"/>
            <a:r>
              <a:rPr kumimoji="1" lang="ja-JP" altLang="en-US" dirty="0"/>
              <a:t xml:space="preserve">第 </a:t>
            </a:r>
            <a:r>
              <a:rPr kumimoji="1" lang="en-US" altLang="ja-JP" dirty="0"/>
              <a:t xml:space="preserve">2 </a:t>
            </a:r>
            <a:r>
              <a:rPr kumimoji="1" lang="ja-JP" altLang="en-US" dirty="0"/>
              <a:t>レベル</a:t>
            </a:r>
          </a:p>
          <a:p>
            <a:pPr lvl="2"/>
            <a:r>
              <a:rPr kumimoji="1" lang="ja-JP" altLang="en-US" dirty="0"/>
              <a:t xml:space="preserve">第 </a:t>
            </a:r>
            <a:r>
              <a:rPr kumimoji="1" lang="en-US" altLang="ja-JP" dirty="0"/>
              <a:t xml:space="preserve">3 </a:t>
            </a:r>
            <a:r>
              <a:rPr kumimoji="1" lang="ja-JP" altLang="en-US" dirty="0"/>
              <a:t>レベル</a:t>
            </a:r>
          </a:p>
          <a:p>
            <a:pPr lvl="3"/>
            <a:r>
              <a:rPr kumimoji="1" lang="ja-JP" altLang="en-US" dirty="0"/>
              <a:t xml:space="preserve">第 </a:t>
            </a:r>
            <a:r>
              <a:rPr kumimoji="1" lang="en-US" altLang="ja-JP" dirty="0"/>
              <a:t xml:space="preserve">4 </a:t>
            </a:r>
            <a:r>
              <a:rPr kumimoji="1" lang="ja-JP" altLang="en-US" dirty="0"/>
              <a:t>レベル</a:t>
            </a:r>
          </a:p>
          <a:p>
            <a:pPr lvl="4"/>
            <a:r>
              <a:rPr kumimoji="1" lang="ja-JP" altLang="en-US" dirty="0"/>
              <a:t xml:space="preserve">第 </a:t>
            </a:r>
            <a:r>
              <a:rPr kumimoji="1" lang="en-US" altLang="ja-JP" dirty="0"/>
              <a:t xml:space="preserve">5 </a:t>
            </a:r>
            <a:r>
              <a:rPr kumimoji="1" lang="ja-JP" altLang="en-US" dirty="0"/>
              <a:t>レベル</a:t>
            </a:r>
          </a:p>
        </p:txBody>
      </p:sp>
      <p:sp>
        <p:nvSpPr>
          <p:cNvPr id="4" name="日付プレースホルダー 3">
            <a:extLst>
              <a:ext uri="{FF2B5EF4-FFF2-40B4-BE49-F238E27FC236}">
                <a16:creationId xmlns:a16="http://schemas.microsoft.com/office/drawing/2014/main" id="{E0E6B636-B0E8-A74A-AB32-DE3A3DD58E0B}"/>
              </a:ext>
            </a:extLst>
          </p:cNvPr>
          <p:cNvSpPr>
            <a:spLocks noGrp="1"/>
          </p:cNvSpPr>
          <p:nvPr>
            <p:ph type="dt" sz="half" idx="10"/>
          </p:nvPr>
        </p:nvSpPr>
        <p:spPr/>
        <p:txBody>
          <a:bodyPr/>
          <a:lstStyle>
            <a:lvl1pPr>
              <a:defRPr sz="1400">
                <a:solidFill>
                  <a:schemeClr val="tx1"/>
                </a:solidFill>
                <a:latin typeface="HGP創英角ｺﾞｼｯｸUB" panose="020B0900000000000000" pitchFamily="50" charset="-128"/>
                <a:ea typeface="HGP創英角ｺﾞｼｯｸUB" panose="020B0900000000000000" pitchFamily="50" charset="-128"/>
              </a:defRPr>
            </a:lvl1pPr>
          </a:lstStyle>
          <a:p>
            <a:r>
              <a:rPr lang="en-US" altLang="ja-JP"/>
              <a:t>2025/4/25</a:t>
            </a:r>
            <a:endParaRPr lang="ja-JP" altLang="en-US"/>
          </a:p>
        </p:txBody>
      </p:sp>
      <p:sp>
        <p:nvSpPr>
          <p:cNvPr id="5" name="フッター プレースホルダー 4">
            <a:extLst>
              <a:ext uri="{FF2B5EF4-FFF2-40B4-BE49-F238E27FC236}">
                <a16:creationId xmlns:a16="http://schemas.microsoft.com/office/drawing/2014/main" id="{166F6AE5-A6A8-274A-B800-73EEE7ABE73D}"/>
              </a:ext>
            </a:extLst>
          </p:cNvPr>
          <p:cNvSpPr>
            <a:spLocks noGrp="1"/>
          </p:cNvSpPr>
          <p:nvPr>
            <p:ph type="ftr" sz="quarter" idx="11"/>
          </p:nvPr>
        </p:nvSpPr>
        <p:spPr/>
        <p:txBody>
          <a:body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7CACC24F-DE97-3A43-B124-408F5E23FCF5}"/>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59E9DA0B-BC4C-394A-B319-3BB68D18EFE1}"/>
              </a:ext>
            </a:extLst>
          </p:cNvPr>
          <p:cNvSpPr/>
          <p:nvPr/>
        </p:nvSpPr>
        <p:spPr>
          <a:xfrm>
            <a:off x="3313" y="-6665"/>
            <a:ext cx="12188687" cy="285416"/>
          </a:xfrm>
          <a:prstGeom prst="rect">
            <a:avLst/>
          </a:prstGeom>
          <a:solidFill>
            <a:srgbClr val="054E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ja-JP" altLang="en-US">
              <a:solidFill>
                <a:prstClr val="white"/>
              </a:solidFill>
            </a:endParaRPr>
          </a:p>
        </p:txBody>
      </p:sp>
      <p:pic>
        <p:nvPicPr>
          <p:cNvPr id="8" name="図 7">
            <a:extLst>
              <a:ext uri="{FF2B5EF4-FFF2-40B4-BE49-F238E27FC236}">
                <a16:creationId xmlns:a16="http://schemas.microsoft.com/office/drawing/2014/main" id="{ED264F73-56AC-D345-B514-4FC66096D8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2378" y="-60560"/>
            <a:ext cx="1606378" cy="385530"/>
          </a:xfrm>
          <a:prstGeom prst="rect">
            <a:avLst/>
          </a:prstGeom>
        </p:spPr>
      </p:pic>
      <p:sp>
        <p:nvSpPr>
          <p:cNvPr id="10" name="テキスト ボックス 9">
            <a:extLst>
              <a:ext uri="{FF2B5EF4-FFF2-40B4-BE49-F238E27FC236}">
                <a16:creationId xmlns:a16="http://schemas.microsoft.com/office/drawing/2014/main" id="{FAE05662-DDBB-16E2-6666-8AD2A26C8D7D}"/>
              </a:ext>
            </a:extLst>
          </p:cNvPr>
          <p:cNvSpPr txBox="1"/>
          <p:nvPr/>
        </p:nvSpPr>
        <p:spPr>
          <a:xfrm>
            <a:off x="11111255" y="-18112"/>
            <a:ext cx="1080745" cy="338554"/>
          </a:xfrm>
          <a:prstGeom prst="rect">
            <a:avLst/>
          </a:prstGeom>
          <a:noFill/>
        </p:spPr>
        <p:txBody>
          <a:bodyPr wrap="none" rtlCol="0">
            <a:spAutoFit/>
          </a:bodyPr>
          <a:lstStyle/>
          <a:p>
            <a:r>
              <a:rPr lang="en-US" altLang="ja-JP" sz="1600">
                <a:solidFill>
                  <a:prstClr val="white"/>
                </a:solidFill>
                <a:latin typeface="Adobe Fan Heiti Std B" pitchFamily="34" charset="-128"/>
                <a:ea typeface="Adobe Fan Heiti Std B" pitchFamily="34" charset="-128"/>
              </a:rPr>
              <a:t xml:space="preserve"> Doly Lab</a:t>
            </a:r>
            <a:endParaRPr lang="ja-JP" altLang="en-US" sz="1600" b="1">
              <a:solidFill>
                <a:prstClr val="white">
                  <a:lumMod val="75000"/>
                </a:prstClr>
              </a:solidFill>
              <a:latin typeface="Adobe Fan Heiti Std B" pitchFamily="34" charset="-128"/>
              <a:ea typeface="Adobe Fan Heiti Std B" pitchFamily="34" charset="-128"/>
            </a:endParaRPr>
          </a:p>
        </p:txBody>
      </p:sp>
    </p:spTree>
    <p:extLst>
      <p:ext uri="{BB962C8B-B14F-4D97-AF65-F5344CB8AC3E}">
        <p14:creationId xmlns:p14="http://schemas.microsoft.com/office/powerpoint/2010/main" val="150782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AD6372-4194-C645-B654-0AE72240266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828210-EA0E-3042-8F32-D495B95C3C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9196C85-580E-5945-A383-5F434080D356}"/>
              </a:ext>
            </a:extLst>
          </p:cNvPr>
          <p:cNvSpPr>
            <a:spLocks noGrp="1"/>
          </p:cNvSpPr>
          <p:nvPr>
            <p:ph type="dt" sz="half" idx="10"/>
          </p:nvPr>
        </p:nvSpPr>
        <p:spPr/>
        <p:txBody>
          <a:bodyPr/>
          <a:lstStyle/>
          <a:p>
            <a:r>
              <a:rPr kumimoji="1" lang="en-US" altLang="ja-JP"/>
              <a:t>2025/4/25</a:t>
            </a:r>
            <a:endParaRPr kumimoji="1" lang="ja-JP" altLang="en-US"/>
          </a:p>
        </p:txBody>
      </p:sp>
      <p:sp>
        <p:nvSpPr>
          <p:cNvPr id="5" name="フッター プレースホルダー 4">
            <a:extLst>
              <a:ext uri="{FF2B5EF4-FFF2-40B4-BE49-F238E27FC236}">
                <a16:creationId xmlns:a16="http://schemas.microsoft.com/office/drawing/2014/main" id="{C6D1029B-DF4E-8741-8AD1-A55B1714C1B7}"/>
              </a:ext>
            </a:extLst>
          </p:cNvPr>
          <p:cNvSpPr>
            <a:spLocks noGrp="1"/>
          </p:cNvSpPr>
          <p:nvPr>
            <p:ph type="ftr" sz="quarter" idx="11"/>
          </p:nvPr>
        </p:nvSpPr>
        <p:spPr/>
        <p:txBody>
          <a:body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A790D3C2-0013-DF49-B524-B791F023253B}"/>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607599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DA2AA1-20C9-4E47-86C4-9414838D84D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5BCD48-CBA5-8F4D-A77D-C699ED5F2B1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4" name="コンテンツ プレースホルダー 3">
            <a:extLst>
              <a:ext uri="{FF2B5EF4-FFF2-40B4-BE49-F238E27FC236}">
                <a16:creationId xmlns:a16="http://schemas.microsoft.com/office/drawing/2014/main" id="{5F580237-6806-AC43-9D78-DF4407727B1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5" name="日付プレースホルダー 4">
            <a:extLst>
              <a:ext uri="{FF2B5EF4-FFF2-40B4-BE49-F238E27FC236}">
                <a16:creationId xmlns:a16="http://schemas.microsoft.com/office/drawing/2014/main" id="{0244888B-638E-A344-986B-0C54527E24B5}"/>
              </a:ext>
            </a:extLst>
          </p:cNvPr>
          <p:cNvSpPr>
            <a:spLocks noGrp="1"/>
          </p:cNvSpPr>
          <p:nvPr>
            <p:ph type="dt" sz="half" idx="10"/>
          </p:nvPr>
        </p:nvSpPr>
        <p:spPr/>
        <p:txBody>
          <a:bodyPr/>
          <a:lstStyle/>
          <a:p>
            <a:r>
              <a:rPr kumimoji="1" lang="en-US" altLang="ja-JP"/>
              <a:t>2025/4/25</a:t>
            </a:r>
            <a:endParaRPr kumimoji="1" lang="ja-JP" altLang="en-US"/>
          </a:p>
        </p:txBody>
      </p:sp>
      <p:sp>
        <p:nvSpPr>
          <p:cNvPr id="6" name="フッター プレースホルダー 5">
            <a:extLst>
              <a:ext uri="{FF2B5EF4-FFF2-40B4-BE49-F238E27FC236}">
                <a16:creationId xmlns:a16="http://schemas.microsoft.com/office/drawing/2014/main" id="{B4FC87A1-A903-504C-90BD-B41001FF75BE}"/>
              </a:ext>
            </a:extLst>
          </p:cNvPr>
          <p:cNvSpPr>
            <a:spLocks noGrp="1"/>
          </p:cNvSpPr>
          <p:nvPr>
            <p:ph type="ftr" sz="quarter" idx="11"/>
          </p:nvPr>
        </p:nvSpPr>
        <p:spPr/>
        <p:txBody>
          <a:bodyPr/>
          <a:lstStyle/>
          <a:p>
            <a:r>
              <a:rPr kumimoji="1" lang="ja-JP" altLang="en-US"/>
              <a:t>生体ゼミ教科書輪講</a:t>
            </a:r>
          </a:p>
        </p:txBody>
      </p:sp>
      <p:sp>
        <p:nvSpPr>
          <p:cNvPr id="7" name="スライド番号プレースホルダー 6">
            <a:extLst>
              <a:ext uri="{FF2B5EF4-FFF2-40B4-BE49-F238E27FC236}">
                <a16:creationId xmlns:a16="http://schemas.microsoft.com/office/drawing/2014/main" id="{EA01CA8C-7BB2-914A-9F9D-4E5D0350C2DB}"/>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1962524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99A9BF-C386-FD43-8E7E-063236D565F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6304EA-95E9-A642-BDAC-030E631437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2C364A4-19D6-4B47-A612-22806D583AB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5" name="テキスト プレースホルダー 4">
            <a:extLst>
              <a:ext uri="{FF2B5EF4-FFF2-40B4-BE49-F238E27FC236}">
                <a16:creationId xmlns:a16="http://schemas.microsoft.com/office/drawing/2014/main" id="{C0B8DFCE-6645-5945-82CD-DBAA8E9E65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0EABCDD-E2F8-4B47-9231-CAFCE6E0EE7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7" name="日付プレースホルダー 6">
            <a:extLst>
              <a:ext uri="{FF2B5EF4-FFF2-40B4-BE49-F238E27FC236}">
                <a16:creationId xmlns:a16="http://schemas.microsoft.com/office/drawing/2014/main" id="{E791966A-B337-9E41-A6AF-C23AECDA2D7F}"/>
              </a:ext>
            </a:extLst>
          </p:cNvPr>
          <p:cNvSpPr>
            <a:spLocks noGrp="1"/>
          </p:cNvSpPr>
          <p:nvPr>
            <p:ph type="dt" sz="half" idx="10"/>
          </p:nvPr>
        </p:nvSpPr>
        <p:spPr/>
        <p:txBody>
          <a:bodyPr/>
          <a:lstStyle/>
          <a:p>
            <a:r>
              <a:rPr kumimoji="1" lang="en-US" altLang="ja-JP"/>
              <a:t>2025/4/25</a:t>
            </a:r>
            <a:endParaRPr kumimoji="1" lang="ja-JP" altLang="en-US"/>
          </a:p>
        </p:txBody>
      </p:sp>
      <p:sp>
        <p:nvSpPr>
          <p:cNvPr id="8" name="フッター プレースホルダー 7">
            <a:extLst>
              <a:ext uri="{FF2B5EF4-FFF2-40B4-BE49-F238E27FC236}">
                <a16:creationId xmlns:a16="http://schemas.microsoft.com/office/drawing/2014/main" id="{9E5A5577-DC7E-A545-A606-873555B88582}"/>
              </a:ext>
            </a:extLst>
          </p:cNvPr>
          <p:cNvSpPr>
            <a:spLocks noGrp="1"/>
          </p:cNvSpPr>
          <p:nvPr>
            <p:ph type="ftr" sz="quarter" idx="11"/>
          </p:nvPr>
        </p:nvSpPr>
        <p:spPr/>
        <p:txBody>
          <a:bodyPr/>
          <a:lstStyle/>
          <a:p>
            <a:r>
              <a:rPr kumimoji="1" lang="ja-JP" altLang="en-US"/>
              <a:t>生体ゼミ教科書輪講</a:t>
            </a:r>
          </a:p>
        </p:txBody>
      </p:sp>
      <p:sp>
        <p:nvSpPr>
          <p:cNvPr id="9" name="スライド番号プレースホルダー 8">
            <a:extLst>
              <a:ext uri="{FF2B5EF4-FFF2-40B4-BE49-F238E27FC236}">
                <a16:creationId xmlns:a16="http://schemas.microsoft.com/office/drawing/2014/main" id="{B2F9F616-A1B6-7844-8C3E-AB6E731372AE}"/>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244106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DCFE7C-03C7-1D4C-8122-64621663938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54A4DE7-A664-724B-9EAE-E7909E4897A3}"/>
              </a:ext>
            </a:extLst>
          </p:cNvPr>
          <p:cNvSpPr>
            <a:spLocks noGrp="1"/>
          </p:cNvSpPr>
          <p:nvPr>
            <p:ph type="dt" sz="half" idx="10"/>
          </p:nvPr>
        </p:nvSpPr>
        <p:spPr/>
        <p:txBody>
          <a:bodyPr/>
          <a:lstStyle/>
          <a:p>
            <a:r>
              <a:rPr kumimoji="1" lang="en-US" altLang="ja-JP"/>
              <a:t>2025/4/25</a:t>
            </a:r>
            <a:endParaRPr kumimoji="1" lang="ja-JP" altLang="en-US"/>
          </a:p>
        </p:txBody>
      </p:sp>
      <p:sp>
        <p:nvSpPr>
          <p:cNvPr id="4" name="フッター プレースホルダー 3">
            <a:extLst>
              <a:ext uri="{FF2B5EF4-FFF2-40B4-BE49-F238E27FC236}">
                <a16:creationId xmlns:a16="http://schemas.microsoft.com/office/drawing/2014/main" id="{BA590369-8F5B-2B40-ACF0-FDE1155DFF22}"/>
              </a:ext>
            </a:extLst>
          </p:cNvPr>
          <p:cNvSpPr>
            <a:spLocks noGrp="1"/>
          </p:cNvSpPr>
          <p:nvPr>
            <p:ph type="ftr" sz="quarter" idx="11"/>
          </p:nvPr>
        </p:nvSpPr>
        <p:spPr/>
        <p:txBody>
          <a:bodyPr/>
          <a:lstStyle/>
          <a:p>
            <a:r>
              <a:rPr kumimoji="1" lang="ja-JP" altLang="en-US"/>
              <a:t>生体ゼミ教科書輪講</a:t>
            </a:r>
          </a:p>
        </p:txBody>
      </p:sp>
      <p:sp>
        <p:nvSpPr>
          <p:cNvPr id="5" name="スライド番号プレースホルダー 4">
            <a:extLst>
              <a:ext uri="{FF2B5EF4-FFF2-40B4-BE49-F238E27FC236}">
                <a16:creationId xmlns:a16="http://schemas.microsoft.com/office/drawing/2014/main" id="{FF038A31-959B-0B42-BE1F-D5794A8A47F2}"/>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925695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0DB2939-B3E7-D949-A479-BB850B8CA4F6}"/>
              </a:ext>
            </a:extLst>
          </p:cNvPr>
          <p:cNvSpPr>
            <a:spLocks noGrp="1"/>
          </p:cNvSpPr>
          <p:nvPr>
            <p:ph type="dt" sz="half" idx="10"/>
          </p:nvPr>
        </p:nvSpPr>
        <p:spPr/>
        <p:txBody>
          <a:bodyPr/>
          <a:lstStyle/>
          <a:p>
            <a:r>
              <a:rPr kumimoji="1" lang="en-US" altLang="ja-JP"/>
              <a:t>2025/4/25</a:t>
            </a:r>
            <a:endParaRPr kumimoji="1" lang="ja-JP" altLang="en-US"/>
          </a:p>
        </p:txBody>
      </p:sp>
      <p:sp>
        <p:nvSpPr>
          <p:cNvPr id="3" name="フッター プレースホルダー 2">
            <a:extLst>
              <a:ext uri="{FF2B5EF4-FFF2-40B4-BE49-F238E27FC236}">
                <a16:creationId xmlns:a16="http://schemas.microsoft.com/office/drawing/2014/main" id="{178A5A7F-E70E-C44C-9215-FAFFBE377B67}"/>
              </a:ext>
            </a:extLst>
          </p:cNvPr>
          <p:cNvSpPr>
            <a:spLocks noGrp="1"/>
          </p:cNvSpPr>
          <p:nvPr>
            <p:ph type="ftr" sz="quarter" idx="11"/>
          </p:nvPr>
        </p:nvSpPr>
        <p:spPr/>
        <p:txBody>
          <a:bodyPr/>
          <a:lstStyle/>
          <a:p>
            <a:r>
              <a:rPr kumimoji="1" lang="ja-JP" altLang="en-US"/>
              <a:t>生体ゼミ教科書輪講</a:t>
            </a:r>
          </a:p>
        </p:txBody>
      </p:sp>
      <p:sp>
        <p:nvSpPr>
          <p:cNvPr id="4" name="スライド番号プレースホルダー 3">
            <a:extLst>
              <a:ext uri="{FF2B5EF4-FFF2-40B4-BE49-F238E27FC236}">
                <a16:creationId xmlns:a16="http://schemas.microsoft.com/office/drawing/2014/main" id="{B33C0FDD-EFDC-E640-B36A-33ACE16A6B60}"/>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3770308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447CB8-2466-334A-99E7-8CFDF9A5950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838351-C2B5-F64E-B94C-B9C5931AB4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4" name="テキスト プレースホルダー 3">
            <a:extLst>
              <a:ext uri="{FF2B5EF4-FFF2-40B4-BE49-F238E27FC236}">
                <a16:creationId xmlns:a16="http://schemas.microsoft.com/office/drawing/2014/main" id="{50FB690A-7A04-C640-98FD-CBFBA7A57F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97825A3-FDEC-AD44-B6E8-B058DF3A3E4D}"/>
              </a:ext>
            </a:extLst>
          </p:cNvPr>
          <p:cNvSpPr>
            <a:spLocks noGrp="1"/>
          </p:cNvSpPr>
          <p:nvPr>
            <p:ph type="dt" sz="half" idx="10"/>
          </p:nvPr>
        </p:nvSpPr>
        <p:spPr/>
        <p:txBody>
          <a:bodyPr/>
          <a:lstStyle/>
          <a:p>
            <a:r>
              <a:rPr kumimoji="1" lang="en-US" altLang="ja-JP"/>
              <a:t>2025/4/25</a:t>
            </a:r>
            <a:endParaRPr kumimoji="1" lang="ja-JP" altLang="en-US"/>
          </a:p>
        </p:txBody>
      </p:sp>
      <p:sp>
        <p:nvSpPr>
          <p:cNvPr id="6" name="フッター プレースホルダー 5">
            <a:extLst>
              <a:ext uri="{FF2B5EF4-FFF2-40B4-BE49-F238E27FC236}">
                <a16:creationId xmlns:a16="http://schemas.microsoft.com/office/drawing/2014/main" id="{53092AD1-03A6-9148-8FCA-92C72B294967}"/>
              </a:ext>
            </a:extLst>
          </p:cNvPr>
          <p:cNvSpPr>
            <a:spLocks noGrp="1"/>
          </p:cNvSpPr>
          <p:nvPr>
            <p:ph type="ftr" sz="quarter" idx="11"/>
          </p:nvPr>
        </p:nvSpPr>
        <p:spPr/>
        <p:txBody>
          <a:bodyPr/>
          <a:lstStyle/>
          <a:p>
            <a:r>
              <a:rPr kumimoji="1" lang="ja-JP" altLang="en-US"/>
              <a:t>生体ゼミ教科書輪講</a:t>
            </a:r>
          </a:p>
        </p:txBody>
      </p:sp>
      <p:sp>
        <p:nvSpPr>
          <p:cNvPr id="7" name="スライド番号プレースホルダー 6">
            <a:extLst>
              <a:ext uri="{FF2B5EF4-FFF2-40B4-BE49-F238E27FC236}">
                <a16:creationId xmlns:a16="http://schemas.microsoft.com/office/drawing/2014/main" id="{F7354A34-E411-5B4C-A6F1-5A712461D3D8}"/>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2315293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B77633-C38C-0A4C-9A54-F21ED7FBC4B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156D195-1A0C-404E-9265-DF447E359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862EE043-8624-7C4D-B342-192A2FAB4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015ABFF-CC3A-4F49-BFE8-44D1A8D72118}"/>
              </a:ext>
            </a:extLst>
          </p:cNvPr>
          <p:cNvSpPr>
            <a:spLocks noGrp="1"/>
          </p:cNvSpPr>
          <p:nvPr>
            <p:ph type="dt" sz="half" idx="10"/>
          </p:nvPr>
        </p:nvSpPr>
        <p:spPr/>
        <p:txBody>
          <a:bodyPr/>
          <a:lstStyle/>
          <a:p>
            <a:r>
              <a:rPr kumimoji="1" lang="en-US" altLang="ja-JP"/>
              <a:t>2025/4/25</a:t>
            </a:r>
            <a:endParaRPr kumimoji="1" lang="ja-JP" altLang="en-US"/>
          </a:p>
        </p:txBody>
      </p:sp>
      <p:sp>
        <p:nvSpPr>
          <p:cNvPr id="6" name="フッター プレースホルダー 5">
            <a:extLst>
              <a:ext uri="{FF2B5EF4-FFF2-40B4-BE49-F238E27FC236}">
                <a16:creationId xmlns:a16="http://schemas.microsoft.com/office/drawing/2014/main" id="{843FFCB0-249C-F24C-A9FC-9A2ECF58F5F4}"/>
              </a:ext>
            </a:extLst>
          </p:cNvPr>
          <p:cNvSpPr>
            <a:spLocks noGrp="1"/>
          </p:cNvSpPr>
          <p:nvPr>
            <p:ph type="ftr" sz="quarter" idx="11"/>
          </p:nvPr>
        </p:nvSpPr>
        <p:spPr/>
        <p:txBody>
          <a:bodyPr/>
          <a:lstStyle/>
          <a:p>
            <a:r>
              <a:rPr kumimoji="1" lang="ja-JP" altLang="en-US"/>
              <a:t>生体ゼミ教科書輪講</a:t>
            </a:r>
          </a:p>
        </p:txBody>
      </p:sp>
      <p:sp>
        <p:nvSpPr>
          <p:cNvPr id="7" name="スライド番号プレースホルダー 6">
            <a:extLst>
              <a:ext uri="{FF2B5EF4-FFF2-40B4-BE49-F238E27FC236}">
                <a16:creationId xmlns:a16="http://schemas.microsoft.com/office/drawing/2014/main" id="{7D729036-5392-464E-AE4A-9460E1C28B69}"/>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1651933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474669-83B8-9F47-8C4F-54F5BE57244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33F19A-FA7E-974D-A3E2-FE93688B678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4" name="日付プレースホルダー 3">
            <a:extLst>
              <a:ext uri="{FF2B5EF4-FFF2-40B4-BE49-F238E27FC236}">
                <a16:creationId xmlns:a16="http://schemas.microsoft.com/office/drawing/2014/main" id="{A2EA6E32-FDFB-1646-B0F7-8A810A6B8298}"/>
              </a:ext>
            </a:extLst>
          </p:cNvPr>
          <p:cNvSpPr>
            <a:spLocks noGrp="1"/>
          </p:cNvSpPr>
          <p:nvPr>
            <p:ph type="dt" sz="half" idx="10"/>
          </p:nvPr>
        </p:nvSpPr>
        <p:spPr/>
        <p:txBody>
          <a:bodyPr/>
          <a:lstStyle/>
          <a:p>
            <a:r>
              <a:rPr kumimoji="1" lang="en-US" altLang="ja-JP"/>
              <a:t>2025/4/25</a:t>
            </a:r>
            <a:endParaRPr kumimoji="1" lang="ja-JP" altLang="en-US"/>
          </a:p>
        </p:txBody>
      </p:sp>
      <p:sp>
        <p:nvSpPr>
          <p:cNvPr id="5" name="フッター プレースホルダー 4">
            <a:extLst>
              <a:ext uri="{FF2B5EF4-FFF2-40B4-BE49-F238E27FC236}">
                <a16:creationId xmlns:a16="http://schemas.microsoft.com/office/drawing/2014/main" id="{C4086818-EE33-C94B-B908-8771FE36DD53}"/>
              </a:ext>
            </a:extLst>
          </p:cNvPr>
          <p:cNvSpPr>
            <a:spLocks noGrp="1"/>
          </p:cNvSpPr>
          <p:nvPr>
            <p:ph type="ftr" sz="quarter" idx="11"/>
          </p:nvPr>
        </p:nvSpPr>
        <p:spPr/>
        <p:txBody>
          <a:body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04C680B2-947A-1A44-8771-15679A558A77}"/>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270255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5A5AC01-7318-6344-97D6-66F09471D5A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F5549B-EB6C-744E-8700-A4642BDE134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 xml:space="preserve">第 </a:t>
            </a:r>
            <a:r>
              <a:rPr kumimoji="1" lang="en-US" altLang="ja-JP"/>
              <a:t xml:space="preserve">2 </a:t>
            </a:r>
            <a:r>
              <a:rPr kumimoji="1" lang="ja-JP" altLang="en-US"/>
              <a:t>レベル</a:t>
            </a:r>
          </a:p>
          <a:p>
            <a:pPr lvl="2"/>
            <a:r>
              <a:rPr kumimoji="1" lang="ja-JP" altLang="en-US"/>
              <a:t xml:space="preserve">第 </a:t>
            </a:r>
            <a:r>
              <a:rPr kumimoji="1" lang="en-US" altLang="ja-JP"/>
              <a:t xml:space="preserve">3 </a:t>
            </a:r>
            <a:r>
              <a:rPr kumimoji="1" lang="ja-JP" altLang="en-US"/>
              <a:t>レベル</a:t>
            </a:r>
          </a:p>
          <a:p>
            <a:pPr lvl="3"/>
            <a:r>
              <a:rPr kumimoji="1" lang="ja-JP" altLang="en-US"/>
              <a:t xml:space="preserve">第 </a:t>
            </a:r>
            <a:r>
              <a:rPr kumimoji="1" lang="en-US" altLang="ja-JP"/>
              <a:t xml:space="preserve">4 </a:t>
            </a:r>
            <a:r>
              <a:rPr kumimoji="1" lang="ja-JP" altLang="en-US"/>
              <a:t>レベル</a:t>
            </a:r>
          </a:p>
          <a:p>
            <a:pPr lvl="4"/>
            <a:r>
              <a:rPr kumimoji="1" lang="ja-JP" altLang="en-US"/>
              <a:t xml:space="preserve">第 </a:t>
            </a:r>
            <a:r>
              <a:rPr kumimoji="1" lang="en-US" altLang="ja-JP"/>
              <a:t xml:space="preserve">5 </a:t>
            </a:r>
            <a:r>
              <a:rPr kumimoji="1" lang="ja-JP" altLang="en-US"/>
              <a:t>レベル</a:t>
            </a:r>
          </a:p>
        </p:txBody>
      </p:sp>
      <p:sp>
        <p:nvSpPr>
          <p:cNvPr id="4" name="日付プレースホルダー 3">
            <a:extLst>
              <a:ext uri="{FF2B5EF4-FFF2-40B4-BE49-F238E27FC236}">
                <a16:creationId xmlns:a16="http://schemas.microsoft.com/office/drawing/2014/main" id="{125A3CA7-0A42-E44D-B51F-53E4D93AD97F}"/>
              </a:ext>
            </a:extLst>
          </p:cNvPr>
          <p:cNvSpPr>
            <a:spLocks noGrp="1"/>
          </p:cNvSpPr>
          <p:nvPr>
            <p:ph type="dt" sz="half" idx="10"/>
          </p:nvPr>
        </p:nvSpPr>
        <p:spPr/>
        <p:txBody>
          <a:bodyPr/>
          <a:lstStyle/>
          <a:p>
            <a:r>
              <a:rPr kumimoji="1" lang="en-US" altLang="ja-JP"/>
              <a:t>2025/4/25</a:t>
            </a:r>
            <a:endParaRPr kumimoji="1" lang="ja-JP" altLang="en-US"/>
          </a:p>
        </p:txBody>
      </p:sp>
      <p:sp>
        <p:nvSpPr>
          <p:cNvPr id="5" name="フッター プレースホルダー 4">
            <a:extLst>
              <a:ext uri="{FF2B5EF4-FFF2-40B4-BE49-F238E27FC236}">
                <a16:creationId xmlns:a16="http://schemas.microsoft.com/office/drawing/2014/main" id="{354812D5-AFA7-684D-B426-DF6E358629AD}"/>
              </a:ext>
            </a:extLst>
          </p:cNvPr>
          <p:cNvSpPr>
            <a:spLocks noGrp="1"/>
          </p:cNvSpPr>
          <p:nvPr>
            <p:ph type="ftr" sz="quarter" idx="11"/>
          </p:nvPr>
        </p:nvSpPr>
        <p:spPr/>
        <p:txBody>
          <a:body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366366E1-E737-E642-8AAD-F561D251D44C}"/>
              </a:ext>
            </a:extLst>
          </p:cNvPr>
          <p:cNvSpPr>
            <a:spLocks noGrp="1"/>
          </p:cNvSpPr>
          <p:nvPr>
            <p:ph type="sldNum" sz="quarter" idx="12"/>
          </p:nvPr>
        </p:nvSpPr>
        <p:spPr/>
        <p:txBody>
          <a:bodyPr/>
          <a:lstStyle/>
          <a:p>
            <a:fld id="{3509F7B2-E600-4F87-A2BF-206386C1A1D6}" type="slidenum">
              <a:rPr kumimoji="1" lang="ja-JP" altLang="en-US" smtClean="0"/>
              <a:t>‹#›</a:t>
            </a:fld>
            <a:endParaRPr kumimoji="1" lang="ja-JP" altLang="en-US"/>
          </a:p>
        </p:txBody>
      </p:sp>
    </p:spTree>
    <p:extLst>
      <p:ext uri="{BB962C8B-B14F-4D97-AF65-F5344CB8AC3E}">
        <p14:creationId xmlns:p14="http://schemas.microsoft.com/office/powerpoint/2010/main" val="3559394331"/>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6F81A52-924F-B546-BC61-1E44F9E6A331}"/>
              </a:ext>
            </a:extLst>
          </p:cNvPr>
          <p:cNvSpPr>
            <a:spLocks noGrp="1"/>
          </p:cNvSpPr>
          <p:nvPr>
            <p:ph type="title"/>
          </p:nvPr>
        </p:nvSpPr>
        <p:spPr>
          <a:xfrm>
            <a:off x="838200" y="365126"/>
            <a:ext cx="10515600" cy="94684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5E82F823-41BE-414D-AD46-B8F0389DAC50}"/>
              </a:ext>
            </a:extLst>
          </p:cNvPr>
          <p:cNvSpPr>
            <a:spLocks noGrp="1"/>
          </p:cNvSpPr>
          <p:nvPr>
            <p:ph type="body" idx="1"/>
          </p:nvPr>
        </p:nvSpPr>
        <p:spPr>
          <a:xfrm>
            <a:off x="838200" y="1398341"/>
            <a:ext cx="10515600" cy="4778622"/>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 xml:space="preserve">第 </a:t>
            </a:r>
            <a:r>
              <a:rPr kumimoji="1" lang="en-US" altLang="ja-JP" dirty="0"/>
              <a:t xml:space="preserve">2 </a:t>
            </a:r>
            <a:r>
              <a:rPr kumimoji="1" lang="ja-JP" altLang="en-US" dirty="0"/>
              <a:t>レベル</a:t>
            </a:r>
          </a:p>
          <a:p>
            <a:pPr lvl="2"/>
            <a:r>
              <a:rPr kumimoji="1" lang="ja-JP" altLang="en-US" dirty="0"/>
              <a:t xml:space="preserve">第 </a:t>
            </a:r>
            <a:r>
              <a:rPr kumimoji="1" lang="en-US" altLang="ja-JP" dirty="0"/>
              <a:t xml:space="preserve">3 </a:t>
            </a:r>
            <a:r>
              <a:rPr kumimoji="1" lang="ja-JP" altLang="en-US" dirty="0"/>
              <a:t>レベル</a:t>
            </a:r>
          </a:p>
          <a:p>
            <a:pPr lvl="3"/>
            <a:r>
              <a:rPr kumimoji="1" lang="ja-JP" altLang="en-US" dirty="0"/>
              <a:t xml:space="preserve">第 </a:t>
            </a:r>
            <a:r>
              <a:rPr kumimoji="1" lang="en-US" altLang="ja-JP" dirty="0"/>
              <a:t xml:space="preserve">4 </a:t>
            </a:r>
            <a:r>
              <a:rPr kumimoji="1" lang="ja-JP" altLang="en-US" dirty="0"/>
              <a:t>レベル</a:t>
            </a:r>
          </a:p>
          <a:p>
            <a:pPr lvl="4"/>
            <a:r>
              <a:rPr kumimoji="1" lang="ja-JP" altLang="en-US" dirty="0"/>
              <a:t xml:space="preserve">第 </a:t>
            </a:r>
            <a:r>
              <a:rPr kumimoji="1" lang="en-US" altLang="ja-JP" dirty="0"/>
              <a:t xml:space="preserve">5 </a:t>
            </a:r>
            <a:r>
              <a:rPr kumimoji="1" lang="ja-JP" altLang="en-US" dirty="0"/>
              <a:t>レベル</a:t>
            </a:r>
          </a:p>
        </p:txBody>
      </p:sp>
      <p:sp>
        <p:nvSpPr>
          <p:cNvPr id="4" name="日付プレースホルダー 3">
            <a:extLst>
              <a:ext uri="{FF2B5EF4-FFF2-40B4-BE49-F238E27FC236}">
                <a16:creationId xmlns:a16="http://schemas.microsoft.com/office/drawing/2014/main" id="{EB52B728-DDC5-6540-8610-381EABA5DE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kumimoji="1" lang="en-US" altLang="ja-JP"/>
              <a:t>2025/4/25</a:t>
            </a:r>
            <a:endParaRPr kumimoji="1" lang="ja-JP" altLang="en-US"/>
          </a:p>
        </p:txBody>
      </p:sp>
      <p:sp>
        <p:nvSpPr>
          <p:cNvPr id="5" name="フッター プレースホルダー 4">
            <a:extLst>
              <a:ext uri="{FF2B5EF4-FFF2-40B4-BE49-F238E27FC236}">
                <a16:creationId xmlns:a16="http://schemas.microsoft.com/office/drawing/2014/main" id="{C57B9894-B6B4-F443-8C7B-11ACEA43F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a:solidFill>
                  <a:schemeClr val="tx1">
                    <a:lumMod val="75000"/>
                    <a:lumOff val="25000"/>
                  </a:schemeClr>
                </a:solidFill>
                <a:latin typeface="HGP創英角ｺﾞｼｯｸUB" panose="020B0900000000000000" pitchFamily="50" charset="-128"/>
                <a:ea typeface="HGP創英角ｺﾞｼｯｸUB" panose="020B0900000000000000" pitchFamily="50" charset="-128"/>
              </a:defRPr>
            </a:lvl1pPr>
          </a:lstStyle>
          <a:p>
            <a:r>
              <a:rPr kumimoji="1" lang="ja-JP" altLang="en-US"/>
              <a:t>生体ゼミ教科書輪講</a:t>
            </a:r>
          </a:p>
        </p:txBody>
      </p:sp>
      <p:sp>
        <p:nvSpPr>
          <p:cNvPr id="6" name="スライド番号プレースホルダー 5">
            <a:extLst>
              <a:ext uri="{FF2B5EF4-FFF2-40B4-BE49-F238E27FC236}">
                <a16:creationId xmlns:a16="http://schemas.microsoft.com/office/drawing/2014/main" id="{DE8FA3C1-A307-5742-87E0-0D45C906B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400" b="0">
                <a:solidFill>
                  <a:schemeClr val="tx1"/>
                </a:solidFill>
                <a:latin typeface="HGP創英角ｺﾞｼｯｸUB" panose="020B0900000000000000" pitchFamily="50" charset="-128"/>
                <a:ea typeface="HGP創英角ｺﾞｼｯｸUB" panose="020B0900000000000000" pitchFamily="50" charset="-128"/>
              </a:defRPr>
            </a:lvl1pPr>
          </a:lstStyle>
          <a:p>
            <a:fld id="{3509F7B2-E600-4F87-A2BF-206386C1A1D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A07D1128-6B4C-A447-91FF-ABBA00CDA7CC}"/>
              </a:ext>
            </a:extLst>
          </p:cNvPr>
          <p:cNvSpPr/>
          <p:nvPr/>
        </p:nvSpPr>
        <p:spPr>
          <a:xfrm>
            <a:off x="3313" y="-6665"/>
            <a:ext cx="12188687" cy="285416"/>
          </a:xfrm>
          <a:prstGeom prst="rect">
            <a:avLst/>
          </a:prstGeom>
          <a:solidFill>
            <a:srgbClr val="054E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ja-JP" altLang="en-US">
              <a:solidFill>
                <a:prstClr val="white"/>
              </a:solidFill>
            </a:endParaRPr>
          </a:p>
        </p:txBody>
      </p:sp>
      <p:pic>
        <p:nvPicPr>
          <p:cNvPr id="8" name="図 7">
            <a:extLst>
              <a:ext uri="{FF2B5EF4-FFF2-40B4-BE49-F238E27FC236}">
                <a16:creationId xmlns:a16="http://schemas.microsoft.com/office/drawing/2014/main" id="{F0D7B764-5BA8-4441-97E9-1BFDAE3FA065}"/>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82378" y="-60560"/>
            <a:ext cx="1606378" cy="385530"/>
          </a:xfrm>
          <a:prstGeom prst="rect">
            <a:avLst/>
          </a:prstGeom>
        </p:spPr>
      </p:pic>
      <p:sp>
        <p:nvSpPr>
          <p:cNvPr id="9" name="テキスト ボックス 8">
            <a:extLst>
              <a:ext uri="{FF2B5EF4-FFF2-40B4-BE49-F238E27FC236}">
                <a16:creationId xmlns:a16="http://schemas.microsoft.com/office/drawing/2014/main" id="{6E4DF225-6126-E740-B6BF-295CBBD66433}"/>
              </a:ext>
            </a:extLst>
          </p:cNvPr>
          <p:cNvSpPr txBox="1"/>
          <p:nvPr/>
        </p:nvSpPr>
        <p:spPr>
          <a:xfrm>
            <a:off x="11111255" y="-18112"/>
            <a:ext cx="1080745" cy="338554"/>
          </a:xfrm>
          <a:prstGeom prst="rect">
            <a:avLst/>
          </a:prstGeom>
          <a:noFill/>
        </p:spPr>
        <p:txBody>
          <a:bodyPr wrap="none" rtlCol="0">
            <a:spAutoFit/>
          </a:bodyPr>
          <a:lstStyle/>
          <a:p>
            <a:r>
              <a:rPr lang="en-US" altLang="ja-JP" sz="1600">
                <a:solidFill>
                  <a:prstClr val="white"/>
                </a:solidFill>
                <a:latin typeface="Adobe Fan Heiti Std B" pitchFamily="34" charset="-128"/>
                <a:ea typeface="Adobe Fan Heiti Std B" pitchFamily="34" charset="-128"/>
              </a:rPr>
              <a:t xml:space="preserve"> Doly Lab</a:t>
            </a:r>
            <a:endParaRPr lang="ja-JP" altLang="en-US" sz="1600" b="1">
              <a:solidFill>
                <a:prstClr val="white">
                  <a:lumMod val="75000"/>
                </a:prstClr>
              </a:solidFill>
              <a:latin typeface="Adobe Fan Heiti Std B" pitchFamily="34" charset="-128"/>
              <a:ea typeface="Adobe Fan Heiti Std B" pitchFamily="34" charset="-128"/>
            </a:endParaRPr>
          </a:p>
        </p:txBody>
      </p:sp>
    </p:spTree>
    <p:extLst>
      <p:ext uri="{BB962C8B-B14F-4D97-AF65-F5344CB8AC3E}">
        <p14:creationId xmlns:p14="http://schemas.microsoft.com/office/powerpoint/2010/main" val="648735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kumimoji="1" sz="4400" kern="1200">
          <a:solidFill>
            <a:schemeClr val="tx1"/>
          </a:solidFill>
          <a:latin typeface="HGPSoeiKakugothicUB" panose="020B0900000000000000" pitchFamily="34" charset="-128"/>
          <a:ea typeface="HGPSoeiKakugothicUB" panose="020B09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HGPSoeiKakugothicUB" panose="020B0900000000000000" pitchFamily="34" charset="-128"/>
          <a:ea typeface="HGPSoeiKakugothicUB" panose="020B0900000000000000" pitchFamily="34" charset="-128"/>
          <a:cs typeface="+mn-cs"/>
        </a:defRPr>
      </a:lvl1pPr>
      <a:lvl2pPr marL="800100" indent="-342900" algn="l" defTabSz="914400" rtl="0" eaLnBrk="1" latinLnBrk="0" hangingPunct="1">
        <a:lnSpc>
          <a:spcPct val="90000"/>
        </a:lnSpc>
        <a:spcBef>
          <a:spcPts val="500"/>
        </a:spcBef>
        <a:buFont typeface="HGPSoeiKakugothicUB" panose="020B0900000000000000" pitchFamily="50" charset="-128"/>
        <a:buChar char="−"/>
        <a:defRPr kumimoji="1" sz="2400" kern="1200">
          <a:solidFill>
            <a:schemeClr val="tx1"/>
          </a:solidFill>
          <a:latin typeface="HGPSoeiKakugothicUB" panose="020B0900000000000000" pitchFamily="34" charset="-128"/>
          <a:ea typeface="HGPSoeiKakugothicUB" panose="020B0900000000000000" pitchFamily="34" charset="-128"/>
          <a:cs typeface="+mn-cs"/>
        </a:defRPr>
      </a:lvl2pPr>
      <a:lvl3pPr marL="1257300" indent="-342900" algn="l" defTabSz="914400" rtl="0" eaLnBrk="1" latinLnBrk="0" hangingPunct="1">
        <a:lnSpc>
          <a:spcPct val="90000"/>
        </a:lnSpc>
        <a:spcBef>
          <a:spcPts val="500"/>
        </a:spcBef>
        <a:buFont typeface="Wingdings" panose="05000000000000000000" pitchFamily="2" charset="2"/>
        <a:buChar char="n"/>
        <a:defRPr kumimoji="1" sz="2000" kern="1200">
          <a:solidFill>
            <a:schemeClr val="tx1"/>
          </a:solidFill>
          <a:latin typeface="HGPSoeiKakugothicUB" panose="020B0900000000000000" pitchFamily="34" charset="-128"/>
          <a:ea typeface="HGPSoeiKakugothicUB" panose="020B09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HGPSoeiKakugothicUB" panose="020B0900000000000000" pitchFamily="34" charset="-128"/>
          <a:ea typeface="HGPSoeiKakugothicUB" panose="020B09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HGPSoeiKakugothicUB" panose="020B0900000000000000" pitchFamily="34" charset="-128"/>
          <a:ea typeface="HGPSoeiKakugothicUB" panose="020B09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
  <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2.xml"/>
  <Relationship Id="rId200" Type="http://schemas.openxmlformats.org/officeDocument/2006/relationships/image" Target="../media/image200.png"/>
</Relationships>

</file>

<file path=ppt/slides/_rels/slide9.xml.rels><?xml version="1.0" encoding="utf-8"?>
<Relationships xmlns="http://schemas.openxmlformats.org/package/2006/relationships">
  <Relationship Id="rId3" Type="http://schemas.openxmlformats.org/officeDocument/2006/relationships/image" Target="../media/image4.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
  <Relationship Id="rId3" Type="http://schemas.openxmlformats.org/officeDocument/2006/relationships/image" Target="../media/image7.png"/>
  <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
  <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
  <Relationship Id="rId2" Type="http://schemas.openxmlformats.org/officeDocument/2006/relationships/image" Target="../media/image91.png"/>
  <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
  <Relationship Id="rId3" Type="http://schemas.openxmlformats.org/officeDocument/2006/relationships/image" Target="../media/image10.png"/>
  <Relationship Id="rId2" Type="http://schemas.openxmlformats.org/officeDocument/2006/relationships/image" Target="../media/image90.png"/>
  <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
  <Relationship Id="rId2" Type="http://schemas.openxmlformats.org/officeDocument/2006/relationships/image" Target="../media/image100.png"/>
  <Relationship Id="rId1" Type="http://schemas.openxmlformats.org/officeDocument/2006/relationships/slideLayout" Target="../slideLayouts/slideLayout2.xml"/>
  <Relationship Id="rId201" Type="http://schemas.openxmlformats.org/officeDocument/2006/relationships/image" Target="../media/image201.png"/>
</Relationships>

</file>

<file path=ppt/slides/_rels/slide23.xml.rels><?xml version="1.0" encoding="utf-8"?>
<Relationships xmlns="http://schemas.openxmlformats.org/package/2006/relationships">
  <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
  <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
  <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2.xml"/>
  <Relationship Id="rId202" Type="http://schemas.openxmlformats.org/officeDocument/2006/relationships/image" Target="../media/image202.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2.xml"/>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ns2:creationId id="{769EB787-F7B7-395C-725C-B681296CF3C6}"/>
              </a:ext>
            </a:extLst>
          </p:cNvPr>
          <p:cNvSpPr>
            <a:spLocks noGrp="1"/>
          </p:cNvSpPr>
          <p:nvPr>
            <p:ph type="ctrTitle"/>
          </p:nvPr>
        </p:nvSpPr>
        <p:spPr>
          <a:xfrm>
            <a:off x="1524000" y="1798938"/>
            <a:ext cx="9144000" cy="2283854"/>
          </a:xfrm>
        </p:spPr>
        <p:txBody>
          <a:bodyPr>
            <a:normAutofit/>
          </a:bodyPr>
          <a:lstStyle/>
          <a:p>
            <a:r>
              <a:rPr lang="zh-MO" altLang="en-US" sz="4400"/>
              <a:t>研究進捗報告
7×7情緒表から連続融合関数へ</a:t>
            </a:r>
            <a:br>
              <a:rPr lang="en-US" altLang="zh-MO" sz="4400" dirty="0"/>
            </a:br>
            <a:r>
              <a:rPr lang="en-US" altLang="zh-MO" sz="4400" dirty="0">
                <a:solidFill>
                  <a:srgbClr val="222222"/>
                </a:solidFill>
                <a:cs typeface="游ゴシック Light" pitchFamily="34" charset="-120"/>
              </a:rPr>
              <a:t/>
            </a:r>
            <a:br>
              <a:rPr lang="en-US" altLang="zh-MO" sz="4400" dirty="0"/>
            </a:br>
            <a:endParaRPr lang="zh-MO" altLang="en-US" sz="4400"/>
          </a:p>
        </p:txBody>
      </p:sp>
      <p:sp>
        <p:nvSpPr>
          <p:cNvPr id="7" name="副標題 6">
            <a:extLst>
              <a:ext uri="{FF2B5EF4-FFF2-40B4-BE49-F238E27FC236}">
                <ns2:creationId id="{2F0155C8-53C2-D0EA-9A3C-217067BE1F16}"/>
              </a:ext>
            </a:extLst>
          </p:cNvPr>
          <p:cNvSpPr>
            <a:spLocks noGrp="1"/>
          </p:cNvSpPr>
          <p:nvPr>
            <p:ph type="subTitle" idx="1"/>
          </p:nvPr>
        </p:nvSpPr>
        <p:spPr>
          <a:xfrm>
            <a:off x="1524000" y="4417584"/>
            <a:ext cx="9144000" cy="1655762"/>
          </a:xfrm>
        </p:spPr>
        <p:txBody>
          <a:bodyPr>
            <a:normAutofit/>
          </a:bodyPr>
          <a:lstStyle/>
          <a:p>
            <a:r>
              <a:rPr lang="zh-MO" altLang="en-US" sz="2800"/>
              <a:t>native構造検証とNRC座標系比較</a:t>
            </a:r>
            <a:r>
              <a:rPr lang="ja-JP" altLang="en-US" sz="2800"/>
              <a:t/>
            </a:r>
            <a:r>
              <a:rPr lang="zh-MO" altLang="en-US" sz="2800"/>
              <a:t/>
            </a:r>
            <a:r>
              <a:rPr lang="ja-JP" altLang="en-US" sz="2800"/>
              <a:t/>
            </a:r>
            <a:r>
              <a:rPr lang="zh-MO" altLang="en-US" sz="2800"/>
              <a:t/>
            </a:r>
            <a:r>
              <a:rPr lang="ja-JP" altLang="en-US" sz="2800"/>
              <a:t/>
            </a:r>
            <a:r>
              <a:rPr lang="zh-MO" altLang="en-US" sz="2800"/>
              <a:t/>
            </a:r>
            <a:r>
              <a:rPr lang="ja-JP" altLang="en-US" sz="2800"/>
              <a:t/>
            </a:r>
            <a:r>
              <a:rPr lang="zh-MO" altLang="en-US" sz="2800"/>
              <a:t/>
            </a:r>
          </a:p>
        </p:txBody>
      </p:sp>
      <p:sp>
        <p:nvSpPr>
          <p:cNvPr id="2" name="文字方塊 1">
            <a:extLst>
              <a:ext uri="{FF2B5EF4-FFF2-40B4-BE49-F238E27FC236}">
                <ns2:creationId id="{3C239AB8-88A3-9A67-C4C9-48A79E59956A}"/>
              </a:ext>
            </a:extLst>
          </p:cNvPr>
          <p:cNvSpPr txBox="1"/>
          <p:nvPr/>
        </p:nvSpPr>
        <p:spPr>
          <a:xfrm>
            <a:off x="2889421" y="5704014"/>
            <a:ext cx="6413157" cy="369332"/>
          </a:xfrm>
          <a:prstGeom prst="rect">
            <a:avLst/>
          </a:prstGeom>
          <a:noFill/>
        </p:spPr>
        <p:txBody>
          <a:bodyPr wrap="square" rtlCol="0">
            <a:spAutoFit/>
          </a:bodyPr>
          <a:lstStyle/>
          <a:p>
            <a:pPr algn="ctr"/>
            <a:r>
              <a:rPr lang="zh-MO" altLang="en-US" b="1"/>
              <a:t>発表者：姜晰頡</a:t>
            </a:r>
            <a:endParaRPr kumimoji="1" lang="zh-MO" altLang="en-US" b="1"/>
          </a:p>
        </p:txBody>
      </p:sp>
      <p:sp>
        <p:nvSpPr>
          <p:cNvPr id="3" name="投影片編號版面配置區 5">
            <a:extLst>
              <a:ext uri="{FF2B5EF4-FFF2-40B4-BE49-F238E27FC236}">
                <ns2:creationId id="{07096721-104D-4036-21B4-87CBCBA941BC}"/>
              </a:ext>
            </a:extLst>
          </p:cNvPr>
          <p:cNvSpPr>
            <a:spLocks noGrp="1"/>
          </p:cNvSpPr>
          <p:nvPr>
            <p:ph type="sldNum" sz="quarter" idx="12"/>
          </p:nvPr>
        </p:nvSpPr>
        <p:spPr>
          <a:xfrm>
            <a:off x="8610600" y="6356350"/>
            <a:ext cx="2743200" cy="365125"/>
          </a:xfrm>
        </p:spPr>
        <p:txBody>
          <a:bodyPr/>
          <a:lstStyle/>
          <a:p>
            <a:fld id="{3509F7B2-E600-4F87-A2BF-206386C1A1D6}" type="slidenum">
              <a:rPr kumimoji="1" lang="ja-JP" altLang="en-US" smtClean="0"/>
              <a:t>1</a:t>
            </a:fld>
            <a:endParaRPr kumimoji="1" lang="ja-JP" altLang="en-US"/>
          </a:p>
        </p:txBody>
      </p:sp>
    </p:spTree>
    <p:extLst>
      <p:ext uri="{BB962C8B-B14F-4D97-AF65-F5344CB8AC3E}">
        <ns3:creationId val="2717553176"/>
      </p:ext>
    </p:extLst>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ns2:creationId id="{374830DE-62E4-0D9B-575E-02C66D760FE6}"/>
              </a:ext>
            </a:extLst>
          </p:cNvPr>
          <p:cNvSpPr>
            <a:spLocks noGrp="1"/>
          </p:cNvSpPr>
          <p:nvPr>
            <p:ph type="title"/>
          </p:nvPr>
        </p:nvSpPr>
        <p:spPr/>
        <p:txBody>
          <a:bodyPr>
            <a:normAutofit/>
          </a:bodyPr>
          <a:lstStyle/>
          <a:p>
            <a:r>
              <a:rPr lang="ja-JP" altLang="en-US" sz="3600"/>
              <a:t>研究目的と本日の流れ</a:t>
            </a:r>
            <a:endParaRPr kumimoji="1" lang="ja-JP" altLang="en-US" sz="3600"/>
          </a:p>
        </p:txBody>
      </p:sp>
      <p:sp>
        <p:nvSpPr>
          <p:cNvPr id="8" name="內容版面配置區 7">
            <a:extLst>
              <a:ext uri="{FF2B5EF4-FFF2-40B4-BE49-F238E27FC236}">
                <ns2:creationId id="{7E4A60FD-1F3B-3B86-9692-24D0862A676F}"/>
              </a:ext>
            </a:extLst>
          </p:cNvPr>
          <p:cNvSpPr>
            <a:spLocks noGrp="1"/>
          </p:cNvSpPr>
          <p:nvPr>
            <p:ph idx="1"/>
          </p:nvPr>
        </p:nvSpPr>
        <p:spPr/>
        <p:txBody>
          <a:bodyPr>
            <a:normAutofit/>
          </a:bodyPr>
          <a:lstStyle/>
          <a:p>
            <a:pPr marL="0" indent="0">
              <a:buNone/>
            </a:pPr>
            <a:r>
              <a:rPr lang="en-US" altLang="ja-JP" dirty="0"/>
              <a:t>研究目的：前期研究の7×7 face × speech 情緒表を、VA空間上の連続融合関数として説明する。
検証方法：Table14 だけで学習し、残りの Holdout35 を予測する。
本日の流れ：native座標で関数形式を整理し、nrc_affine / nrc_direct で座標系の違いを検証する。</a:t>
            </a:r>
            <a:r>
              <a:rPr lang="ja-JP" altLang="en-US"/>
              <a:t/>
            </a:r>
            <a:r>
              <a:rPr lang="en-US" altLang="ja-JP" dirty="0"/>
              <a:t/>
            </a:r>
            <a:r>
              <a:rPr lang="ja-JP" altLang="en-US"/>
              <a:t/>
            </a:r>
            <a:r>
              <a:rPr lang="en-US" altLang="ja-JP" dirty="0">
                <a:solidFill>
                  <a:srgbClr val="202122"/>
                </a:solidFill>
                <a:latin typeface="Arial" panose="020B0604020202020204" pitchFamily="34" charset="0"/>
              </a:rPr>
              <a:t/>
            </a:r>
            <a:r>
              <a:rPr lang="ja-JP" altLang="en-US">
                <a:solidFill>
                  <a:srgbClr val="202122"/>
                </a:solidFill>
                <a:latin typeface="Arial" panose="020B0604020202020204" pitchFamily="34" charset="0"/>
              </a:rPr>
              <a:t/>
            </a:r>
            <a:r>
              <a:rPr lang="zh-MO" altLang="en-US">
                <a:solidFill>
                  <a:srgbClr val="202122"/>
                </a:solidFill>
                <a:latin typeface="Arial" panose="020B0604020202020204" pitchFamily="34" charset="0"/>
              </a:rPr>
              <a:t/>
            </a:r>
            <a:r>
              <a:rPr lang="ja-JP" altLang="en-US">
                <a:solidFill>
                  <a:srgbClr val="202122"/>
                </a:solidFill>
                <a:latin typeface="Arial" panose="020B0604020202020204" pitchFamily="34" charset="0"/>
              </a:rPr>
              <a:t/>
            </a:r>
            <a:r>
              <a:rPr lang="ja-JP" altLang="en-US"/>
              <a:t/>
            </a:r>
            <a:r>
              <a:rPr lang="en-US" altLang="ja-JP" dirty="0"/>
              <a:t/>
            </a:r>
            <a:r>
              <a:rPr lang="ja-JP" altLang="en-GB"/>
              <a:t/>
            </a:r>
            <a:r>
              <a:rPr lang="en-GB" altLang="ja-JP" dirty="0"/>
              <a:t/>
            </a:r>
            <a:r>
              <a:rPr lang="ja-JP" altLang="en-US"/>
              <a:t/>
            </a:r>
            <a:r>
              <a:rPr lang="en-US" altLang="ja-JP" dirty="0"/>
              <a:t/>
            </a:r>
            <a:r>
              <a:rPr lang="ja-JP" altLang="en-US"/>
              <a:t/>
            </a:r>
          </a:p>
          <a:p>
            <a:pPr marL="0" indent="0">
              <a:buNone/>
            </a:pPr>
            <a:r>
              <a:rPr lang="en-US" altLang="ja-JP" dirty="0"/>
              <a:t/>
            </a:r>
            <a:r>
              <a:rPr lang="ja-JP" altLang="en-US"/>
              <a:t/>
            </a:r>
            <a:r>
              <a:rPr lang="en-US" altLang="ja-JP" dirty="0"/>
              <a:t/>
            </a:r>
            <a:r>
              <a:rPr lang="ja-JP" altLang="en-US"/>
              <a:t/>
            </a:r>
          </a:p>
          <a:p>
            <a:pPr marL="0" indent="0">
              <a:buNone/>
            </a:pPr>
            <a:r>
              <a:rPr lang="en-US" altLang="ja-JP" dirty="0"/>
              <a:t/>
            </a:r>
            <a:r>
              <a:rPr lang="ja-JP" altLang="en-US"/>
              <a:t/>
            </a:r>
            <a:r>
              <a:rPr lang="en-US" altLang="ja-JP" dirty="0"/>
              <a:t/>
            </a:r>
            <a:r>
              <a:rPr lang="en-GB" altLang="ja-JP" dirty="0"/>
              <a:t/>
            </a:r>
            <a:r>
              <a:rPr lang="ja-JP" altLang="en-US"/>
              <a:t/>
            </a:r>
            <a:r>
              <a:rPr lang="en-GB" altLang="ja-JP" dirty="0"/>
              <a:t/>
            </a:r>
            <a:r>
              <a:rPr lang="ja-JP" altLang="en-US"/>
              <a:t/>
            </a:r>
          </a:p>
          <a:p>
            <a:pPr marL="0" indent="0">
              <a:buNone/>
            </a:pPr>
            <a:r>
              <a:rPr lang="en-US" altLang="ja-JP" dirty="0"/>
              <a:t/>
            </a:r>
            <a:r>
              <a:rPr lang="ja-JP" altLang="en-US"/>
              <a:t/>
            </a:r>
            <a:r>
              <a:rPr lang="en-US" altLang="ja-JP" dirty="0"/>
              <a:t/>
            </a:r>
            <a:r>
              <a:rPr lang="ja-JP" altLang="en-US"/>
              <a:t/>
            </a:r>
            <a:r>
              <a:rPr lang="en-GB" altLang="ja-JP" dirty="0"/>
              <a:t/>
            </a:r>
            <a:r>
              <a:rPr lang="ja-JP" altLang="en-US"/>
              <a:t/>
            </a:r>
            <a:r>
              <a:rPr lang="en-GB" altLang="ja-JP" dirty="0"/>
              <a:t/>
            </a:r>
            <a:r>
              <a:rPr lang="ja-JP" altLang="en-US"/>
              <a:t/>
            </a:r>
          </a:p>
          <a:p>
            <a:pPr marL="0" indent="0">
              <a:buNone/>
            </a:pPr>
            <a:r>
              <a:rPr lang="en-US" altLang="ja-JP" dirty="0"/>
              <a:t/>
            </a:r>
            <a:r>
              <a:rPr lang="ja-JP" altLang="en-US"/>
              <a:t/>
            </a:r>
            <a:r>
              <a:rPr lang="en-US" altLang="ja-JP" dirty="0"/>
              <a:t/>
            </a:r>
            <a:r>
              <a:rPr lang="zh-MO" altLang="en-US"/>
              <a:t/>
            </a:r>
            <a:r>
              <a:rPr lang="ja-JP" altLang="en-US"/>
              <a:t/>
            </a:r>
            <a:r>
              <a:rPr lang="zh-MO" altLang="en-US"/>
              <a:t/>
            </a:r>
            <a:r>
              <a:rPr lang="ja-JP" altLang="en-US"/>
              <a:t/>
            </a:r>
            <a:r>
              <a:rPr lang="zh-MO" altLang="en-US"/>
              <a:t/>
            </a:r>
            <a:r>
              <a:rPr lang="ja-JP" altLang="en-US"/>
              <a:t/>
            </a:r>
          </a:p>
          <a:p>
            <a:pPr marL="0" indent="0">
              <a:buNone/>
            </a:pPr>
            <a:r>
              <a:rPr lang="zh-MO" altLang="en-US"/>
              <a:t/>
            </a:r>
            <a:r>
              <a:rPr lang="ja-JP" altLang="en-US"/>
              <a:t/>
            </a:r>
            <a:r>
              <a:rPr lang="zh-MO" altLang="en-US"/>
              <a:t/>
            </a:r>
            <a:r>
              <a:rPr lang="ja-JP" altLang="en-US"/>
              <a:t/>
            </a:r>
            <a:r>
              <a:rPr lang="zh-MO" altLang="en-US"/>
              <a:t/>
            </a:r>
            <a:r>
              <a:rPr lang="ja-JP" altLang="en-US"/>
              <a:t/>
            </a:r>
            <a:r>
              <a:rPr lang="en-US" altLang="ja-JP" dirty="0"/>
              <a:t/>
            </a:r>
            <a:r>
              <a:rPr lang="en-GB" altLang="zh-MO" dirty="0"/>
              <a:t/>
            </a:r>
            <a:r>
              <a:rPr lang="ja-JP" altLang="en-US"/>
              <a:t/>
            </a:r>
          </a:p>
        </p:txBody>
      </p:sp>
      <p:sp>
        <p:nvSpPr>
          <p:cNvPr id="3" name="投影片編號版面配置區 5">
            <a:extLst>
              <a:ext uri="{FF2B5EF4-FFF2-40B4-BE49-F238E27FC236}">
                <ns2:creationId id="{A8458A4C-A12A-F605-89EA-917E75A4824E}"/>
              </a:ext>
            </a:extLst>
          </p:cNvPr>
          <p:cNvSpPr>
            <a:spLocks noGrp="1"/>
          </p:cNvSpPr>
          <p:nvPr>
            <p:ph type="sldNum" sz="quarter" idx="12"/>
          </p:nvPr>
        </p:nvSpPr>
        <p:spPr>
          <a:xfrm>
            <a:off x="8610600" y="6356350"/>
            <a:ext cx="2743200" cy="365125"/>
          </a:xfrm>
        </p:spPr>
        <p:txBody>
          <a:bodyPr/>
          <a:lstStyle/>
          <a:p>
            <a:fld id="{3509F7B2-E600-4F87-A2BF-206386C1A1D6}" type="slidenum">
              <a:rPr kumimoji="1" lang="ja-JP" altLang="en-US" smtClean="0"/>
              <a:t>2</a:t>
            </a:fld>
            <a:endParaRPr kumimoji="1" lang="ja-JP" altLang="en-US"/>
          </a:p>
        </p:txBody>
      </p:sp>
    </p:spTree>
    <p:extLst>
      <p:ext uri="{BB962C8B-B14F-4D97-AF65-F5344CB8AC3E}">
        <ns3:creationId val="3028171335"/>
      </p:ext>
    </p:extLst>
  </p:cSld>
  <p:clrMapOvr>
    <a:masterClrMapping/>
  </p:clrMapOvr>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a:extLst>
            <a:ext uri="{FF2B5EF4-FFF2-40B4-BE49-F238E27FC236}">
              <ns2:creationId id="{229340A6-49FC-3E92-38D6-5C7984D30ED1}"/>
            </a:ext>
          </a:extLst>
        </p:cNvPr>
        <p:cNvGrpSpPr/>
        <p:nvPr/>
      </p:nvGrpSpPr>
      <p:grpSpPr>
        <a:xfrm>
          <a:off x="0" y="0"/>
          <a:ext cx="0" cy="0"/>
          <a:chOff x="0" y="0"/>
          <a:chExt cx="0" cy="0"/>
        </a:xfrm>
      </p:grpSpPr>
      <p:sp>
        <p:nvSpPr>
          <p:cNvPr id="2" name="標題 1">
            <a:extLst>
              <a:ext uri="{FF2B5EF4-FFF2-40B4-BE49-F238E27FC236}">
                <ns2:creationId id="{C8A1E7A1-04F4-5838-C0F6-0E9808F8D37D}"/>
              </a:ext>
            </a:extLst>
          </p:cNvPr>
          <p:cNvSpPr>
            <a:spLocks noGrp="1"/>
          </p:cNvSpPr>
          <p:nvPr>
            <p:ph type="title"/>
          </p:nvPr>
        </p:nvSpPr>
        <p:spPr/>
        <p:txBody>
          <a:bodyPr>
            <a:normAutofit/>
          </a:bodyPr>
          <a:lstStyle/>
          <a:p>
            <a:r>
              <a:rPr lang="en-GB" altLang="zh-MO" sz="3600" dirty="0"/>
              <a:t>先行研究：7×7階層的マルチモーダル情緒表</a:t>
            </a:r>
            <a:r>
              <a:rPr lang="ja-JP" altLang="en-US" sz="3600"/>
              <a:t/>
            </a:r>
            <a:r>
              <a:rPr lang="zh-MO" altLang="en-US" sz="3600" dirty="0"/>
              <a:t/>
            </a:r>
            <a:endParaRPr kumimoji="1" lang="zh-MO" altLang="en-US" sz="3600" dirty="0"/>
          </a:p>
        </p:txBody>
      </p:sp>
      <p:sp>
        <p:nvSpPr>
          <p:cNvPr id="6" name="投影片編號版面配置區 5">
            <a:extLst>
              <a:ext uri="{FF2B5EF4-FFF2-40B4-BE49-F238E27FC236}">
                <ns2:creationId id="{95E3CDC2-6FCD-852D-5AA7-5235CB8A7889}"/>
              </a:ext>
            </a:extLst>
          </p:cNvPr>
          <p:cNvSpPr>
            <a:spLocks noGrp="1"/>
          </p:cNvSpPr>
          <p:nvPr>
            <p:ph type="sldNum" sz="quarter" idx="12"/>
          </p:nvPr>
        </p:nvSpPr>
        <p:spPr/>
        <p:txBody>
          <a:bodyPr/>
          <a:lstStyle/>
          <a:p>
            <a:fld id="{3509F7B2-E600-4F87-A2BF-206386C1A1D6}" type="slidenum">
              <a:rPr kumimoji="1" lang="ja-JP" altLang="en-US" smtClean="0"/>
              <a:t>3</a:t>
            </a:fld>
            <a:endParaRPr kumimoji="1" lang="ja-JP" altLang="en-US"/>
          </a:p>
        </p:txBody>
      </p:sp>
      <p:pic>
        <p:nvPicPr>
          <p:cNvPr id="4" name="Image 0" descr="/Users/mac/Documents/trae_projects/jenish/image.png">
            <a:extLst>
              <a:ext uri="{FF2B5EF4-FFF2-40B4-BE49-F238E27FC236}">
                <ns2:creationId id="{E83FEF2D-5608-08C9-95F5-D65095E11B2E}"/>
              </a:ext>
            </a:extLst>
          </p:cNvPr>
          <p:cNvPicPr>
            <a:picLocks noGrp="1" noChangeAspect="1"/>
          </p:cNvPicPr>
          <p:nvPr>
            <p:ph idx="1"/>
          </p:nvPr>
        </p:nvPicPr>
        <p:blipFill>
          <a:blip r:embed="rId3"/>
          <a:stretch>
            <a:fillRect/>
          </a:stretch>
        </p:blipFill>
        <p:spPr>
          <a:xfrm>
            <a:off x="3127129" y="1388295"/>
            <a:ext cx="5937742" cy="3143511"/>
          </a:xfrm>
          <a:prstGeom prst="rect">
            <a:avLst/>
          </a:prstGeom>
        </p:spPr>
      </p:pic>
      <p:sp>
        <p:nvSpPr>
          <p:cNvPr id="5" name="文字方塊 4">
            <a:extLst>
              <a:ext uri="{FF2B5EF4-FFF2-40B4-BE49-F238E27FC236}">
                <ns2:creationId id="{67FCE197-A139-9178-211D-C9BC973588F6}"/>
              </a:ext>
            </a:extLst>
          </p:cNvPr>
          <p:cNvSpPr txBox="1"/>
          <p:nvPr/>
        </p:nvSpPr>
        <p:spPr>
          <a:xfrm>
            <a:off x="942787" y="4843913"/>
            <a:ext cx="10306425" cy="1200329"/>
          </a:xfrm>
          <a:prstGeom prst="rect">
            <a:avLst/>
          </a:prstGeom>
          <a:noFill/>
        </p:spPr>
        <p:txBody>
          <a:bodyPr wrap="square" rtlCol="0">
            <a:spAutoFit/>
          </a:bodyPr>
          <a:lstStyle/>
          <a:p>
            <a:r>
              <a:rPr lang="zh-MO" altLang="en-US" sz="2400">
                <a:latin typeface="HGPSoeiKakugothicUB" panose="020B0900000000000000" pitchFamily="34" charset="-128"/>
                <a:ea typeface="HGPSoeiKakugothicUB" panose="020B0900000000000000" pitchFamily="34" charset="-128"/>
              </a:rPr>
              <a:t>前期研究では、face × speech の7×7組み合わせから49状態を定義し、14個の target complex emotions を設定した。
本研究はこの表を新しく作るのではなく、表の背後にある連続的な融合構造を検証する。</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en-US" altLang="ja-JP"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endParaRPr lang="en-US" altLang="ja-JP" sz="2400" dirty="0">
              <a:latin typeface="HGPSoeiKakugothicUB" panose="020B0900000000000000" pitchFamily="34" charset="-128"/>
              <a:ea typeface="HGPSoeiKakugothicUB" panose="020B0900000000000000" pitchFamily="34" charset="-128"/>
            </a:endParaRPr>
          </a:p>
          <a:p>
            <a:pPr algn="dist"/>
            <a:endParaRPr kumimoji="1" lang="zh-MO" altLang="en-US" sz="2400">
              <a:latin typeface="HGPSoeiKakugothicUB" panose="020B0900000000000000" pitchFamily="34" charset="-128"/>
              <a:ea typeface="HGPSoeiKakugothicUB" panose="020B0900000000000000" pitchFamily="34" charset="-128"/>
            </a:endParaRPr>
          </a:p>
        </p:txBody>
      </p:sp>
    </p:spTree>
    <p:extLst>
      <p:ext uri="{BB962C8B-B14F-4D97-AF65-F5344CB8AC3E}">
        <ns4:creationId val="3825883403"/>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44C80658-AB80-E1CD-114E-BF9A65C73A64}"/>
              </a:ext>
            </a:extLst>
          </p:cNvPr>
          <p:cNvSpPr>
            <a:spLocks noGrp="1"/>
          </p:cNvSpPr>
          <p:nvPr>
            <p:ph type="title"/>
          </p:nvPr>
        </p:nvSpPr>
        <p:spPr/>
        <p:txBody>
          <a:bodyPr>
            <a:normAutofit/>
          </a:bodyPr>
          <a:lstStyle/>
          <a:p>
            <a:r>
              <a:rPr lang="en-GB" altLang="zh-MO" sz="3600" dirty="0"/>
              <a:t>本研究の立ち位置：表を作る研究から表を説明する研究へ</a:t>
            </a:r>
            <a:r>
              <a:rPr lang="ja-JP" altLang="en-US" sz="3600"/>
              <a:t/>
            </a:r>
            <a:r>
              <a:rPr lang="zh-MO" altLang="en-US" sz="3600" dirty="0"/>
              <a:t/>
            </a:r>
            <a:endParaRPr kumimoji="1" lang="zh-MO" altLang="en-US" sz="3600" dirty="0"/>
          </a:p>
        </p:txBody>
      </p:sp>
      <p:sp>
        <p:nvSpPr>
          <p:cNvPr id="3" name="內容版面配置區 2">
            <a:extLst>
              <a:ext uri="{FF2B5EF4-FFF2-40B4-BE49-F238E27FC236}">
                <ns2:creationId id="{A6581731-3D6D-500F-F960-F1A63EA3E7E2}"/>
              </a:ext>
            </a:extLst>
          </p:cNvPr>
          <p:cNvSpPr>
            <a:spLocks noGrp="1"/>
          </p:cNvSpPr>
          <p:nvPr>
            <p:ph idx="1"/>
          </p:nvPr>
        </p:nvSpPr>
        <p:spPr>
          <a:xfrm>
            <a:off x="838200" y="1276433"/>
            <a:ext cx="10515600" cy="4996647"/>
          </a:xfrm>
        </p:spPr>
        <p:txBody>
          <a:bodyPr>
            <a:normAutofit fontScale="92500"/>
          </a:bodyPr>
          <a:lstStyle/>
          <a:p>
            <a:pPr marL="0" indent="0">
              <a:buNone/>
            </a:pPr>
            <a:r>
              <a:rPr lang="zh-MO" altLang="en-US" dirty="0"/>
              <a:t>前期研究：7×7表、49状態、14 target complex emotions を提示。
本研究：その離散表を VA 空間に写像し、E = f(F, V) として連続関数化する。
目的：表を否定することではなく、隠れた数理構造を説明可能にすること。</a:t>
            </a:r>
            <a:r>
              <a:rPr lang="ja-JP" altLang="en-US"/>
              <a:t/>
            </a:r>
            <a:r>
              <a:rPr lang="zh-MO" altLang="en-US" dirty="0"/>
              <a:t/>
            </a:r>
            <a:r>
              <a:rPr lang="ja-JP" altLang="en-US"/>
              <a:t/>
            </a:r>
            <a:r>
              <a:rPr lang="zh-MO" altLang="en-US" dirty="0"/>
              <a:t/>
            </a:r>
          </a:p>
          <a:p>
            <a:pPr marL="0" indent="0">
              <a:buNone/>
            </a:pP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pPr marL="0" indent="0">
              <a:buNone/>
            </a:pPr>
            <a:endParaRPr lang="ja-JP" altLang="en-US"/>
          </a:p>
          <a:p>
            <a:pPr marL="0" indent="0">
              <a:buNone/>
            </a:pPr>
            <a:r>
              <a:rPr lang="zh-MO" altLang="en-US" dirty="0"/>
              <a:t/>
            </a:r>
            <a:r>
              <a:rPr lang="ja-JP" altLang="en-US"/>
              <a:t/>
            </a:r>
            <a:r>
              <a:rPr lang="en-US" altLang="ja-JP" dirty="0"/>
              <a:t/>
            </a:r>
            <a:r>
              <a:rPr lang="zh-MO" altLang="en-US" dirty="0"/>
              <a:t/>
            </a:r>
            <a:r>
              <a:rPr lang="en-US" altLang="zh-MO" dirty="0"/>
              <a:t/>
            </a:r>
            <a:r>
              <a:rPr lang="zh-MO" altLang="en-US" dirty="0"/>
              <a:t/>
            </a:r>
            <a:r>
              <a:rPr lang="ja-JP" altLang="en-US"/>
              <a:t/>
            </a:r>
            <a:r>
              <a:rPr lang="en-US" altLang="ja-JP" dirty="0"/>
              <a:t/>
            </a:r>
            <a:r>
              <a:rPr lang="ja-JP" altLang="en-US"/>
              <a:t/>
            </a:r>
            <a:r>
              <a:rPr lang="zh-MO" altLang="en-US" dirty="0"/>
              <a:t/>
            </a:r>
            <a:r>
              <a:rPr lang="ja-JP" altLang="en-US"/>
              <a:t/>
            </a:r>
            <a:r>
              <a:rPr lang="zh-MO" altLang="en-US" dirty="0"/>
              <a:t/>
            </a:r>
            <a:r>
              <a:rPr lang="ja-JP" altLang="en-US"/>
              <a:t/>
            </a:r>
          </a:p>
          <a:p>
            <a:pPr marL="0" indent="0">
              <a:buNone/>
            </a:pPr>
            <a:endParaRPr lang="en-US" altLang="zh-MO" dirty="0"/>
          </a:p>
          <a:p>
            <a:pPr marL="0" indent="0">
              <a:buNone/>
            </a:pPr>
            <a:r>
              <a:rPr lang="zh-MO" altLang="en-US" dirty="0"/>
              <a:t/>
            </a:r>
            <a:r>
              <a:rPr lang="ja-JP" altLang="en-US"/>
              <a:t/>
            </a:r>
            <a:r>
              <a:rPr lang="zh-MO" altLang="en-US" dirty="0"/>
              <a:t/>
            </a:r>
            <a:r>
              <a:rPr lang="ja-JP" altLang="en-US"/>
              <a:t/>
            </a:r>
            <a:r>
              <a:rPr lang="en-GB" altLang="zh-MO" dirty="0"/>
              <a:t/>
            </a:r>
            <a:r>
              <a:rPr lang="zh-MO" altLang="en-US" dirty="0"/>
              <a:t/>
            </a:r>
            <a:r>
              <a:rPr lang="ja-JP" altLang="en-US"/>
              <a:t/>
            </a:r>
            <a:r>
              <a:rPr lang="zh-MO" altLang="en-US" dirty="0"/>
              <a:t/>
            </a:r>
            <a:r>
              <a:rPr lang="ja-JP" altLang="en-US"/>
              <a:t/>
            </a:r>
            <a:r>
              <a:rPr lang="zh-MO" altLang="en-US" dirty="0"/>
              <a:t/>
            </a:r>
            <a:r>
              <a:rPr lang="en-GB" altLang="zh-MO" dirty="0"/>
              <a:t/>
            </a:r>
            <a:r>
              <a:rPr lang="ja-JP" altLang="en-US"/>
              <a:t/>
            </a:r>
            <a:r>
              <a:rPr lang="zh-MO" altLang="en-US" dirty="0"/>
              <a:t/>
            </a:r>
            <a:r>
              <a:rPr lang="ja-JP" altLang="en-US"/>
              <a:t/>
            </a:r>
          </a:p>
          <a:p>
            <a:pPr marL="0" indent="0">
              <a:buNone/>
            </a:pPr>
            <a:endParaRPr lang="en-US" altLang="zh-MO" dirty="0"/>
          </a:p>
          <a:p>
            <a:pPr marL="0" indent="0">
              <a:buNone/>
            </a:pPr>
            <a:r>
              <a:rPr lang="zh-MO" altLang="en-US" dirty="0"/>
              <a:t/>
            </a:r>
            <a:r>
              <a:rPr lang="ja-JP" altLang="en-US"/>
              <a:t/>
            </a:r>
            <a:r>
              <a:rPr lang="en-US" altLang="ja-JP" dirty="0"/>
              <a:t/>
            </a:r>
            <a:r>
              <a:rPr lang="zh-MO" altLang="en-US" dirty="0"/>
              <a:t/>
            </a:r>
            <a:r>
              <a:rPr lang="ja-JP" altLang="en-US"/>
              <a:t/>
            </a:r>
            <a:r>
              <a:rPr lang="zh-MO" altLang="en-US" dirty="0"/>
              <a:t/>
            </a:r>
            <a:r>
              <a:rPr lang="ja-JP" altLang="en-US"/>
              <a:t/>
            </a:r>
            <a:br>
              <a:rPr lang="ja-JP" altLang="en-US"/>
            </a:b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pPr marL="0" indent="0">
              <a:buNone/>
            </a:pPr>
            <a:endParaRPr kumimoji="1" lang="zh-MO" altLang="en-US" dirty="0"/>
          </a:p>
        </p:txBody>
      </p:sp>
      <p:sp>
        <p:nvSpPr>
          <p:cNvPr id="6" name="投影片編號版面配置區 5">
            <a:extLst>
              <a:ext uri="{FF2B5EF4-FFF2-40B4-BE49-F238E27FC236}">
                <ns2:creationId id="{A3E3E220-1EB8-9055-A147-9721161D5F1E}"/>
              </a:ext>
            </a:extLst>
          </p:cNvPr>
          <p:cNvSpPr>
            <a:spLocks noGrp="1"/>
          </p:cNvSpPr>
          <p:nvPr>
            <p:ph type="sldNum" sz="quarter" idx="12"/>
          </p:nvPr>
        </p:nvSpPr>
        <p:spPr/>
        <p:txBody>
          <a:bodyPr/>
          <a:lstStyle/>
          <a:p>
            <a:fld id="{3509F7B2-E600-4F87-A2BF-206386C1A1D6}" type="slidenum">
              <a:rPr kumimoji="1" lang="ja-JP" altLang="en-US" smtClean="0"/>
              <a:t>4</a:t>
            </a:fld>
            <a:endParaRPr kumimoji="1" lang="ja-JP" altLang="en-US"/>
          </a:p>
        </p:txBody>
      </p:sp>
    </p:spTree>
    <p:extLst>
      <p:ext uri="{BB962C8B-B14F-4D97-AF65-F5344CB8AC3E}">
        <ns3:creationId val="3499716690"/>
      </p:ext>
    </p:extLst>
  </p:cSld>
  <p:clrMapOvr>
    <a:masterClrMapping/>
  </p:clrMapOvr>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en-US" altLang="ja-JP" sz="3600"/>
              <a:t>VA空間（7基本感情）</a:t>
            </a:r>
            <a:endParaRPr kumimoji="1" lang="zh-MO" altLang="en-US" sz="3600"/>
          </a:p>
        </p:txBody>
      </p:sp>
      <p:sp>
        <p:nvSpPr>
          <p:cNvPr id="3" name="內容版面配置區 2">
            <a:extLst>
              <a:ext uri="{FF2B5EF4-FFF2-40B4-BE49-F238E27FC236}">
                <ns2:creationId id="{258865D4-D6B5-1DDE-79E9-0A78BCBC4D2F}"/>
              </a:ext>
            </a:extLst>
          </p:cNvPr>
          <p:cNvSpPr>
            <a:spLocks noGrp="1"/>
          </p:cNvSpPr>
          <p:nvPr>
            <p:ph idx="1"/>
          </p:nvPr>
        </p:nvSpPr>
        <p:spPr>
          <a:xfrm>
            <a:off x="838200" y="5980000"/>
            <a:ext cx="10515600" cy="350000"/>
          </a:xfrm>
        </p:spPr>
        <p:txBody>
          <a:bodyPr>
            <a:normAutofit fontScale="62500" lnSpcReduction="20000"/>
          </a:bodyPr>
          <a:lstStyle/>
          <a:p>
            <a:pPr marL="0" indent="0">
              <a:buNone/>
            </a:pPr>
            <a:r>
              <a:rPr lang="ja-JP" altLang="en-US"/>
              <a:t>Face F=(v_f,a_f), Voice V=(v_v,a_v), Output E=(v_e,a_e) を同じ VA 空間に置く。
これにより、離散的な情緒表を連続関数 E=f(F,V) として扱える。</a:t>
            </a:r>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5</a:t>
            </a:fld>
            <a:endParaRPr kumimoji="1" lang="ja-JP" altLang="en-US"/>
          </a:p>
        </p:txBody>
      </p:sp>
      <p:pic>
        <p:nvPicPr>
          <p:cNvPr id="7" name="圖片 6">
            <a:extLst>
              <a:ext uri="{FF2B5EF4-FFF2-40B4-BE49-F238E27FC236}">
                <ns2:creationId id="{142AEC41-EEFA-1A57-21C1-8281D368E781}"/>
              </a:ext>
            </a:extLst>
          </p:cNvPr>
          <p:cNvPicPr>
            <a:picLocks noChangeAspect="1"/>
          </p:cNvPicPr>
          <p:nvPr/>
        </p:nvPicPr>
        <p:blipFill>
          <a:blip r:embed="rId2"/>
          <a:stretch>
            <a:fillRect/>
          </a:stretch>
        </p:blipFill>
        <p:spPr>
          <a:xfrm>
            <a:off x="2865610" y="1129000"/>
            <a:ext cx="6006541" cy="4600000"/>
          </a:xfrm>
          <a:prstGeom prst="rect">
            <a:avLst/>
          </a:prstGeom>
        </p:spPr>
      </p:pic>
    </p:spTree>
    <p:extLst>
      <p:ext uri="{BB962C8B-B14F-4D97-AF65-F5344CB8AC3E}">
        <ns4:creationId val="3317678122"/>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1AAA96E3-828C-DFEC-8D12-9802DC7ABBF5}"/>
            </a:ext>
          </a:extLst>
        </p:cNvPr>
        <p:cNvGrpSpPr/>
        <p:nvPr/>
      </p:nvGrpSpPr>
      <p:grpSpPr>
        <a:xfrm>
          <a:off x="0" y="0"/>
          <a:ext cx="0" cy="0"/>
          <a:chOff x="0" y="0"/>
          <a:chExt cx="0" cy="0"/>
        </a:xfrm>
      </p:grpSpPr>
      <p:sp>
        <p:nvSpPr>
          <p:cNvPr id="2" name="標題 1">
            <a:extLst>
              <a:ext uri="{FF2B5EF4-FFF2-40B4-BE49-F238E27FC236}">
                <ns2:creationId id="{C78EA8AB-7D2D-134F-2AD5-93171A553307}"/>
              </a:ext>
            </a:extLst>
          </p:cNvPr>
          <p:cNvSpPr>
            <a:spLocks noGrp="1"/>
          </p:cNvSpPr>
          <p:nvPr>
            <p:ph type="title"/>
          </p:nvPr>
        </p:nvSpPr>
        <p:spPr/>
        <p:txBody>
          <a:bodyPr>
            <a:normAutofit/>
          </a:bodyPr>
          <a:lstStyle/>
          <a:p>
            <a:r>
              <a:rPr lang="zh-MO" altLang="en-US" sz="3600" dirty="0"/>
              <a:t>native座標はどこから来たか</a:t>
            </a:r>
            <a:r>
              <a:rPr lang="ja-JP" altLang="en-US" sz="3600"/>
              <a:t/>
            </a:r>
            <a:r>
              <a:rPr lang="en-US" altLang="ja-JP" sz="3600" dirty="0"/>
              <a:t/>
            </a:r>
            <a:r>
              <a:rPr lang="zh-MO" altLang="en-US" sz="3600" dirty="0"/>
              <a:t/>
            </a:r>
            <a:r>
              <a:rPr lang="ja-JP" altLang="en-US" sz="3600"/>
              <a:t/>
            </a:r>
            <a:r>
              <a:rPr lang="zh-MO" altLang="en-US" sz="3600" dirty="0"/>
              <a:t/>
            </a:r>
            <a:r>
              <a:rPr lang="ja-JP" altLang="en-US" sz="3600"/>
              <a:t/>
            </a:r>
            <a:endParaRPr kumimoji="1" lang="zh-MO" altLang="en-US" sz="3600" dirty="0"/>
          </a:p>
        </p:txBody>
      </p:sp>
      <p:sp>
        <p:nvSpPr>
          <p:cNvPr id="6" name="投影片編號版面配置區 5">
            <a:extLst>
              <a:ext uri="{FF2B5EF4-FFF2-40B4-BE49-F238E27FC236}">
                <ns2:creationId id="{938697B5-BC02-F530-5D65-904DADA31E35}"/>
              </a:ext>
            </a:extLst>
          </p:cNvPr>
          <p:cNvSpPr>
            <a:spLocks noGrp="1"/>
          </p:cNvSpPr>
          <p:nvPr>
            <p:ph type="sldNum" sz="quarter" idx="12"/>
          </p:nvPr>
        </p:nvSpPr>
        <p:spPr/>
        <p:txBody>
          <a:bodyPr/>
          <a:lstStyle/>
          <a:p>
            <a:fld id="{3509F7B2-E600-4F87-A2BF-206386C1A1D6}" type="slidenum">
              <a:rPr kumimoji="1" lang="ja-JP" altLang="en-US" smtClean="0"/>
              <a:t>6</a:t>
            </a:fld>
            <a:endParaRPr kumimoji="1" lang="ja-JP" altLang="en-US"/>
          </a:p>
        </p:txBody>
      </p:sp>
      <p:sp>
        <p:nvSpPr>
          <p:cNvPr id="8" name="文字方塊 7">
            <a:extLst>
              <a:ext uri="{FF2B5EF4-FFF2-40B4-BE49-F238E27FC236}">
                <ns2:creationId id="{BE05CBD2-B721-8DC4-CD41-C47A33306020}"/>
              </a:ext>
            </a:extLst>
          </p:cNvPr>
          <p:cNvSpPr txBox="1"/>
          <p:nvPr/>
        </p:nvSpPr>
        <p:spPr>
          <a:xfrm>
            <a:off x="838199" y="1180316"/>
            <a:ext cx="10515599" cy="4093428"/>
          </a:xfrm>
          <a:prstGeom prst="rect">
            <a:avLst/>
          </a:prstGeom>
          <a:noFill/>
        </p:spPr>
        <p:txBody>
          <a:bodyPr wrap="square" rtlCol="0">
            <a:spAutoFit/>
          </a:bodyPr>
          <a:lstStyle/>
          <a:p>
            <a:r>
              <a:rPr kumimoji="1" lang="en-GB" altLang="zh-MO" sz="2600" dirty="0">
                <a:latin typeface="HGPSoeiKakugothicUB" panose="020B0900000000000000" pitchFamily="34" charset="-128"/>
                <a:ea typeface="HGPSoeiKakugothicUB" panose="020B0900000000000000" pitchFamily="34" charset="-128"/>
              </a:rPr>
              <a:t>・Russell の VA / Circumplex Model に基づく相対的位置関係を参考にした。
・NRCなどの外部辞書から直接取得した座標ではない。
・本研究内で7基本感情を正規化して置いた内部基準座標である。</a:t>
            </a:r>
            <a:r>
              <a:rPr kumimoji="1" lang="zh-MO" altLang="en-US" sz="2600" dirty="0">
                <a:latin typeface="HGPSoeiKakugothicUB" panose="020B0900000000000000" pitchFamily="34" charset="-128"/>
                <a:ea typeface="HGPSoeiKakugothicUB" panose="020B0900000000000000" pitchFamily="34" charset="-128"/>
              </a:rPr>
              <a:t/>
            </a:r>
            <a:r>
              <a:rPr kumimoji="1" lang="en-US" altLang="zh-MO" sz="2600" dirty="0">
                <a:latin typeface="HGPSoeiKakugothicUB" panose="020B0900000000000000" pitchFamily="34" charset="-128"/>
                <a:ea typeface="HGPSoeiKakugothicUB" panose="020B0900000000000000" pitchFamily="34" charset="-128"/>
              </a:rPr>
              <a:t/>
            </a:r>
          </a:p>
          <a:p>
            <a:r>
              <a:rPr kumimoji="1" lang="en-GB"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endParaRPr kumimoji="1" lang="en-US" altLang="ja-JP" sz="2600" dirty="0">
              <a:latin typeface="HGPSoeiKakugothicUB" panose="020B0900000000000000" pitchFamily="34" charset="-128"/>
              <a:ea typeface="HGPSoeiKakugothicUB" panose="020B0900000000000000" pitchFamily="34" charset="-128"/>
            </a:endParaRPr>
          </a:p>
          <a:p>
            <a:br>
              <a:rPr kumimoji="1" lang="ja-JP" altLang="en-US" sz="2600">
                <a:latin typeface="HGPSoeiKakugothicUB" panose="020B0900000000000000" pitchFamily="34" charset="-128"/>
                <a:ea typeface="HGPSoeiKakugothicUB" panose="020B0900000000000000" pitchFamily="34" charset="-128"/>
              </a:rPr>
            </a:b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zh-MO" altLang="en-GB"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GB"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en-US" altLang="ja-JP"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en-US" altLang="zh-MO" sz="2600" dirty="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r>
              <a:rPr kumimoji="1" lang="zh-MO" altLang="en-US" sz="2600" dirty="0">
                <a:latin typeface="HGPSoeiKakugothicUB" panose="020B0900000000000000" pitchFamily="34" charset="-128"/>
                <a:ea typeface="HGPSoeiKakugothicUB" panose="020B0900000000000000" pitchFamily="34" charset="-128"/>
              </a:rPr>
              <a:t/>
            </a:r>
            <a:r>
              <a:rPr kumimoji="1" lang="ja-JP" altLang="en-US" sz="2600">
                <a:latin typeface="HGPSoeiKakugothicUB" panose="020B0900000000000000" pitchFamily="34" charset="-128"/>
                <a:ea typeface="HGPSoeiKakugothicUB" panose="020B0900000000000000" pitchFamily="34" charset="-128"/>
              </a:rPr>
              <a:t/>
            </a:r>
            <a:endParaRPr kumimoji="1" lang="zh-MO" altLang="en-US" sz="2600" dirty="0"/>
          </a:p>
        </p:txBody>
      </p:sp>
    </p:spTree>
    <p:extLst>
      <p:ext uri="{BB962C8B-B14F-4D97-AF65-F5344CB8AC3E}">
        <ns3:creationId val="1270558821"/>
      </p:ext>
    </p:extLst>
  </p:cSld>
  <p:clrMapOvr>
    <a:masterClrMapping/>
  </p:clrMapOvr>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7A75D43E-5A09-4348-2E53-3DBDC482C2C9}"/>
            </a:ext>
          </a:extLst>
        </p:cNvPr>
        <p:cNvGrpSpPr/>
        <p:nvPr/>
      </p:nvGrpSpPr>
      <p:grpSpPr>
        <a:xfrm>
          <a:off x="0" y="0"/>
          <a:ext cx="0" cy="0"/>
          <a:chOff x="0" y="0"/>
          <a:chExt cx="0" cy="0"/>
        </a:xfrm>
      </p:grpSpPr>
      <p:sp>
        <p:nvSpPr>
          <p:cNvPr id="2" name="標題 1">
            <a:extLst>
              <a:ext uri="{FF2B5EF4-FFF2-40B4-BE49-F238E27FC236}">
                <ns2:creationId id="{45BE93DA-B7B1-6ACC-96EB-8C2C20FFC3ED}"/>
              </a:ext>
            </a:extLst>
          </p:cNvPr>
          <p:cNvSpPr>
            <a:spLocks noGrp="1"/>
          </p:cNvSpPr>
          <p:nvPr>
            <p:ph type="title"/>
          </p:nvPr>
        </p:nvSpPr>
        <p:spPr/>
        <p:txBody>
          <a:bodyPr>
            <a:normAutofit/>
          </a:bodyPr>
          <a:lstStyle/>
          <a:p>
            <a:r>
              <a:rPr lang="ja-JP" altLang="en-US" sz="3600"/>
              <a:t>なぜNRC VAD座標を使うのか</a:t>
            </a:r>
            <a:r>
              <a:rPr lang="en-GB" altLang="zh-MO" sz="3600" dirty="0"/>
              <a:t/>
            </a:r>
            <a:r>
              <a:rPr lang="zh-MO" altLang="en-US" sz="3600" dirty="0"/>
              <a:t/>
            </a:r>
            <a:r>
              <a:rPr lang="ja-JP" altLang="en-US" sz="3600"/>
              <a:t/>
            </a:r>
            <a:r>
              <a:rPr lang="zh-MO" altLang="en-US" sz="3600" dirty="0"/>
              <a:t/>
            </a:r>
            <a:r>
              <a:rPr lang="ja-JP" altLang="en-US" sz="3600"/>
              <a:t/>
            </a:r>
            <a:endParaRPr kumimoji="1" lang="zh-MO" altLang="en-US" sz="3600" dirty="0"/>
          </a:p>
        </p:txBody>
      </p:sp>
      <p:sp>
        <p:nvSpPr>
          <p:cNvPr id="6" name="投影片編號版面配置區 5">
            <a:extLst>
              <a:ext uri="{FF2B5EF4-FFF2-40B4-BE49-F238E27FC236}">
                <ns2:creationId id="{8F045B6E-949B-D567-21B8-A3699F93F08C}"/>
              </a:ext>
            </a:extLst>
          </p:cNvPr>
          <p:cNvSpPr>
            <a:spLocks noGrp="1"/>
          </p:cNvSpPr>
          <p:nvPr>
            <p:ph type="sldNum" sz="quarter" idx="12"/>
          </p:nvPr>
        </p:nvSpPr>
        <p:spPr/>
        <p:txBody>
          <a:bodyPr/>
          <a:lstStyle/>
          <a:p>
            <a:fld id="{3509F7B2-E600-4F87-A2BF-206386C1A1D6}" type="slidenum">
              <a:rPr kumimoji="1" lang="ja-JP" altLang="en-US" smtClean="0"/>
              <a:t>7</a:t>
            </a:fld>
            <a:endParaRPr kumimoji="1" lang="ja-JP" altLang="en-US"/>
          </a:p>
        </p:txBody>
      </p:sp>
      <p:sp>
        <p:nvSpPr>
          <p:cNvPr id="8" name="文字方塊 7">
            <a:extLst>
              <a:ext uri="{FF2B5EF4-FFF2-40B4-BE49-F238E27FC236}">
                <ns2:creationId id="{396D5853-88F2-3CD9-9842-850CCA66C4CD}"/>
              </a:ext>
            </a:extLst>
          </p:cNvPr>
          <p:cNvSpPr txBox="1"/>
          <p:nvPr/>
        </p:nvSpPr>
        <p:spPr>
          <a:xfrm>
            <a:off x="838199" y="1180316"/>
            <a:ext cx="10515599" cy="3108543"/>
          </a:xfrm>
          <a:prstGeom prst="rect">
            <a:avLst/>
          </a:prstGeom>
          <a:noFill/>
        </p:spPr>
        <p:txBody>
          <a:bodyPr wrap="square" rtlCol="0">
            <a:spAutoFit/>
          </a:bodyPr>
          <a:lstStyle/>
          <a:p>
            <a:r>
              <a:rPr lang="en-US" altLang="zh-MO" sz="28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・native座標だけでは、座標設定の主観性が残る。
・NRC VAD は感情語に Valence / Arousal / Dominance の外部評定値を与える辞書である。
・nativeで見えた融合構造が、NRCに近い座標でも保たれるかを検証できる。</a:t>
            </a:r>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8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800" dirty="0">
              <a:latin typeface="HGPSoeiKakugothicUB" panose="020B0900000000000000" pitchFamily="34" charset="-128"/>
              <a:ea typeface="HGPSoeiKakugothicUB" panose="020B0900000000000000" pitchFamily="34" charset="-128"/>
            </a:endParaRPr>
          </a:p>
          <a:p>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800" dirty="0">
              <a:latin typeface="HGPSoeiKakugothicUB" panose="020B0900000000000000" pitchFamily="34" charset="-128"/>
              <a:ea typeface="HGPSoeiKakugothicUB" panose="020B0900000000000000" pitchFamily="34" charset="-128"/>
            </a:endParaRPr>
          </a:p>
          <a:p>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800" dirty="0">
              <a:latin typeface="HGPSoeiKakugothicUB" panose="020B0900000000000000" pitchFamily="34" charset="-128"/>
              <a:ea typeface="HGPSoeiKakugothicUB" panose="020B0900000000000000" pitchFamily="34" charset="-128"/>
            </a:endParaRPr>
          </a:p>
          <a:p>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8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8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800" dirty="0">
              <a:latin typeface="HGPSoeiKakugothicUB" panose="020B0900000000000000" pitchFamily="34" charset="-128"/>
              <a:ea typeface="HGPSoeiKakugothicUB" panose="020B0900000000000000" pitchFamily="34" charset="-128"/>
            </a:endParaRPr>
          </a:p>
        </p:txBody>
      </p:sp>
    </p:spTree>
    <p:extLst>
      <p:ext uri="{BB962C8B-B14F-4D97-AF65-F5344CB8AC3E}">
        <ns3:creationId val="1916664377"/>
      </p:ext>
    </p:extLst>
  </p:cSld>
  <p:clrMapOvr>
    <a:masterClrMapping/>
  </p:clrMapOvr>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a:extLst>
            <a:ext uri="{FF2B5EF4-FFF2-40B4-BE49-F238E27FC236}">
              <ns2:creationId id="{D3B1373B-3973-9922-F1FA-5A6719EC4D4C}"/>
            </a:ext>
          </a:extLst>
        </p:cNvPr>
        <p:cNvGrpSpPr/>
        <p:nvPr/>
      </p:nvGrpSpPr>
      <p:grpSpPr>
        <a:xfrm>
          <a:off x="0" y="0"/>
          <a:ext cx="0" cy="0"/>
          <a:chOff x="0" y="0"/>
          <a:chExt cx="0" cy="0"/>
        </a:xfrm>
      </p:grpSpPr>
      <p:sp>
        <p:nvSpPr>
          <p:cNvPr id="2" name="標題 1">
            <a:extLst>
              <a:ext uri="{FF2B5EF4-FFF2-40B4-BE49-F238E27FC236}">
                <ns2:creationId id="{247C42D0-F0C7-2C52-5386-58A56A491B2D}"/>
              </a:ext>
            </a:extLst>
          </p:cNvPr>
          <p:cNvSpPr>
            <a:spLocks noGrp="1"/>
          </p:cNvSpPr>
          <p:nvPr>
            <p:ph type="title"/>
          </p:nvPr>
        </p:nvSpPr>
        <p:spPr/>
        <p:txBody>
          <a:bodyPr>
            <a:normAutofit/>
          </a:bodyPr>
          <a:lstStyle/>
          <a:p>
            <a:r>
              <a:rPr lang="en-US" altLang="zh-MO" sz="3600" dirty="0">
                <a:solidFill>
                  <a:srgbClr val="222222"/>
                </a:solidFill>
                <a:cs typeface="游ゴシック Light" pitchFamily="34" charset="-120"/>
              </a:rPr>
              <a:t>NRC座標の作り方：nrc_affine と nrc_direct</a:t>
            </a:r>
            <a:endParaRPr lang="en-US" altLang="zh-MO" sz="3600" dirty="0"/>
          </a:p>
        </p:txBody>
      </p:sp>
      <p:sp>
        <p:nvSpPr>
          <p:cNvPr id="6" name="投影片編號版面配置區 5">
            <a:extLst>
              <a:ext uri="{FF2B5EF4-FFF2-40B4-BE49-F238E27FC236}">
                <ns2:creationId id="{2C8A8CEB-3CD5-69FA-4ABC-44DE43948B34}"/>
              </a:ext>
            </a:extLst>
          </p:cNvPr>
          <p:cNvSpPr>
            <a:spLocks noGrp="1"/>
          </p:cNvSpPr>
          <p:nvPr>
            <p:ph type="sldNum" sz="quarter" idx="12"/>
          </p:nvPr>
        </p:nvSpPr>
        <p:spPr/>
        <p:txBody>
          <a:bodyPr/>
          <a:lstStyle/>
          <a:p>
            <a:fld id="{3509F7B2-E600-4F87-A2BF-206386C1A1D6}" type="slidenum">
              <a:rPr kumimoji="1" lang="ja-JP" altLang="en-US" smtClean="0"/>
              <a:t>8</a:t>
            </a:fld>
            <a:endParaRPr kumimoji="1" lang="ja-JP" altLang="en-US"/>
          </a:p>
        </p:txBody>
      </p:sp>
      <p:sp>
        <p:nvSpPr>
          <p:cNvPr id="3" name="Shape 2">
            <a:extLst>
              <a:ext uri="{FF2B5EF4-FFF2-40B4-BE49-F238E27FC236}">
                <ns2:creationId id="{5458F3E2-C715-1962-9A89-A8E1A5CBCCA4}"/>
              </a:ext>
            </a:extLst>
          </p:cNvPr>
          <p:cNvSpPr/>
          <p:nvPr/>
        </p:nvSpPr>
        <p:spPr>
          <a:xfrm>
            <a:off x="2107257" y="1381635"/>
            <a:ext cx="3663176" cy="2722013"/>
          </a:xfrm>
          <a:prstGeom prst="rect">
            <a:avLst/>
          </a:prstGeom>
          <a:solidFill>
            <a:srgbClr val="EAF1FB"/>
          </a:solidFill>
          <a:ln w="10160">
            <a:solidFill>
              <a:srgbClr val="4472C4"/>
            </a:solidFill>
            <a:prstDash val="solid"/>
          </a:ln>
        </p:spPr>
      </p:sp>
      <p:sp>
        <p:nvSpPr>
          <p:cNvPr id="4" name="Text 3">
            <a:extLst>
              <a:ext uri="{FF2B5EF4-FFF2-40B4-BE49-F238E27FC236}">
                <ns2:creationId id="{D2B33AD9-1AE3-3A16-77BB-9FF5FECC5B61}"/>
              </a:ext>
            </a:extLst>
          </p:cNvPr>
          <p:cNvSpPr/>
          <p:nvPr/>
        </p:nvSpPr>
        <p:spPr>
          <a:xfrm>
            <a:off x="2255639" y="1566963"/>
            <a:ext cx="3366412" cy="2351356"/>
          </a:xfrm>
          <a:prstGeom prst="rect">
            <a:avLst/>
          </a:prstGeom>
          <a:noFill/>
          <a:ln/>
        </p:spPr>
        <p:txBody>
          <a:bodyPr wrap="square" lIns="0" tIns="0" rIns="0" bIns="0" rtlCol="0" anchor="ctr">
            <a:normAutofit/>
          </a:bodyPr>
          <a:lstStyle/>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nrc_affine は7基本感情を NRC に合わせ、Full49 全体へ同じ変換を適用する。
nrc_direct は各セルの出力ラベルを NRC 辞書座標で直接置き換える。</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p:txBody>
      </p:sp>
      <p:sp>
        <p:nvSpPr>
          <p:cNvPr id="5" name="Shape 4">
            <a:extLst>
              <a:ext uri="{FF2B5EF4-FFF2-40B4-BE49-F238E27FC236}">
                <ns2:creationId id="{FAF596B8-2569-2EB4-A43C-66AA7EB4AC18}"/>
              </a:ext>
            </a:extLst>
          </p:cNvPr>
          <p:cNvSpPr/>
          <p:nvPr/>
        </p:nvSpPr>
        <p:spPr>
          <a:xfrm>
            <a:off x="6421567" y="1381635"/>
            <a:ext cx="3663176" cy="2722013"/>
          </a:xfrm>
          <a:prstGeom prst="rect">
            <a:avLst/>
          </a:prstGeom>
          <a:solidFill>
            <a:srgbClr val="FCE4D6"/>
          </a:solidFill>
          <a:ln w="10160">
            <a:solidFill>
              <a:srgbClr val="4472C4"/>
            </a:solidFill>
            <a:prstDash val="solid"/>
          </a:ln>
        </p:spPr>
      </p:sp>
      <p:sp>
        <p:nvSpPr>
          <p:cNvPr id="7" name="Text 5">
            <a:extLst>
              <a:ext uri="{FF2B5EF4-FFF2-40B4-BE49-F238E27FC236}">
                <ns2:creationId id="{2D88B2AB-87D6-FC8F-8B28-4B18E8962DB2}"/>
              </a:ext>
            </a:extLst>
          </p:cNvPr>
          <p:cNvSpPr/>
          <p:nvPr/>
        </p:nvSpPr>
        <p:spPr>
          <a:xfrm>
            <a:off x="6569949" y="1527940"/>
            <a:ext cx="3366412" cy="2351356"/>
          </a:xfrm>
          <a:prstGeom prst="rect">
            <a:avLst/>
          </a:prstGeom>
          <a:noFill/>
          <a:ln/>
        </p:spPr>
        <p:txBody>
          <a:bodyPr wrap="square" lIns="0" tIns="0" rIns="0" bIns="0" rtlCol="0" anchor="ctr">
            <a:normAutofit/>
          </a:bodyPr>
          <a:lstStyle/>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p:txBody>
      </p:sp>
      <p:sp>
        <p:nvSpPr>
          <p:cNvPr id="11" name="文字方塊 10">
            <a:extLst>
              <a:ext uri="{FF2B5EF4-FFF2-40B4-BE49-F238E27FC236}">
                <ns2:creationId id="{217F8566-6F89-8D27-0E3F-6B4A1FCB1E7E}"/>
              </a:ext>
            </a:extLst>
          </p:cNvPr>
          <p:cNvSpPr txBox="1"/>
          <p:nvPr/>
        </p:nvSpPr>
        <p:spPr>
          <a:xfrm>
            <a:off x="1439917" y="4729895"/>
            <a:ext cx="9312165" cy="1200329"/>
          </a:xfrm>
          <a:prstGeom prst="rect">
            <a:avLst/>
          </a:prstGeom>
          <a:noFill/>
        </p:spPr>
        <p:txBody>
          <a:bodyPr wrap="none" rtlCol="0">
            <a:spAutoFit/>
          </a:bodyPr>
          <a:lstStyle/>
          <a:p>
            <a:r>
              <a:rPr lang="en-US" altLang="zh-MO" sz="24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4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4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400" dirty="0">
              <a:latin typeface="HGPSoeiKakugothicUB" panose="020B0900000000000000" pitchFamily="34" charset="-128"/>
              <a:ea typeface="HGPSoeiKakugothicUB" panose="020B0900000000000000" pitchFamily="34" charset="-128"/>
            </a:endParaRPr>
          </a:p>
          <a:p>
            <a:r>
              <a:rPr lang="en-US" altLang="zh-MO" sz="24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400" dirty="0" err="1">
                <a:solidFill>
                  <a:srgbClr val="222222"/>
                </a:solidFill>
                <a:latin typeface="HGPSoeiKakugothicUB" panose="020B0900000000000000" pitchFamily="34" charset="-128"/>
                <a:ea typeface="HGPSoeiKakugothicUB" panose="020B0900000000000000" pitchFamily="34" charset="-128"/>
                <a:cs typeface="游ゴシック" pitchFamily="34" charset="-120"/>
              </a:rPr>
              <a:t/>
            </a:r>
            <a:r>
              <a:rPr lang="en-US" altLang="zh-MO" sz="2400" dirty="0">
                <a:solidFill>
                  <a:srgbClr val="222222"/>
                </a:solidFill>
                <a:latin typeface="HGPSoeiKakugothicUB" panose="020B0900000000000000" pitchFamily="34" charset="-128"/>
                <a:ea typeface="HGPSoeiKakugothicUB" panose="020B0900000000000000" pitchFamily="34" charset="-128"/>
                <a:cs typeface="游ゴシック" pitchFamily="34" charset="-120"/>
              </a:rPr>
              <a:t/>
            </a:r>
            <a:endParaRPr lang="en-US" altLang="zh-MO" sz="2400" dirty="0">
              <a:latin typeface="HGPSoeiKakugothicUB" panose="020B0900000000000000" pitchFamily="34" charset="-128"/>
              <a:ea typeface="HGPSoeiKakugothicUB" panose="020B0900000000000000" pitchFamily="34" charset="-128"/>
            </a:endParaRPr>
          </a:p>
          <a:p>
            <a:endParaRPr kumimoji="1" lang="zh-MO" altLang="en-US" sz="2400" dirty="0">
              <a:latin typeface="HGPSoeiKakugothicUB" panose="020B0900000000000000" pitchFamily="34" charset="-128"/>
              <a:ea typeface="HGPSoeiKakugothicUB" panose="020B0900000000000000" pitchFamily="34" charset="-128"/>
            </a:endParaRPr>
          </a:p>
        </p:txBody>
      </p:sp>
      <p:pic>
        <p:nvPicPr>
          <p:cNvPr id="200" name="NRC coordinate modes"/>
          <p:cNvPicPr>
            <a:picLocks noChangeAspect="1"/>
          </p:cNvPicPr>
          <p:nvPr/>
        </p:nvPicPr>
        <p:blipFill>
          <a:blip r:embed="rId200"/>
          <a:stretch>
            <a:fillRect/>
          </a:stretch>
        </p:blipFill>
        <p:spPr>
          <a:xfrm>
            <a:off x="594360" y="1874519"/>
            <a:ext cx="8183879" cy="3611880"/>
          </a:xfrm>
          <a:prstGeom prst="rect">
            <a:avLst/>
          </a:prstGeom>
        </p:spPr>
      </p:pic>
    </p:spTree>
    <p:extLst>
      <p:ext uri="{BB962C8B-B14F-4D97-AF65-F5344CB8AC3E}">
        <ns4:creationId val="45440240"/>
      </p:ext>
    </p:extLst>
  </p:cSld>
  <p:clrMapOvr>
    <a:masterClrMapping/>
  </p:clrMapOvr>
</p:sld>
</file>

<file path=ppt/slides/slide9.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標題 9">
            <a:extLst>
              <a:ext uri="{FF2B5EF4-FFF2-40B4-BE49-F238E27FC236}">
                <ns2:creationId id="{84310757-9400-5F49-3F16-8AA7A6CB9757}"/>
              </a:ext>
            </a:extLst>
          </p:cNvPr>
          <p:cNvSpPr>
            <a:spLocks noGrp="1"/>
          </p:cNvSpPr>
          <p:nvPr>
            <p:ph type="title"/>
          </p:nvPr>
        </p:nvSpPr>
        <p:spPr/>
        <p:txBody>
          <a:bodyPr>
            <a:normAutofit/>
          </a:bodyPr>
          <a:lstStyle/>
          <a:p>
            <a:r>
              <a:rPr lang="ja-JP" altLang="en-US" sz="3600"/>
              <a:t>手法の進化プロセス</a:t>
            </a:r>
          </a:p>
        </p:txBody>
      </p:sp>
      <ns3:AlternateContent>
        <ns3:Choice Requires="a14">
          <p:sp>
            <p:nvSpPr>
              <p:cNvPr id="11" name="內容版面配置區 10">
                <a:extLst>
                  <a:ext uri="{FF2B5EF4-FFF2-40B4-BE49-F238E27FC236}">
                    <ns2:creationId id="{52E1B661-B2D3-7A1E-7DD7-EF6A25CCE6D2}"/>
                  </a:ext>
                </a:extLst>
              </p:cNvPr>
              <p:cNvSpPr>
                <a:spLocks noGrp="1"/>
              </p:cNvSpPr>
              <p:nvPr>
                <p:ph idx="1"/>
              </p:nvPr>
            </p:nvSpPr>
            <p:spPr>
              <a:xfrm>
                <a:off x="838200" y="1180316"/>
                <a:ext cx="10515600" cy="5394513"/>
              </a:xfrm>
            </p:spPr>
            <p:txBody>
              <a:bodyPr>
                <a:normAutofit/>
              </a:bodyPr>
              <a:lstStyle/>
              <a:p>
                <a:pPr marL="0" indent="0">
                  <a:buNone/>
                </a:pPr>
                <a:r>
                  <a:rPr lang="ja-JP" altLang="en-US"/>
                  <a:t>Step1：距離ベースの葛藤強度を導入する。
Step2：Valence と Arousal を別々のチャネルとして扱う。
Step3：Table14 → Holdout35 の検証プロトコルを確立する。
Step4–6：simple average / linear / quadratic / abs を比較する。</a:t>
                </a:r>
              </a:p>
              <a:p>
                <a:pPr marL="0" indent="0">
                  <a:buNone/>
                </a:pPr>
                <a:r>
                  <a:rPr lang="ja-JP" altLang="en-US"/>
                  <a:t/>
                </a:r>
              </a:p>
              <a:p>
                <a:pPr marL="0" indent="0">
                  <a:buNone/>
                </a:pPr>
                <a:r>
                  <a:rPr lang="ja-JP" altLang="en-US"/>
                  <a:t/>
                </a:r>
                <ns4:m>
                  <ns5:oMath>
                    <ns5:sSup>
                      <ns5:sSupPr>
                        <ns5:ctrlPr>
                          <a:rPr lang="ja-JP" altLang="en-US" i="1" smtClean="0">
                            <a:latin typeface="Cambria Math" panose="02040503050406030204" pitchFamily="18" charset="0"/>
                          </a:rPr>
                        </ns5:ctrlPr>
                      </ns5:sSupPr>
                      <ns5:e>
                        <ns5:r>
                          <a:rPr lang="ja-JP" altLang="en-US" i="1" smtClean="0">
                            <a:latin typeface="Cambria Math" panose="02040503050406030204" pitchFamily="18" charset="0"/>
                          </a:rPr>
                          <ns5:t>𝑤</ns5:t>
                        </ns5:r>
                      </ns5:e>
                      <ns5:sup>
                        <ns5:r>
                          <a:rPr lang="ja-JP" altLang="en-US" i="1" smtClean="0">
                            <a:latin typeface="Cambria Math" panose="02040503050406030204" pitchFamily="18" charset="0"/>
                          </a:rPr>
                          <ns5:t>𝑉</ns5:t>
                        </ns5:r>
                      </ns5:sup>
                    </ns5:sSup>
                    <ns5:r>
                      <a:rPr lang="ja-JP" altLang="en-US" i="1" smtClean="0">
                        <a:latin typeface="Cambria Math" panose="02040503050406030204" pitchFamily="18" charset="0"/>
                      </a:rPr>
                      <ns5:t>,</ns5:t>
                    </ns5:r>
                    <ns5:sSup>
                      <ns5:sSupPr>
                        <ns5:ctrlPr>
                          <a:rPr lang="ja-JP" altLang="en-US" i="1" smtClean="0">
                            <a:latin typeface="Cambria Math" panose="02040503050406030204" pitchFamily="18" charset="0"/>
                          </a:rPr>
                        </ns5:ctrlPr>
                      </ns5:sSupPr>
                      <ns5:e>
                        <ns5:r>
                          <a:rPr lang="ja-JP" altLang="en-US" i="1" smtClean="0">
                            <a:latin typeface="Cambria Math" panose="02040503050406030204" pitchFamily="18" charset="0"/>
                          </a:rPr>
                          <ns5:t>𝑤</ns5:t>
                        </ns5:r>
                      </ns5:e>
                      <ns5:sup>
                        <ns5:r>
                          <a:rPr lang="ja-JP" altLang="en-US" i="1" smtClean="0">
                            <a:latin typeface="Cambria Math" panose="02040503050406030204" pitchFamily="18" charset="0"/>
                          </a:rPr>
                          <ns5:t>𝐴</ns5:t>
                        </ns5:r>
                      </ns5:sup>
                    </ns5:sSup>
                  </ns5:oMath>
                </ns4:m>
                <a:r>
                  <a:rPr lang="ja-JP" altLang="en-US"/>
                  <a:t/>
                </a:r>
              </a:p>
              <a:p>
                <a:pPr marL="0" indent="0">
                  <a:buNone/>
                </a:pPr>
                <a:r>
                  <a:rPr lang="ja-JP" altLang="en-US"/>
                  <a:t/>
                </a:r>
              </a:p>
              <a:p>
                <a:pPr marL="0" indent="0">
                  <a:buNone/>
                </a:pPr>
                <a:r>
                  <a:rPr lang="ja-JP" altLang="en-US"/>
                  <a:t/>
                </a:r>
              </a:p>
              <a:p>
                <a:pPr marL="0" indent="0">
                  <a:buNone/>
                </a:pPr>
                <a:r>
                  <a:rPr lang="ja-JP" altLang="en-US"/>
                  <a:t/>
                </a:r>
                <ns4:m>
                  <ns5:oMath>
                    <ns5:sSup>
                      <ns5:sSupPr>
                        <ns5:ctrlPr>
                          <a:rPr lang="ja-JP" altLang="en-US" i="1" smtClean="0">
                            <a:latin typeface="Cambria Math" panose="02040503050406030204" pitchFamily="18" charset="0"/>
                          </a:rPr>
                        </ns5:ctrlPr>
                      </ns5:sSupPr>
                      <ns5:e>
                        <ns5:r>
                          <a:rPr lang="ja-JP" altLang="en-US" i="1" smtClean="0">
                            <a:latin typeface="Cambria Math" panose="02040503050406030204" pitchFamily="18" charset="0"/>
                          </a:rPr>
                          <ns5:t>𝑑</ns5:t>
                        </ns5:r>
                      </ns5:e>
                      <ns5:sup>
                        <ns5:r>
                          <a:rPr lang="ja-JP" altLang="en-US" i="1" smtClean="0">
                            <a:latin typeface="Cambria Math" panose="02040503050406030204" pitchFamily="18" charset="0"/>
                          </a:rPr>
                          <ns5:t>2</ns5:t>
                        </ns5:r>
                      </ns5:sup>
                    </ns5:sSup>
                  </ns5:oMath>
                </ns4:m>
                <a:r>
                  <a:rPr lang="ja-JP" altLang="en-US"/>
                  <a:t/>
                </a:r>
              </a:p>
              <a:p>
                <a:pPr marL="0" indent="0">
                  <a:buNone/>
                </a:pPr>
                <a:r>
                  <a:rPr lang="ja-JP" altLang="en-US"/>
                  <a:t/>
                </a:r>
              </a:p>
            </p:txBody>
          </p:sp>
        </ns3:Choice>
        <ns3:Fallback>
          <p:sp>
            <p:nvSpPr>
              <p:cNvPr id="11" name="內容版面配置區 10">
                <a:extLst>
                  <a:ext uri="{FF2B5EF4-FFF2-40B4-BE49-F238E27FC236}">
                    <ns2:creationId id="{52E1B661-B2D3-7A1E-7DD7-EF6A25CCE6D2}"/>
                  </a:ext>
                </a:extLst>
              </p:cNvPr>
              <p:cNvSpPr>
                <a:spLocks noGrp="1" noRot="1" noChangeAspect="1" noMove="1" noResize="1" noEditPoints="1" noAdjustHandles="1" noChangeArrowheads="1" noChangeShapeType="1" noTextEdit="1"/>
              </p:cNvSpPr>
              <p:nvPr>
                <p:ph idx="1"/>
              </p:nvPr>
            </p:nvSpPr>
            <p:spPr>
              <a:xfrm>
                <a:off x="838200" y="1180316"/>
                <a:ext cx="10515600" cy="5394513"/>
              </a:xfrm>
              <a:blipFill>
                <a:blip r:embed="rId3"/>
                <a:stretch>
                  <a:fillRect l="-1206" t="-2118" r="-1206"/>
                </a:stretch>
              </a:blipFill>
            </p:spPr>
            <p:txBody>
              <a:bodyPr/>
              <a:lstStyle/>
              <a:p>
                <a:r>
                  <a:rPr lang="zh-MO" altLang="en-US">
                    <a:noFill/>
                  </a:rPr>
                  <a:t/>
                </a:r>
              </a:p>
            </p:txBody>
          </p:sp>
        </ns3:Fallback>
      </ns3:AlternateContent>
      <p:sp>
        <p:nvSpPr>
          <p:cNvPr id="6" name="投影片編號版面配置區 5">
            <a:extLst>
              <a:ext uri="{FF2B5EF4-FFF2-40B4-BE49-F238E27FC236}">
                <ns2:creationId id="{BE3E02BF-7C23-436B-D7B6-EAFCBDF1D29E}"/>
              </a:ext>
            </a:extLst>
          </p:cNvPr>
          <p:cNvSpPr>
            <a:spLocks noGrp="1"/>
          </p:cNvSpPr>
          <p:nvPr>
            <p:ph type="sldNum" sz="quarter" idx="12"/>
          </p:nvPr>
        </p:nvSpPr>
        <p:spPr>
          <a:xfrm>
            <a:off x="8610600" y="6356350"/>
            <a:ext cx="2743200" cy="365125"/>
          </a:xfrm>
        </p:spPr>
        <p:txBody>
          <a:bodyPr/>
          <a:lstStyle/>
          <a:p>
            <a:fld id="{3509F7B2-E600-4F87-A2BF-206386C1A1D6}" type="slidenum">
              <a:rPr lang="ja-JP" altLang="en-US" smtClean="0"/>
              <a:pPr/>
              <a:t>9</a:t>
            </a:fld>
            <a:endParaRPr lang="ja-JP" altLang="en-US"/>
          </a:p>
        </p:txBody>
      </p:sp>
    </p:spTree>
    <p:extLst>
      <p:ext uri="{BB962C8B-B14F-4D97-AF65-F5344CB8AC3E}">
        <ns7:creationId val="271866070"/>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en-US" altLang="ja-JP" sz="3600" dirty="0"/>
              <a:t>Step1：スカラー葛藤モデリング</a:t>
            </a:r>
            <a:r>
              <a:rPr lang="ja-JP" altLang="en-US" sz="3600"/>
              <a:t/>
            </a:r>
            <a:r>
              <a:rPr lang="zh-MO" altLang="en-US" sz="3600" dirty="0"/>
              <a:t/>
            </a:r>
            <a:r>
              <a:rPr lang="ja-JP" altLang="en-US" sz="3600"/>
              <a:t/>
            </a:r>
            <a:endParaRPr kumimoji="1" lang="zh-MO" altLang="en-US" sz="3600" dirty="0"/>
          </a:p>
        </p:txBody>
      </p:sp>
      <p:sp>
        <p:nvSpPr>
          <p:cNvPr id="3" name="內容版面配置區 2">
            <a:extLst>
              <a:ext uri="{FF2B5EF4-FFF2-40B4-BE49-F238E27FC236}">
                <ns2:creationId id="{258865D4-D6B5-1DDE-79E9-0A78BCBC4D2F}"/>
              </a:ext>
            </a:extLst>
          </p:cNvPr>
          <p:cNvSpPr>
            <a:spLocks noGrp="1"/>
          </p:cNvSpPr>
          <p:nvPr>
            <p:ph idx="1"/>
          </p:nvPr>
        </p:nvSpPr>
        <p:spPr>
          <a:xfrm>
            <a:off x="838200" y="1180316"/>
            <a:ext cx="5636741" cy="4996647"/>
          </a:xfrm>
        </p:spPr>
        <p:txBody>
          <a:bodyPr/>
          <a:lstStyle/>
          <a:p>
            <a:pPr marL="0" indent="0">
              <a:buNone/>
            </a:pPr>
            <a:r>
              <a:rPr lang="zh-MO" altLang="en-US"/>
              <a:t>動機：表情と音声が一致しないとき、その差の大きさが融合結果に影響すると考えられる。
方法：Face と Voice の距離を葛藤強度として計算する。
限界：距離は1つの値なので、Valence と Arousal の違いを分けて扱えない。</a:t>
            </a:r>
            <a:r>
              <a:rPr lang="ja-JP" altLang="en-US"/>
              <a:t/>
            </a:r>
            <a:r>
              <a:rPr lang="zh-CN" altLang="en-US"/>
              <a:t/>
            </a:r>
            <a:endParaRPr lang="ja-JP" altLang="en-US"/>
          </a:p>
          <a:p>
            <a:pPr marL="0" indent="0">
              <a:buNone/>
            </a:pPr>
            <a:r>
              <a:rPr lang="zh-MO" altLang="en-US"/>
              <a:t/>
            </a:r>
            <a:r>
              <a:rPr lang="ja-JP" altLang="en-US"/>
              <a:t/>
            </a:r>
            <a:r>
              <a:rPr lang="zh-MO" altLang="en-US"/>
              <a:t/>
            </a:r>
            <a:r>
              <a:rPr lang="ja-JP" altLang="en-US"/>
              <a:t/>
            </a:r>
            <a:r>
              <a:rPr lang="zh-MO" altLang="en-US"/>
              <a:t/>
            </a:r>
            <a:r>
              <a:rPr lang="ja-JP" altLang="en-US"/>
              <a:t/>
            </a:r>
            <a:br>
              <a:rPr lang="ja-JP" altLang="en-US"/>
            </a:br>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p>
          <a:p>
            <a:pPr marL="0" indent="0">
              <a:buNone/>
            </a:pPr>
            <a:r>
              <a:rPr lang="zh-MO" altLang="en-US"/>
              <a:t/>
            </a:r>
          </a:p>
          <a:p>
            <a:r>
              <a:rPr lang="zh-MO" altLang="en-US"/>
              <a:t/>
            </a:r>
            <a:r>
              <a:rPr lang="en-GB" altLang="zh-MO"/>
              <a:t/>
            </a:r>
            <a:r>
              <a:rPr lang="zh-MO" altLang="en-GB"/>
              <a:t/>
            </a:r>
            <a:r>
              <a:rPr lang="ja-JP" altLang="en-US"/>
              <a:t/>
            </a:r>
            <a:r>
              <a:rPr lang="zh-MO" altLang="en-US"/>
              <a:t/>
            </a:r>
            <a:r>
              <a:rPr lang="en-GB" altLang="zh-MO"/>
              <a:t/>
            </a:r>
            <a:r>
              <a:rPr lang="zh-MO" altLang="en-GB"/>
              <a:t/>
            </a:r>
            <a:r>
              <a:rPr lang="ja-JP" altLang="en-US"/>
              <a:t/>
            </a:r>
            <a:r>
              <a:rPr lang="en-GB" altLang="zh-MO"/>
              <a:t/>
            </a:r>
            <a:r>
              <a:rPr lang="zh-MO" altLang="en-US"/>
              <a:t/>
            </a:r>
            <a:r>
              <a:rPr lang="ja-JP" altLang="en-US"/>
              <a:t/>
            </a:r>
          </a:p>
          <a:p>
            <a:r>
              <a:rPr lang="en-US" altLang="ja-JP"/>
              <a:t/>
            </a:r>
            <a:r>
              <a:rPr lang="zh-MO" altLang="en-US"/>
              <a:t/>
            </a:r>
            <a:r>
              <a:rPr lang="ja-JP" altLang="en-US"/>
              <a:t/>
            </a:r>
            <a:r>
              <a:rPr lang="zh-MO" altLang="en-US"/>
              <a:t/>
            </a:r>
            <a:r>
              <a:rPr lang="ja-JP" altLang="en-US"/>
              <a:t/>
            </a:r>
            <a:r>
              <a:rPr lang="zh-MO" altLang="en-US"/>
              <a:t/>
            </a:r>
          </a:p>
          <a:p>
            <a:r>
              <a:rPr lang="ja-JP" altLang="en-US"/>
              <a:t/>
            </a:r>
            <a:r>
              <a:rPr lang="zh-MO" altLang="en-US"/>
              <a:t/>
            </a:r>
            <a:r>
              <a:rPr lang="ja-JP" altLang="en-US"/>
              <a:t/>
            </a:r>
            <a:r>
              <a:rPr lang="zh-MO" altLang="en-US"/>
              <a:t/>
            </a:r>
            <a:r>
              <a:rPr lang="en-GB" altLang="zh-MO"/>
              <a:t/>
            </a:r>
            <a:r>
              <a:rPr lang="zh-MO" altLang="en-GB"/>
              <a:t/>
            </a:r>
            <a:r>
              <a:rPr lang="ja-JP" altLang="en-US"/>
              <a:t/>
            </a:r>
            <a:r>
              <a:rPr lang="zh-MO" altLang="en-US"/>
              <a:t/>
            </a:r>
          </a:p>
          <a:p>
            <a:endParaRPr kumimoji="1" lang="zh-MO" altLang="en-US"/>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10</a:t>
            </a:fld>
            <a:endParaRPr kumimoji="1" lang="ja-JP" altLang="en-US"/>
          </a:p>
        </p:txBody>
      </p:sp>
      <p:sp>
        <p:nvSpPr>
          <p:cNvPr id="4" name="Shape 2">
            <a:extLst>
              <a:ext uri="{FF2B5EF4-FFF2-40B4-BE49-F238E27FC236}">
                <ns2:creationId id="{AFC62130-C7D6-13A6-9178-AAEF06ACB21C}"/>
              </a:ext>
            </a:extLst>
          </p:cNvPr>
          <p:cNvSpPr/>
          <p:nvPr/>
        </p:nvSpPr>
        <p:spPr>
          <a:xfrm>
            <a:off x="7048314" y="2348002"/>
            <a:ext cx="4305486" cy="2548054"/>
          </a:xfrm>
          <a:prstGeom prst="rect">
            <a:avLst/>
          </a:prstGeom>
          <a:solidFill>
            <a:srgbClr val="EAF1FB"/>
          </a:solidFill>
          <a:ln w="10160">
            <a:solidFill>
              <a:srgbClr val="4472C4"/>
            </a:solidFill>
            <a:prstDash val="solid"/>
          </a:ln>
        </p:spPr>
      </p:sp>
      <p:sp>
        <p:nvSpPr>
          <p:cNvPr id="8" name="Text 3">
            <a:extLst>
              <a:ext uri="{FF2B5EF4-FFF2-40B4-BE49-F238E27FC236}">
                <ns2:creationId id="{4E5D1EB3-D715-5900-8842-5336DBE476A6}"/>
              </a:ext>
            </a:extLst>
          </p:cNvPr>
          <p:cNvSpPr/>
          <p:nvPr/>
        </p:nvSpPr>
        <p:spPr>
          <a:xfrm>
            <a:off x="7283828" y="2640610"/>
            <a:ext cx="3900264" cy="2053886"/>
          </a:xfrm>
          <a:prstGeom prst="rect">
            <a:avLst/>
          </a:prstGeom>
          <a:noFill/>
          <a:ln/>
        </p:spPr>
        <p:txBody>
          <a:bodyPr wrap="square" lIns="0" tIns="0" rIns="0" bIns="0" rtlCol="0" anchor="ctr">
            <a:normAutofit/>
          </a:bodyPr>
          <a:lstStyle/>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a:p>
            <a:pPr marL="0" indent="0" algn="ctr">
              <a:buNone/>
            </a:pPr>
            <a:r>
              <a:rPr lang="en-US" sz="1700" b="1" dirty="0">
                <a:solidFill>
                  <a:srgbClr val="222222"/>
                </a:solidFill>
                <a:latin typeface="游ゴシック" pitchFamily="34" charset="0"/>
                <a:ea typeface="游ゴシック" pitchFamily="34" charset="-122"/>
                <a:cs typeface="游ゴシック" pitchFamily="34" charset="-120"/>
              </a:rPr>
              <a:t/>
            </a:r>
            <a:endParaRPr lang="en-US" sz="1700" dirty="0"/>
          </a:p>
        </p:txBody>
      </p:sp>
    </p:spTree>
    <p:extLst>
      <p:ext uri="{BB962C8B-B14F-4D97-AF65-F5344CB8AC3E}">
        <ns3:creationId val="3317678122"/>
      </p:ext>
    </p:extLst>
  </p:cSld>
  <p:clrMapOvr>
    <a:masterClrMapping/>
  </p:clrMapOvr>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1D9A74EE-00D0-39AC-F335-7CF0A2776226}"/>
            </a:ext>
          </a:extLst>
        </p:cNvPr>
        <p:cNvGrpSpPr/>
        <p:nvPr/>
      </p:nvGrpSpPr>
      <p:grpSpPr>
        <a:xfrm>
          <a:off x="0" y="0"/>
          <a:ext cx="0" cy="0"/>
          <a:chOff x="0" y="0"/>
          <a:chExt cx="0" cy="0"/>
        </a:xfrm>
      </p:grpSpPr>
      <p:sp>
        <p:nvSpPr>
          <p:cNvPr id="2" name="標題 1">
            <a:extLst>
              <a:ext uri="{FF2B5EF4-FFF2-40B4-BE49-F238E27FC236}">
                <ns2:creationId id="{86E31EBA-B060-BF70-AF1D-872092783422}"/>
              </a:ext>
            </a:extLst>
          </p:cNvPr>
          <p:cNvSpPr>
            <a:spLocks noGrp="1"/>
          </p:cNvSpPr>
          <p:nvPr>
            <p:ph type="title"/>
          </p:nvPr>
        </p:nvSpPr>
        <p:spPr/>
        <p:txBody>
          <a:bodyPr>
            <a:normAutofit/>
          </a:bodyPr>
          <a:lstStyle/>
          <a:p>
            <a:r>
              <a:rPr lang="en-US" altLang="ja-JP" sz="3600" dirty="0"/>
              <a:t>Step1で分かったこと</a:t>
            </a:r>
            <a:r>
              <a:rPr lang="ja-JP" altLang="en-US" sz="3600"/>
              <a:t/>
            </a:r>
            <a:r>
              <a:rPr lang="zh-MO" altLang="en-US" sz="3600" dirty="0"/>
              <a:t/>
            </a:r>
            <a:r>
              <a:rPr lang="ja-JP" altLang="en-US" sz="3600"/>
              <a:t/>
            </a:r>
            <a:endParaRPr kumimoji="1" lang="zh-MO" altLang="en-US" sz="3600" dirty="0"/>
          </a:p>
        </p:txBody>
      </p:sp>
      <p:sp>
        <p:nvSpPr>
          <p:cNvPr id="3" name="內容版面配置區 2">
            <a:extLst>
              <a:ext uri="{FF2B5EF4-FFF2-40B4-BE49-F238E27FC236}">
                <ns2:creationId id="{2A12BA47-84B0-8AC1-1F5C-6FF720BCE920}"/>
              </a:ext>
            </a:extLst>
          </p:cNvPr>
          <p:cNvSpPr>
            <a:spLocks noGrp="1"/>
          </p:cNvSpPr>
          <p:nvPr>
            <p:ph idx="1"/>
          </p:nvPr>
        </p:nvSpPr>
        <p:spPr>
          <a:xfrm>
            <a:off x="838200" y="1174384"/>
            <a:ext cx="4345459" cy="4998063"/>
          </a:xfrm>
        </p:spPr>
        <p:txBody>
          <a:bodyPr/>
          <a:lstStyle/>
          <a:p>
            <a:pPr marL="0" indent="0">
              <a:buNone/>
            </a:pPr>
            <a:r>
              <a:rPr kumimoji="1" lang="zh-MO" altLang="en-US"/>
              <a:t>葛藤強度は融合を考えるうえで重要な変数である。
ただし、距離だけでは「どの次元で」「どちらの方向に」ずれているかを説明できない。
次に、Valence と Arousal を別々に扱う必要がある。</a:t>
            </a:r>
            <a:r>
              <a:rPr kumimoji="1" lang="ja-JP" altLang="en-US"/>
              <a:t/>
            </a:r>
            <a:r>
              <a:rPr kumimoji="1" lang="zh-MO" altLang="en-US"/>
              <a:t/>
            </a:r>
          </a:p>
          <a:p>
            <a:r>
              <a:rPr kumimoji="1" lang="zh-MO" altLang="en-US"/>
              <a:t/>
            </a:r>
            <a:r>
              <a:rPr kumimoji="1" lang="ja-JP" altLang="en-US"/>
              <a:t/>
            </a:r>
            <a:r>
              <a:rPr kumimoji="1" lang="zh-MO" altLang="en-US"/>
              <a:t/>
            </a:r>
            <a:r>
              <a:rPr kumimoji="1" lang="ja-JP" altLang="en-US"/>
              <a:t/>
            </a:r>
            <a:r>
              <a:rPr kumimoji="1" lang="zh-MO" altLang="en-US"/>
              <a:t/>
            </a:r>
            <a:r>
              <a:rPr kumimoji="1" lang="ja-JP" altLang="en-US"/>
              <a:t/>
            </a:r>
            <a:r>
              <a:rPr kumimoji="1" lang="zh-MO" altLang="en-US"/>
              <a:t/>
            </a:r>
            <a:r>
              <a:rPr kumimoji="1" lang="ja-JP" altLang="en-US"/>
              <a:t/>
            </a:r>
            <a:r>
              <a:rPr kumimoji="1" lang="zh-MO" altLang="en-US"/>
              <a:t/>
            </a:r>
          </a:p>
          <a:p>
            <a:r>
              <a:rPr kumimoji="1" lang="zh-MO" altLang="en-US"/>
              <a:t/>
            </a:r>
            <a:r>
              <a:rPr kumimoji="1" lang="ja-JP" altLang="en-US"/>
              <a:t/>
            </a:r>
            <a:r>
              <a:rPr kumimoji="1" lang="zh-MO" altLang="en-US"/>
              <a:t/>
            </a:r>
            <a:r>
              <a:rPr kumimoji="1" lang="ja-JP" altLang="en-US"/>
              <a:t/>
            </a:r>
            <a:r>
              <a:rPr kumimoji="1" lang="zh-MO" altLang="en-US"/>
              <a:t/>
            </a:r>
            <a:r>
              <a:rPr kumimoji="1" lang="en-GB" altLang="zh-MO"/>
              <a:t/>
            </a:r>
            <a:r>
              <a:rPr kumimoji="1" lang="zh-MO" altLang="en-GB"/>
              <a:t/>
            </a:r>
            <a:r>
              <a:rPr kumimoji="1" lang="ja-JP" altLang="en-US"/>
              <a:t/>
            </a:r>
            <a:r>
              <a:rPr kumimoji="1" lang="zh-MO" altLang="en-US"/>
              <a:t/>
            </a:r>
            <a:r>
              <a:rPr kumimoji="1" lang="ja-JP" altLang="en-US"/>
              <a:t/>
            </a:r>
            <a:r>
              <a:rPr kumimoji="1" lang="zh-MO" altLang="en-US"/>
              <a:t/>
            </a:r>
            <a:r>
              <a:rPr kumimoji="1" lang="ja-JP" altLang="en-US"/>
              <a:t/>
            </a:r>
            <a:r>
              <a:rPr kumimoji="1" lang="zh-MO" altLang="en-US"/>
              <a:t/>
            </a:r>
            <a:r>
              <a:rPr kumimoji="1" lang="ja-JP" altLang="en-US"/>
              <a:t/>
            </a:r>
            <a:endParaRPr kumimoji="1" lang="en-US" altLang="zh-MO"/>
          </a:p>
          <a:p>
            <a:r>
              <a:rPr kumimoji="1" lang="zh-MO" altLang="en-US"/>
              <a:t/>
            </a:r>
            <a:r>
              <a:rPr kumimoji="1" lang="ja-JP" altLang="en-US"/>
              <a:t/>
            </a:r>
            <a:r>
              <a:rPr kumimoji="1" lang="zh-MO" altLang="en-US"/>
              <a:t/>
            </a:r>
            <a:r>
              <a:rPr kumimoji="1" lang="ja-JP" altLang="en-US"/>
              <a:t/>
            </a:r>
            <a:r>
              <a:rPr kumimoji="1" lang="zh-MO" altLang="en-US"/>
              <a:t/>
            </a:r>
            <a:r>
              <a:rPr kumimoji="1" lang="ja-JP" altLang="en-US"/>
              <a:t/>
            </a:r>
            <a:r>
              <a:rPr kumimoji="1" lang="zh-MO" altLang="en-US"/>
              <a:t/>
            </a:r>
            <a:r>
              <a:rPr kumimoji="1" lang="ja-JP" altLang="en-US"/>
              <a:t/>
            </a:r>
            <a:r>
              <a:rPr kumimoji="1" lang="zh-MO" altLang="en-US"/>
              <a:t/>
            </a:r>
            <a:r>
              <a:rPr kumimoji="1" lang="ja-JP" altLang="en-US"/>
              <a:t/>
            </a:r>
            <a:r>
              <a:rPr kumimoji="1" lang="zh-MO" altLang="en-US"/>
              <a:t/>
            </a:r>
            <a:r>
              <a:rPr kumimoji="1" lang="ja-JP" altLang="en-US"/>
              <a:t/>
            </a:r>
          </a:p>
          <a:p>
            <a:endParaRPr kumimoji="1" lang="zh-MO" altLang="en-US"/>
          </a:p>
        </p:txBody>
      </p:sp>
      <p:sp>
        <p:nvSpPr>
          <p:cNvPr id="6" name="投影片編號版面配置區 5">
            <a:extLst>
              <a:ext uri="{FF2B5EF4-FFF2-40B4-BE49-F238E27FC236}">
                <ns2:creationId id="{961EBE66-D114-7275-F833-1A7BFEC678E0}"/>
              </a:ext>
            </a:extLst>
          </p:cNvPr>
          <p:cNvSpPr>
            <a:spLocks noGrp="1"/>
          </p:cNvSpPr>
          <p:nvPr>
            <p:ph type="sldNum" sz="quarter" idx="12"/>
          </p:nvPr>
        </p:nvSpPr>
        <p:spPr/>
        <p:txBody>
          <a:bodyPr/>
          <a:lstStyle/>
          <a:p>
            <a:fld id="{3509F7B2-E600-4F87-A2BF-206386C1A1D6}" type="slidenum">
              <a:rPr kumimoji="1" lang="ja-JP" altLang="en-US" smtClean="0"/>
              <a:t>11</a:t>
            </a:fld>
            <a:endParaRPr kumimoji="1" lang="ja-JP" altLang="en-US"/>
          </a:p>
        </p:txBody>
      </p:sp>
      <p:sp>
        <p:nvSpPr>
          <p:cNvPr id="4" name="內容版面配置區 2">
            <a:extLst>
              <a:ext uri="{FF2B5EF4-FFF2-40B4-BE49-F238E27FC236}">
                <ns2:creationId id="{D85A7A79-A6C6-64F7-E689-20D11EADBABA}"/>
              </a:ext>
            </a:extLst>
          </p:cNvPr>
          <p:cNvSpPr txBox="1">
            <a:spLocks/>
          </p:cNvSpPr>
          <p:nvPr/>
        </p:nvSpPr>
        <p:spPr>
          <a:xfrm>
            <a:off x="6096000" y="1174383"/>
            <a:ext cx="4345459" cy="49980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HGPSoeiKakugothicUB" panose="020B0900000000000000" pitchFamily="34" charset="-128"/>
                <a:ea typeface="HGPSoeiKakugothicUB" panose="020B0900000000000000" pitchFamily="34" charset="-128"/>
                <a:cs typeface="+mn-cs"/>
              </a:defRPr>
            </a:lvl1pPr>
            <a:lvl2pPr marL="800100" indent="-342900" algn="l" defTabSz="914400" rtl="0" eaLnBrk="1" latinLnBrk="0" hangingPunct="1">
              <a:lnSpc>
                <a:spcPct val="90000"/>
              </a:lnSpc>
              <a:spcBef>
                <a:spcPts val="500"/>
              </a:spcBef>
              <a:buFont typeface="HGPSoeiKakugothicUB" panose="020B0900000000000000" pitchFamily="50" charset="-128"/>
              <a:buChar char="−"/>
              <a:defRPr kumimoji="1" sz="2400" kern="1200">
                <a:solidFill>
                  <a:schemeClr val="tx1"/>
                </a:solidFill>
                <a:latin typeface="HGPSoeiKakugothicUB" panose="020B0900000000000000" pitchFamily="34" charset="-128"/>
                <a:ea typeface="HGPSoeiKakugothicUB" panose="020B0900000000000000" pitchFamily="34" charset="-128"/>
                <a:cs typeface="+mn-cs"/>
              </a:defRPr>
            </a:lvl2pPr>
            <a:lvl3pPr marL="1257300" indent="-342900" algn="l" defTabSz="914400" rtl="0" eaLnBrk="1" latinLnBrk="0" hangingPunct="1">
              <a:lnSpc>
                <a:spcPct val="90000"/>
              </a:lnSpc>
              <a:spcBef>
                <a:spcPts val="500"/>
              </a:spcBef>
              <a:buFont typeface="Wingdings" panose="05000000000000000000" pitchFamily="2" charset="2"/>
              <a:buChar char="n"/>
              <a:defRPr kumimoji="1" sz="2000" kern="1200">
                <a:solidFill>
                  <a:schemeClr val="tx1"/>
                </a:solidFill>
                <a:latin typeface="HGPSoeiKakugothicUB" panose="020B0900000000000000" pitchFamily="34" charset="-128"/>
                <a:ea typeface="HGPSoeiKakugothicUB" panose="020B09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HGPSoeiKakugothicUB" panose="020B0900000000000000" pitchFamily="34" charset="-128"/>
                <a:ea typeface="HGPSoeiKakugothicUB" panose="020B09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HGPSoeiKakugothicUB" panose="020B0900000000000000" pitchFamily="34" charset="-128"/>
                <a:ea typeface="HGPSoeiKakugothicUB" panose="020B09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zh-MO" altLang="en-US"/>
              <a:t/>
            </a:r>
            <a:r>
              <a:rPr lang="ja-JP" altLang="en-US"/>
              <a:t/>
            </a:r>
            <a:r>
              <a:rPr lang="zh-MO" altLang="en-US"/>
              <a:t/>
            </a:r>
            <a:r>
              <a:rPr lang="ja-JP" altLang="en-US"/>
              <a:t/>
            </a:r>
          </a:p>
          <a:p>
            <a:pPr marL="0" indent="0">
              <a:buNone/>
            </a:pPr>
            <a:r>
              <a:rPr lang="ja-JP" altLang="en-US"/>
              <a:t/>
            </a:r>
            <a:r>
              <a:rPr lang="zh-MO" altLang="en-US"/>
              <a:t/>
            </a:r>
            <a:r>
              <a:rPr lang="ja-JP" altLang="en-US"/>
              <a:t/>
            </a:r>
            <a:r>
              <a:rPr lang="zh-MO" altLang="en-US"/>
              <a:t/>
            </a:r>
            <a:r>
              <a:rPr lang="ja-JP" altLang="en-US"/>
              <a:t/>
            </a:r>
            <a:r>
              <a:rPr lang="zh-MO" altLang="en-US"/>
              <a:t/>
            </a:r>
            <a:r>
              <a:rPr lang="ja-JP" altLang="en-US"/>
              <a:t/>
            </a:r>
          </a:p>
          <a:p>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p>
          <a:p>
            <a:r>
              <a:rPr lang="ja-JP" altLang="en-US"/>
              <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p>
          <a:p>
            <a:pPr marL="0" indent="0">
              <a:buNone/>
            </a:pP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p>
        </p:txBody>
      </p:sp>
      <p:sp>
        <p:nvSpPr>
          <p:cNvPr id="8" name="文字方塊 7">
            <a:extLst>
              <a:ext uri="{FF2B5EF4-FFF2-40B4-BE49-F238E27FC236}">
                <ns2:creationId id="{E096AC25-C44C-2FC9-0B44-B73CD36F32EC}"/>
              </a:ext>
            </a:extLst>
          </p:cNvPr>
          <p:cNvSpPr txBox="1"/>
          <p:nvPr/>
        </p:nvSpPr>
        <p:spPr>
          <a:xfrm>
            <a:off x="2498710" y="5803114"/>
            <a:ext cx="7194580" cy="461665"/>
          </a:xfrm>
          <a:prstGeom prst="rect">
            <a:avLst/>
          </a:prstGeom>
          <a:noFill/>
        </p:spPr>
        <p:txBody>
          <a:bodyPr wrap="square" rtlCol="0">
            <a:spAutoFit/>
          </a:bodyPr>
          <a:lstStyle/>
          <a:p>
            <a:r>
              <a:rPr kumimoji="1" lang="zh-MO" altLang="en-US" sz="2400">
                <a:latin typeface="HGPSoeiKakugothicUB" panose="020B0900000000000000" pitchFamily="34" charset="-128"/>
                <a:ea typeface="HGPSoeiKakugothicUB" panose="020B0900000000000000" pitchFamily="34" charset="-128"/>
              </a:rPr>
              <a:t/>
            </a:r>
            <a:r>
              <a:rPr kumimoji="1" lang="ja-JP" altLang="en-US" sz="2400">
                <a:latin typeface="HGPSoeiKakugothicUB" panose="020B0900000000000000" pitchFamily="34" charset="-128"/>
                <a:ea typeface="HGPSoeiKakugothicUB" panose="020B0900000000000000" pitchFamily="34" charset="-128"/>
              </a:rPr>
              <a:t/>
            </a:r>
            <a:r>
              <a:rPr kumimoji="1" lang="zh-MO" altLang="en-US" sz="2400">
                <a:latin typeface="HGPSoeiKakugothicUB" panose="020B0900000000000000" pitchFamily="34" charset="-128"/>
                <a:ea typeface="HGPSoeiKakugothicUB" panose="020B0900000000000000" pitchFamily="34" charset="-128"/>
              </a:rPr>
              <a:t/>
            </a:r>
            <a:r>
              <a:rPr kumimoji="1" lang="ja-JP" altLang="en-US" sz="2400">
                <a:latin typeface="HGPSoeiKakugothicUB" panose="020B0900000000000000" pitchFamily="34" charset="-128"/>
                <a:ea typeface="HGPSoeiKakugothicUB" panose="020B0900000000000000" pitchFamily="34" charset="-128"/>
              </a:rPr>
              <a:t/>
            </a:r>
            <a:r>
              <a:rPr kumimoji="1" lang="zh-MO" altLang="en-US" sz="2400">
                <a:latin typeface="HGPSoeiKakugothicUB" panose="020B0900000000000000" pitchFamily="34" charset="-128"/>
                <a:ea typeface="HGPSoeiKakugothicUB" panose="020B0900000000000000" pitchFamily="34" charset="-128"/>
              </a:rPr>
              <a:t/>
            </a:r>
            <a:r>
              <a:rPr kumimoji="1" lang="ja-JP" altLang="en-US" sz="2400">
                <a:latin typeface="HGPSoeiKakugothicUB" panose="020B0900000000000000" pitchFamily="34" charset="-128"/>
                <a:ea typeface="HGPSoeiKakugothicUB" panose="020B0900000000000000" pitchFamily="34" charset="-128"/>
              </a:rPr>
              <a:t/>
            </a:r>
            <a:r>
              <a:rPr kumimoji="1" lang="zh-MO" altLang="en-US" sz="2400">
                <a:latin typeface="HGPSoeiKakugothicUB" panose="020B0900000000000000" pitchFamily="34" charset="-128"/>
                <a:ea typeface="HGPSoeiKakugothicUB" panose="020B0900000000000000" pitchFamily="34" charset="-128"/>
              </a:rPr>
              <a:t/>
            </a:r>
            <a:r>
              <a:rPr kumimoji="1" lang="ja-JP" altLang="en-US" sz="2400">
                <a:latin typeface="HGPSoeiKakugothicUB" panose="020B0900000000000000" pitchFamily="34" charset="-128"/>
                <a:ea typeface="HGPSoeiKakugothicUB" panose="020B0900000000000000" pitchFamily="34" charset="-128"/>
              </a:rPr>
              <a:t/>
            </a:r>
          </a:p>
        </p:txBody>
      </p:sp>
    </p:spTree>
    <p:extLst>
      <p:ext uri="{BB962C8B-B14F-4D97-AF65-F5344CB8AC3E}">
        <ns3:creationId val="393580565"/>
      </p:ext>
    </p:extLst>
  </p:cSld>
  <p:clrMapOvr>
    <a:masterClrMapping/>
  </p:clrMapOvr>
</p:sld>
</file>

<file path=ppt/slides/slide12.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2028356D-8095-1CE0-FFF3-7C2F76566634}"/>
              </a:ext>
            </a:extLst>
          </p:cNvPr>
          <p:cNvSpPr>
            <a:spLocks noGrp="1"/>
          </p:cNvSpPr>
          <p:nvPr>
            <p:ph type="title"/>
          </p:nvPr>
        </p:nvSpPr>
        <p:spPr/>
        <p:txBody>
          <a:bodyPr>
            <a:normAutofit/>
          </a:bodyPr>
          <a:lstStyle/>
          <a:p>
            <a:r>
              <a:rPr lang="en-US" altLang="ja-JP" sz="3600" dirty="0"/>
              <a:t>Step2：Valence と Arousal を別々に融合する</a:t>
            </a:r>
            <a:r>
              <a:rPr lang="en-US" altLang="zh-CN" sz="3600" dirty="0"/>
              <a:t/>
            </a:r>
            <a:r>
              <a:rPr lang="zh-CN" altLang="en-US" sz="3600" dirty="0"/>
              <a:t/>
            </a:r>
            <a:r>
              <a:rPr lang="en-GB" altLang="ja-JP" sz="3600" dirty="0"/>
              <a:t/>
            </a:r>
            <a:r>
              <a:rPr lang="ja-JP" altLang="en-US" sz="3600"/>
              <a:t/>
            </a:r>
            <a:r>
              <a:rPr lang="en-GB" altLang="ja-JP" sz="3600" dirty="0"/>
              <a:t/>
            </a:r>
            <a:r>
              <a:rPr lang="ja-JP" altLang="en-US" sz="3600"/>
              <a:t/>
            </a:r>
            <a:endParaRPr lang="en-US" altLang="ja-JP" sz="3600" dirty="0"/>
          </a:p>
        </p:txBody>
      </p:sp>
      <ns3:AlternateContent>
        <ns3:Choice Requires="a14">
          <p:sp>
            <p:nvSpPr>
              <p:cNvPr id="3" name="內容版面配置區 2">
                <a:extLst>
                  <a:ext uri="{FF2B5EF4-FFF2-40B4-BE49-F238E27FC236}">
                    <ns2:creationId id="{DF1E20B9-37D4-8282-A92D-2D1B128A5F47}"/>
                  </a:ext>
                </a:extLst>
              </p:cNvPr>
              <p:cNvSpPr>
                <a:spLocks noGrp="1"/>
              </p:cNvSpPr>
              <p:nvPr>
                <p:ph idx="1"/>
              </p:nvPr>
            </p:nvSpPr>
            <p:spPr/>
            <p:txBody>
              <a:bodyPr/>
              <a:lstStyle/>
              <a:p>
                <a:pPr marL="0" indent="0">
                  <a:buNone/>
                </a:pPr>
                <a:endParaRPr lang="en-GB" altLang="zh-MO" i="1" dirty="0">
                  <a:latin typeface="Cambria Math" panose="02040503050406030204" pitchFamily="18" charset="0"/>
                </a:endParaRPr>
              </a:p>
              <a:p>
                <a:pPr marL="0" indent="0">
                  <a:buNone/>
                </a:pPr>
                <ns4:m>
                  <ns5:oMathPara>
                    <ns5:oMathParaPr>
                      <ns5:jc ns5:val="centerGroup"/>
                    </ns5:oMathParaPr>
                    <ns5:oMath>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𝑑</ns5:t>
                          </ns5:r>
                        </ns5:e>
                        <ns5:sub>
                          <ns5:r>
                            <a:rPr lang="en-GB" altLang="zh-MO" i="1">
                              <a:latin typeface="Cambria Math" panose="02040503050406030204" pitchFamily="18" charset="0"/>
                            </a:rPr>
                            <ns5:t>𝐴</ns5:t>
                          </ns5:r>
                        </ns5:sub>
                      </ns5:sSub>
                      <ns5:r>
                        <a:rPr lang="en-GB" altLang="zh-MO" i="1">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𝐴</ns5:t>
                          </ns5:r>
                        </ns5:e>
                        <ns5:sub>
                          <ns5:r>
                            <a:rPr lang="en-GB" altLang="zh-MO" i="1">
                              <a:latin typeface="Cambria Math" panose="02040503050406030204" pitchFamily="18" charset="0"/>
                            </a:rPr>
                            <ns5:t>𝑣𝑜𝑖𝑐𝑒</ns5:t>
                          </ns5:r>
                        </ns5:sub>
                      </ns5:sSub>
                      <ns5:r>
                        <a:rPr lang="en-GB" altLang="zh-MO" i="1">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𝐴</ns5:t>
                          </ns5:r>
                        </ns5:e>
                        <ns5:sub>
                          <ns5:r>
                            <a:rPr lang="en-GB" altLang="zh-MO" i="1">
                              <a:latin typeface="Cambria Math" panose="02040503050406030204" pitchFamily="18" charset="0"/>
                            </a:rPr>
                            <ns5:t>𝑓𝑎𝑐𝑒</ns5:t>
                          </ns5:r>
                        </ns5:sub>
                      </ns5:sSub>
                      <ns5:r>
                        <a:rPr lang="zh-CN" altLang="en-US" b="0" i="1" smtClean="0">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𝑑</ns5:t>
                          </ns5:r>
                        </ns5:e>
                        <ns5:sub>
                          <ns5:r>
                            <a:rPr lang="en-GB" altLang="zh-MO" i="1">
                              <a:latin typeface="Cambria Math" panose="02040503050406030204" pitchFamily="18" charset="0"/>
                            </a:rPr>
                            <ns5:t>𝑉</ns5:t>
                          </ns5:r>
                        </ns5:sub>
                      </ns5:sSub>
                      <ns5:r>
                        <a:rPr lang="en-GB" altLang="zh-MO" i="1">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𝑉</ns5:t>
                          </ns5:r>
                        </ns5:e>
                        <ns5:sub>
                          <ns5:r>
                            <a:rPr lang="en-GB" altLang="zh-MO" i="1">
                              <a:latin typeface="Cambria Math" panose="02040503050406030204" pitchFamily="18" charset="0"/>
                            </a:rPr>
                            <ns5:t>𝑣𝑜𝑖𝑐𝑒</ns5:t>
                          </ns5:r>
                        </ns5:sub>
                      </ns5:sSub>
                      <ns5:r>
                        <a:rPr lang="en-GB" altLang="zh-MO" i="1">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𝑉</ns5:t>
                          </ns5:r>
                        </ns5:e>
                        <ns5:sub>
                          <ns5:r>
                            <a:rPr lang="en-GB" altLang="zh-MO" i="1">
                              <a:latin typeface="Cambria Math" panose="02040503050406030204" pitchFamily="18" charset="0"/>
                            </a:rPr>
                            <ns5:t>𝑓𝑎𝑐𝑒</ns5:t>
                          </ns5:r>
                        </ns5:sub>
                      </ns5:sSub>
                    </ns5:oMath>
                  </ns5:oMathPara>
                </ns4:m>
                <a:endParaRPr kumimoji="1" lang="en-US" altLang="zh-MO" dirty="0"/>
              </a:p>
              <a:p>
                <a:pPr marL="0" indent="0">
                  <a:buNone/>
                </a:pPr>
                <a:r>
                  <a:rPr kumimoji="1" lang="zh-MO" altLang="en-US" dirty="0"/>
                  <a:t>動機：Valence と Arousal は心理学的にも異なる次元であり、統合戦略も異なる可能性がある。
方法：d_V = V_voice - V_face, d_A = A_voice - A_face を別々に計算し、各次元で重みを学習する。</a:t>
                </a:r>
                <a:r>
                  <a:rPr kumimoji="1" lang="ja-JP" altLang="en-US"/>
                  <a:t/>
                </a:r>
              </a:p>
              <a:p>
                <a:r>
                  <a:rPr kumimoji="1" lang="zh-MO" altLang="en-US" dirty="0"/>
                  <a:t/>
                </a:r>
                <a:r>
                  <a:rPr kumimoji="1" lang="ja-JP" altLang="en-US"/>
                  <a:t/>
                </a:r>
                <a:r>
                  <a:rPr kumimoji="1" lang="en-US" altLang="ja-JP" dirty="0"/>
                  <a:t/>
                </a:r>
                <a:r>
                  <a:rPr kumimoji="1" lang="zh-MO" altLang="en-US" dirty="0"/>
                  <a:t/>
                </a:r>
                <a:r>
                  <a:rPr kumimoji="1" lang="ja-JP" altLang="en-US"/>
                  <a:t/>
                </a:r>
                <a:br>
                  <a:rPr kumimoji="1" lang="ja-JP" altLang="en-US"/>
                </a:br>
                <a:r>
                  <a:rPr kumimoji="1" lang="en-GB" altLang="zh-MO" dirty="0"/>
                  <a:t/>
                </a:r>
                <a:r>
                  <a:rPr kumimoji="1" lang="zh-MO" altLang="en-GB" dirty="0"/>
                  <a:t/>
                </a:r>
                <a:r>
                  <a:rPr kumimoji="1" lang="zh-MO" altLang="en-US" dirty="0"/>
                  <a:t/>
                </a:r>
                <a:r>
                  <a:rPr kumimoji="1" lang="en-US" altLang="zh-MO" dirty="0"/>
                  <a:t/>
                </a:r>
                <a:r>
                  <a:rPr kumimoji="1" lang="zh-MO" altLang="en-US" dirty="0"/>
                  <a:t/>
                </a:r>
                <a:r>
                  <a:rPr kumimoji="1" lang="ja-JP" altLang="en-US"/>
                  <a:t/>
                </a:r>
                <a:r>
                  <a:rPr kumimoji="1" lang="en-GB" altLang="zh-MO" dirty="0"/>
                  <a:t/>
                </a:r>
                <a:r>
                  <a:rPr kumimoji="1" lang="zh-MO" altLang="en-GB" dirty="0"/>
                  <a:t/>
                </a:r>
                <a:r>
                  <a:rPr kumimoji="1" lang="zh-MO" altLang="en-US" dirty="0"/>
                  <a:t/>
                </a:r>
                <a:r>
                  <a:rPr kumimoji="1" lang="ja-JP" altLang="en-US"/>
                  <a:t/>
                </a:r>
                <a:r>
                  <a:rPr kumimoji="1" lang="zh-MO" altLang="en-US" dirty="0"/>
                  <a:t/>
                </a:r>
                <a:r>
                  <a:rPr kumimoji="1" lang="ja-JP" altLang="en-US"/>
                  <a:t/>
                </a:r>
                <a:r>
                  <a:rPr kumimoji="1" lang="zh-MO" altLang="en-US" dirty="0"/>
                  <a:t/>
                </a:r>
                <a:r>
                  <a:rPr kumimoji="1" lang="ja-JP" altLang="en-US"/>
                  <a:t/>
                </a:r>
                <a:r>
                  <a:rPr kumimoji="1" lang="zh-MO" altLang="en-US" dirty="0"/>
                  <a:t/>
                </a:r>
                <a:r>
                  <a:rPr kumimoji="1" lang="ja-JP" altLang="en-US"/>
                  <a:t/>
                </a:r>
              </a:p>
              <a:p>
                <a:r>
                  <a:rPr lang="ja-JP" altLang="en-US"/>
                  <a:t/>
                </a:r>
                <a:r>
                  <a:rPr lang="zh-MO" altLang="en-US" dirty="0"/>
                  <a:t/>
                </a:r>
                <a:r>
                  <a:rPr lang="ja-JP" altLang="en-US"/>
                  <a:t/>
                </a:r>
                <a:br>
                  <a:rPr lang="ja-JP" altLang="en-US"/>
                </a:br>
                <a:r>
                  <a:rPr lang="en-US" altLang="ja-JP" dirty="0"/>
                  <a:t/>
                </a:r>
                <a:r>
                  <a:rPr lang="zh-MO" altLang="en-US" dirty="0"/>
                  <a:t/>
                </a:r>
                <a:r>
                  <a:rPr lang="ja-JP" altLang="en-US"/>
                  <a:t/>
                </a:r>
                <a:r>
                  <a:rPr lang="en-GB" altLang="zh-MO" dirty="0"/>
                  <a:t/>
                </a:r>
                <a:r>
                  <a:rPr lang="ja-JP" altLang="en-US"/>
                  <a:t/>
                </a:r>
                <a:r>
                  <a:rPr lang="zh-MO" altLang="en-US" dirty="0"/>
                  <a:t/>
                </a:r>
                <a:r>
                  <a:rPr lang="ja-JP" altLang="en-US"/>
                  <a:t/>
                </a:r>
              </a:p>
              <a:p>
                <a:pPr marL="0" indent="0">
                  <a:buNone/>
                </a:pPr>
                <a:r>
                  <a:rPr lang="zh-MO" altLang="en-US" dirty="0"/>
                  <a:t/>
                </a:r>
              </a:p>
              <a:p>
                <a:pPr marL="0" indent="0">
                  <a:buNone/>
                </a:pP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p>
              <a:p>
                <a:pPr marL="0" indent="0">
                  <a:buNone/>
                </a:pPr>
                <a:endParaRPr lang="zh-MO" altLang="en-US" dirty="0"/>
              </a:p>
              <a:p>
                <a:pPr marL="0" indent="0">
                  <a:buNone/>
                </a:pPr>
                <a:endParaRPr lang="zh-MO" altLang="en-US" dirty="0"/>
              </a:p>
              <a:p>
                <a:endParaRPr kumimoji="1" lang="zh-MO" altLang="en-US" dirty="0"/>
              </a:p>
            </p:txBody>
          </p:sp>
        </ns3:Choice>
        <ns3:Fallback>
          <p:sp>
            <p:nvSpPr>
              <p:cNvPr id="3" name="內容版面配置區 2">
                <a:extLst>
                  <a:ext uri="{FF2B5EF4-FFF2-40B4-BE49-F238E27FC236}">
                    <ns2:creationId id="{DF1E20B9-37D4-8282-A92D-2D1B128A5F47}"/>
                  </a:ext>
                </a:extLst>
              </p:cNvPr>
              <p:cNvSpPr>
                <a:spLocks noGrp="1" noRot="1" noChangeAspect="1" noMove="1" noResize="1" noEditPoints="1" noAdjustHandles="1" noChangeArrowheads="1" noChangeShapeType="1" noTextEdit="1"/>
              </p:cNvSpPr>
              <p:nvPr>
                <p:ph idx="1"/>
              </p:nvPr>
            </p:nvSpPr>
            <p:spPr>
              <a:blipFill>
                <a:blip r:embed="rId2"/>
                <a:stretch>
                  <a:fillRect l="-1206" r="-121"/>
                </a:stretch>
              </a:blipFill>
            </p:spPr>
            <p:txBody>
              <a:bodyPr/>
              <a:lstStyle/>
              <a:p>
                <a:r>
                  <a:rPr lang="zh-MO" altLang="en-US">
                    <a:noFill/>
                  </a:rPr>
                  <a:t/>
                </a:r>
              </a:p>
            </p:txBody>
          </p:sp>
        </ns3:Fallback>
      </ns3:AlternateContent>
      <p:sp>
        <p:nvSpPr>
          <p:cNvPr id="6" name="投影片編號版面配置區 5">
            <a:extLst>
              <a:ext uri="{FF2B5EF4-FFF2-40B4-BE49-F238E27FC236}">
                <ns2:creationId id="{E5B8DAB2-855B-0B3E-D3FC-246EBCC987F6}"/>
              </a:ext>
            </a:extLst>
          </p:cNvPr>
          <p:cNvSpPr>
            <a:spLocks noGrp="1"/>
          </p:cNvSpPr>
          <p:nvPr>
            <p:ph type="sldNum" sz="quarter" idx="12"/>
          </p:nvPr>
        </p:nvSpPr>
        <p:spPr/>
        <p:txBody>
          <a:bodyPr/>
          <a:lstStyle/>
          <a:p>
            <a:fld id="{3509F7B2-E600-4F87-A2BF-206386C1A1D6}" type="slidenum">
              <a:rPr kumimoji="1" lang="ja-JP" altLang="en-US" smtClean="0"/>
              <a:t>12</a:t>
            </a:fld>
            <a:endParaRPr kumimoji="1" lang="ja-JP" altLang="en-US"/>
          </a:p>
        </p:txBody>
      </p:sp>
    </p:spTree>
    <p:extLst>
      <p:ext uri="{BB962C8B-B14F-4D97-AF65-F5344CB8AC3E}">
        <ns7:creationId val="146776397"/>
      </p:ext>
    </p:extLst>
  </p:cSld>
  <p:clrMapOvr>
    <a:masterClrMapping/>
  </p:clrMapOvr>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CD6D4E68-79DF-626E-9693-3C0CCD16086E}"/>
            </a:ext>
          </a:extLst>
        </p:cNvPr>
        <p:cNvGrpSpPr/>
        <p:nvPr/>
      </p:nvGrpSpPr>
      <p:grpSpPr>
        <a:xfrm>
          <a:off x="0" y="0"/>
          <a:ext cx="0" cy="0"/>
          <a:chOff x="0" y="0"/>
          <a:chExt cx="0" cy="0"/>
        </a:xfrm>
      </p:grpSpPr>
      <p:sp>
        <p:nvSpPr>
          <p:cNvPr id="2" name="標題 1">
            <a:extLst>
              <a:ext uri="{FF2B5EF4-FFF2-40B4-BE49-F238E27FC236}">
                <ns2:creationId id="{4B9BE81E-3D22-95B5-24C5-5D398F318363}"/>
              </a:ext>
            </a:extLst>
          </p:cNvPr>
          <p:cNvSpPr>
            <a:spLocks noGrp="1"/>
          </p:cNvSpPr>
          <p:nvPr>
            <p:ph type="title"/>
          </p:nvPr>
        </p:nvSpPr>
        <p:spPr/>
        <p:txBody>
          <a:bodyPr>
            <a:normAutofit/>
          </a:bodyPr>
          <a:lstStyle/>
          <a:p>
            <a:r>
              <a:rPr lang="en-US" altLang="ja-JP" sz="3600" dirty="0"/>
              <a:t>Step2で分かったこと</a:t>
            </a:r>
            <a:r>
              <a:rPr lang="en-US" altLang="zh-CN" sz="3600" dirty="0"/>
              <a:t/>
            </a:r>
            <a:r>
              <a:rPr lang="zh-CN" altLang="en-US" sz="3600" dirty="0"/>
              <a:t/>
            </a:r>
            <a:r>
              <a:rPr lang="en-GB" altLang="ja-JP" sz="3600" dirty="0"/>
              <a:t/>
            </a:r>
            <a:r>
              <a:rPr lang="ja-JP" altLang="en-US" sz="3600"/>
              <a:t/>
            </a:r>
            <a:r>
              <a:rPr lang="en-GB" altLang="ja-JP" sz="3600" dirty="0"/>
              <a:t/>
            </a:r>
            <a:r>
              <a:rPr lang="ja-JP" altLang="en-US" sz="3600"/>
              <a:t/>
            </a:r>
            <a:endParaRPr lang="en-US" altLang="ja-JP" sz="3600" dirty="0"/>
          </a:p>
        </p:txBody>
      </p:sp>
      <p:sp>
        <p:nvSpPr>
          <p:cNvPr id="3" name="內容版面配置區 2">
            <a:extLst>
              <a:ext uri="{FF2B5EF4-FFF2-40B4-BE49-F238E27FC236}">
                <ns2:creationId id="{BD1DD282-1CCD-8E35-BD0A-001159DA78D6}"/>
              </a:ext>
            </a:extLst>
          </p:cNvPr>
          <p:cNvSpPr>
            <a:spLocks noGrp="1"/>
          </p:cNvSpPr>
          <p:nvPr>
            <p:ph idx="1"/>
          </p:nvPr>
        </p:nvSpPr>
        <p:spPr/>
        <p:txBody>
          <a:bodyPr/>
          <a:lstStyle/>
          <a:p>
            <a:pPr marL="0" indent="0">
              <a:buNone/>
            </a:pPr>
            <a:r>
              <a:rPr lang="zh-MO" altLang="en-US" dirty="0"/>
              <a:t>Valence と Arousal を分離すると、非対称な融合現象を説明しやすくなる。
例：Arousal は音声に寄りやすく、Valence は表情に寄りやすい可能性がある。
次の課題：少数の教師データから表全体を再構成できるか。</a:t>
            </a:r>
            <a:r>
              <a:rPr lang="ja-JP" altLang="en-US"/>
              <a:t/>
            </a:r>
            <a:r>
              <a:rPr lang="zh-MO" altLang="en-US" dirty="0"/>
              <a:t/>
            </a:r>
            <a:r>
              <a:rPr lang="ja-JP" altLang="en-US"/>
              <a:t/>
            </a:r>
            <a:r>
              <a:rPr lang="zh-MO" altLang="en-US" dirty="0"/>
              <a:t/>
            </a:r>
          </a:p>
          <a:p>
            <a:pPr marL="0" indent="0" algn="ctr">
              <a:buNone/>
            </a:pPr>
            <a:r>
              <a:rPr lang="en-GB" altLang="zh-MO" dirty="0"/>
              <a:t/>
            </a:r>
            <a:r>
              <a:rPr lang="ja-JP" altLang="en-US"/>
              <a:t/>
            </a:r>
            <a:r>
              <a:rPr lang="en-GB" altLang="zh-MO" dirty="0"/>
              <a:t/>
            </a:r>
            <a:r>
              <a:rPr lang="ja-JP" altLang="en-US"/>
              <a:t/>
            </a:r>
            <a:r>
              <a:rPr lang="zh-MO" altLang="en-US" dirty="0"/>
              <a:t/>
            </a:r>
            <a:r>
              <a:rPr lang="ja-JP" altLang="en-US"/>
              <a:t/>
            </a:r>
            <a:r>
              <a:rPr lang="zh-MO" altLang="en-US" dirty="0"/>
              <a:t/>
            </a:r>
            <a:r>
              <a:rPr lang="ja-JP" altLang="en-US"/>
              <a:t/>
            </a:r>
            <a:endParaRPr lang="en-US" altLang="ja-JP" dirty="0"/>
          </a:p>
          <a:p>
            <a:pPr marL="0" indent="0" algn="ctr">
              <a:buNone/>
            </a:pPr>
            <a:endParaRPr lang="ja-JP" altLang="en-US"/>
          </a:p>
          <a:p>
            <a:pPr marL="0" indent="0">
              <a:buNone/>
            </a:pPr>
            <a:r>
              <a:rPr lang="ja-JP" altLang="en-US"/>
              <a:t/>
            </a:r>
            <a:r>
              <a:rPr lang="zh-MO" altLang="en-US" dirty="0"/>
              <a:t/>
            </a:r>
            <a:r>
              <a:rPr lang="ja-JP" altLang="en-US"/>
              <a:t/>
            </a:r>
            <a:r>
              <a:rPr lang="zh-MO" altLang="en-US" dirty="0"/>
              <a:t/>
            </a:r>
            <a:r>
              <a:rPr lang="ja-JP" altLang="en-US"/>
              <a:t/>
            </a:r>
          </a:p>
          <a:p>
            <a:pPr marL="0" indent="0">
              <a:buNone/>
            </a:pPr>
            <a:r>
              <a:rPr lang="zh-MO" altLang="en-GB" dirty="0"/>
              <a:t/>
            </a:r>
            <a:r>
              <a:rPr lang="en-GB" altLang="zh-MO" dirty="0"/>
              <a:t/>
            </a:r>
            <a:r>
              <a:rPr lang="ja-JP" altLang="en-US"/>
              <a:t/>
            </a:r>
            <a:r>
              <a:rPr lang="zh-MO" altLang="en-US" dirty="0"/>
              <a:t/>
            </a:r>
            <a:r>
              <a:rPr lang="ja-JP" altLang="en-US"/>
              <a:t/>
            </a:r>
            <a:r>
              <a:rPr lang="zh-MO" altLang="en-US" dirty="0"/>
              <a:t/>
            </a:r>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p>
          <a:p>
            <a:pPr marL="0" indent="0">
              <a:buNone/>
            </a:pPr>
            <a:endParaRPr lang="zh-MO" altLang="en-US" dirty="0"/>
          </a:p>
          <a:p>
            <a:pPr marL="0" indent="0">
              <a:buNone/>
            </a:pP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endParaRPr kumimoji="1" lang="zh-MO" altLang="en-US" dirty="0"/>
          </a:p>
        </p:txBody>
      </p:sp>
      <p:sp>
        <p:nvSpPr>
          <p:cNvPr id="6" name="投影片編號版面配置區 5">
            <a:extLst>
              <a:ext uri="{FF2B5EF4-FFF2-40B4-BE49-F238E27FC236}">
                <ns2:creationId id="{8C99DF3B-4B49-3583-4A7A-8FE28DE81027}"/>
              </a:ext>
            </a:extLst>
          </p:cNvPr>
          <p:cNvSpPr>
            <a:spLocks noGrp="1"/>
          </p:cNvSpPr>
          <p:nvPr>
            <p:ph type="sldNum" sz="quarter" idx="12"/>
          </p:nvPr>
        </p:nvSpPr>
        <p:spPr/>
        <p:txBody>
          <a:bodyPr/>
          <a:lstStyle/>
          <a:p>
            <a:fld id="{3509F7B2-E600-4F87-A2BF-206386C1A1D6}" type="slidenum">
              <a:rPr kumimoji="1" lang="ja-JP" altLang="en-US" smtClean="0"/>
              <a:t>13</a:t>
            </a:fld>
            <a:endParaRPr kumimoji="1" lang="ja-JP" altLang="en-US"/>
          </a:p>
        </p:txBody>
      </p:sp>
    </p:spTree>
    <p:extLst>
      <p:ext uri="{BB962C8B-B14F-4D97-AF65-F5344CB8AC3E}">
        <ns3:creationId val="612334743"/>
      </p:ext>
    </p:extLst>
  </p:cSld>
  <p:clrMapOvr>
    <a:masterClrMapping/>
  </p:clrMapOvr>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9B0A857E-6EF3-0F1E-499E-B4555BB79F20}"/>
            </a:ext>
          </a:extLst>
        </p:cNvPr>
        <p:cNvGrpSpPr/>
        <p:nvPr/>
      </p:nvGrpSpPr>
      <p:grpSpPr>
        <a:xfrm>
          <a:off x="0" y="0"/>
          <a:ext cx="0" cy="0"/>
          <a:chOff x="0" y="0"/>
          <a:chExt cx="0" cy="0"/>
        </a:xfrm>
      </p:grpSpPr>
      <p:sp>
        <p:nvSpPr>
          <p:cNvPr id="2" name="標題 1">
            <a:extLst>
              <a:ext uri="{FF2B5EF4-FFF2-40B4-BE49-F238E27FC236}">
                <ns2:creationId id="{10A546AE-B461-7D43-EE27-891CC6DBEC0C}"/>
              </a:ext>
            </a:extLst>
          </p:cNvPr>
          <p:cNvSpPr>
            <a:spLocks noGrp="1"/>
          </p:cNvSpPr>
          <p:nvPr>
            <p:ph type="title"/>
          </p:nvPr>
        </p:nvSpPr>
        <p:spPr/>
        <p:txBody>
          <a:bodyPr>
            <a:normAutofit/>
          </a:bodyPr>
          <a:lstStyle/>
          <a:p>
            <a:r>
              <a:rPr lang="en-US" altLang="ja-JP" sz="3600" dirty="0"/>
              <a:t>Step3：Table14 → Holdout35 の検証プロトコル</a:t>
            </a:r>
            <a:r>
              <a:rPr lang="ja-JP" altLang="en-US" sz="3600"/>
              <a:t/>
            </a:r>
            <a:r>
              <a:rPr lang="en-GB" altLang="ja-JP" sz="3600" dirty="0"/>
              <a:t/>
            </a:r>
            <a:r>
              <a:rPr lang="ja-JP" altLang="en-US" sz="3600"/>
              <a:t/>
            </a:r>
            <a:endParaRPr lang="en-US" altLang="ja-JP" sz="3600" dirty="0"/>
          </a:p>
        </p:txBody>
      </p:sp>
      <p:sp>
        <p:nvSpPr>
          <p:cNvPr id="3" name="內容版面配置區 2">
            <a:extLst>
              <a:ext uri="{FF2B5EF4-FFF2-40B4-BE49-F238E27FC236}">
                <ns2:creationId id="{77CD743F-EA1D-3ED7-3642-1D3EDF1338FE}"/>
              </a:ext>
            </a:extLst>
          </p:cNvPr>
          <p:cNvSpPr>
            <a:spLocks noGrp="1"/>
          </p:cNvSpPr>
          <p:nvPr>
            <p:ph idx="1"/>
          </p:nvPr>
        </p:nvSpPr>
        <p:spPr>
          <a:xfrm>
            <a:off x="838200" y="1180317"/>
            <a:ext cx="10515600" cy="1284104"/>
          </a:xfrm>
        </p:spPr>
        <p:txBody>
          <a:bodyPr>
            <a:normAutofit lnSpcReduction="10000"/>
          </a:bodyPr>
          <a:lstStyle/>
          <a:p>
            <a:pPr marL="0" indent="0">
              <a:buNone/>
            </a:pPr>
            <a:r>
              <a:rPr kumimoji="1" lang="zh-MO" altLang="en-US" dirty="0"/>
              <a:t>Table14：前期研究で示された14個の target complex emotions。モデル学習に使用する。
Holdout35：学習に使わない残り35セル。汎化評価に使用する。
目的：表を暗記するのではなく、少数教師から未観測セルを予測できるかを見る。</a:t>
            </a:r>
            <a:r>
              <a:rPr kumimoji="1" lang="ja-JP" altLang="en-US"/>
              <a:t/>
            </a:r>
          </a:p>
          <a:p>
            <a:pPr marL="0" indent="0">
              <a:buNone/>
            </a:pPr>
            <a:r>
              <a:rPr kumimoji="1" lang="en-US" altLang="ja-JP" dirty="0"/>
              <a:t/>
            </a:r>
            <a:r>
              <a:rPr kumimoji="1" lang="ja-JP" altLang="en-US"/>
              <a:t/>
            </a:r>
            <a:r>
              <a:rPr kumimoji="1" lang="en-GB" altLang="ja-JP" dirty="0"/>
              <a:t/>
            </a:r>
            <a:r>
              <a:rPr kumimoji="1" lang="ja-JP" altLang="en-US"/>
              <a:t/>
            </a:r>
            <a:r>
              <a:rPr kumimoji="1" lang="en-US" altLang="ja-JP" dirty="0"/>
              <a:t/>
            </a:r>
            <a:r>
              <a:rPr kumimoji="1" lang="ja-JP" altLang="en-US"/>
              <a:t/>
            </a:r>
            <a:r>
              <a:rPr kumimoji="1" lang="en-US" altLang="ja-JP" dirty="0"/>
              <a:t/>
            </a:r>
            <a:r>
              <a:rPr kumimoji="1" lang="ja-JP" altLang="en-US"/>
              <a:t/>
            </a:r>
          </a:p>
        </p:txBody>
      </p:sp>
      <p:sp>
        <p:nvSpPr>
          <p:cNvPr id="6" name="投影片編號版面配置區 5">
            <a:extLst>
              <a:ext uri="{FF2B5EF4-FFF2-40B4-BE49-F238E27FC236}">
                <ns2:creationId id="{0FBE5DB1-5C3F-8EF5-157B-3867FD45BBCF}"/>
              </a:ext>
            </a:extLst>
          </p:cNvPr>
          <p:cNvSpPr>
            <a:spLocks noGrp="1"/>
          </p:cNvSpPr>
          <p:nvPr>
            <p:ph type="sldNum" sz="quarter" idx="12"/>
          </p:nvPr>
        </p:nvSpPr>
        <p:spPr/>
        <p:txBody>
          <a:bodyPr/>
          <a:lstStyle/>
          <a:p>
            <a:fld id="{3509F7B2-E600-4F87-A2BF-206386C1A1D6}" type="slidenum">
              <a:rPr kumimoji="1" lang="ja-JP" altLang="en-US" smtClean="0"/>
              <a:t>14</a:t>
            </a:fld>
            <a:endParaRPr kumimoji="1" lang="ja-JP" altLang="en-US"/>
          </a:p>
        </p:txBody>
      </p:sp>
      <p:sp>
        <p:nvSpPr>
          <p:cNvPr id="4" name="文字方塊 3">
            <a:extLst>
              <a:ext uri="{FF2B5EF4-FFF2-40B4-BE49-F238E27FC236}">
                <ns2:creationId id="{3E9D0159-D624-25CB-2591-3E957E206326}"/>
              </a:ext>
            </a:extLst>
          </p:cNvPr>
          <p:cNvSpPr txBox="1"/>
          <p:nvPr/>
        </p:nvSpPr>
        <p:spPr>
          <a:xfrm>
            <a:off x="838200" y="2464420"/>
            <a:ext cx="5257800" cy="4062651"/>
          </a:xfrm>
          <a:prstGeom prst="rect">
            <a:avLst/>
          </a:prstGeom>
          <a:noFill/>
        </p:spPr>
        <p:txBody>
          <a:bodyPr wrap="square" rtlCol="0">
            <a:spAutoFit/>
          </a:bodyPr>
          <a:lstStyle/>
          <a:p>
            <a:r>
              <a:rPr lang="zh-MO" altLang="en-US" sz="2400" dirty="0">
                <a:latin typeface="HGPSoeiKakugothicUB" panose="020B0900000000000000" pitchFamily="34" charset="-128"/>
                <a:ea typeface="HGPSoeiKakugothicUB" panose="020B0900000000000000" pitchFamily="34" charset="-128"/>
              </a:rPr>
              <a:t/>
            </a:r>
          </a:p>
          <a:p>
            <a:r>
              <a:rPr lang="en-GB" altLang="zh-MO" sz="2400" dirty="0">
                <a:latin typeface="HGPSoeiKakugothicUB" panose="020B0900000000000000" pitchFamily="34" charset="-128"/>
                <a:ea typeface="HGPSoeiKakugothicUB" panose="020B0900000000000000" pitchFamily="34" charset="-128"/>
              </a:rPr>
              <a:t/>
            </a:r>
            <a:r>
              <a:rPr lang="zh-MO" altLang="en-GB" sz="2400" dirty="0">
                <a:latin typeface="HGPSoeiKakugothicUB" panose="020B0900000000000000" pitchFamily="34" charset="-128"/>
                <a:ea typeface="HGPSoeiKakugothicUB" panose="020B0900000000000000" pitchFamily="34" charset="-128"/>
              </a:rPr>
              <a:t/>
            </a:r>
          </a:p>
          <a:p>
            <a:r>
              <a:rPr lang="zh-MO" altLang="en-GB" sz="2400" dirty="0">
                <a:latin typeface="HGPSoeiKakugothicUB" panose="020B0900000000000000" pitchFamily="34" charset="-128"/>
                <a:ea typeface="HGPSoeiKakugothicUB" panose="020B0900000000000000" pitchFamily="34" charset="-128"/>
              </a:rPr>
              <a:t/>
            </a:r>
            <a:r>
              <a:rPr lang="en-GB" altLang="zh-MO" sz="2400" dirty="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p>
          <a:p>
            <a:r>
              <a:rPr lang="en-GB" altLang="zh-MO" sz="2400" dirty="0">
                <a:latin typeface="HGPSoeiKakugothicUB" panose="020B0900000000000000" pitchFamily="34" charset="-128"/>
                <a:ea typeface="HGPSoeiKakugothicUB" panose="020B0900000000000000" pitchFamily="34" charset="-128"/>
              </a:rPr>
              <a:t/>
            </a:r>
            <a:r>
              <a:rPr lang="zh-MO" altLang="en-GB" sz="2400" dirty="0">
                <a:latin typeface="HGPSoeiKakugothicUB" panose="020B0900000000000000" pitchFamily="34" charset="-128"/>
                <a:ea typeface="HGPSoeiKakugothicUB" panose="020B0900000000000000" pitchFamily="34" charset="-128"/>
              </a:rPr>
              <a:t/>
            </a:r>
          </a:p>
          <a:p>
            <a:r>
              <a:rPr lang="zh-MO" altLang="en-GB" sz="2400" dirty="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en-US" altLang="ja-JP" sz="2400" dirty="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endParaRPr lang="en-GB" altLang="zh-MO" sz="2400" dirty="0">
              <a:latin typeface="HGPSoeiKakugothicUB" panose="020B0900000000000000" pitchFamily="34" charset="-128"/>
              <a:ea typeface="HGPSoeiKakugothicUB" panose="020B0900000000000000" pitchFamily="34" charset="-128"/>
            </a:endParaRPr>
          </a:p>
          <a:p>
            <a:r>
              <a:rPr lang="en-GB" altLang="zh-MO"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p>
          <a:p>
            <a:r>
              <a:rPr lang="en-GB" altLang="zh-MO" sz="2400" dirty="0">
                <a:latin typeface="HGPSoeiKakugothicUB" panose="020B0900000000000000" pitchFamily="34" charset="-128"/>
                <a:ea typeface="HGPSoeiKakugothicUB" panose="020B0900000000000000" pitchFamily="34" charset="-128"/>
              </a:rPr>
              <a:t/>
            </a:r>
            <a:r>
              <a:rPr lang="zh-MO" altLang="en-GB" sz="2400" dirty="0">
                <a:latin typeface="HGPSoeiKakugothicUB" panose="020B0900000000000000" pitchFamily="34" charset="-128"/>
                <a:ea typeface="HGPSoeiKakugothicUB" panose="020B0900000000000000" pitchFamily="34" charset="-128"/>
              </a:rPr>
              <a:t/>
            </a:r>
          </a:p>
          <a:p>
            <a:r>
              <a:rPr lang="zh-MO" altLang="en-GB" sz="2400" dirty="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en-US" altLang="ja-JP"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p>
          <a:p>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p>
          <a:p>
            <a:endParaRPr kumimoji="1" lang="zh-MO" altLang="en-US" dirty="0"/>
          </a:p>
        </p:txBody>
      </p:sp>
      <p:sp>
        <p:nvSpPr>
          <p:cNvPr id="5" name="文字方塊 4">
            <a:extLst>
              <a:ext uri="{FF2B5EF4-FFF2-40B4-BE49-F238E27FC236}">
                <ns2:creationId id="{774CD2A8-5121-92CE-C9DA-B031120DD80D}"/>
              </a:ext>
            </a:extLst>
          </p:cNvPr>
          <p:cNvSpPr txBox="1"/>
          <p:nvPr/>
        </p:nvSpPr>
        <p:spPr>
          <a:xfrm>
            <a:off x="6279996" y="2464420"/>
            <a:ext cx="5073804" cy="2677656"/>
          </a:xfrm>
          <a:prstGeom prst="rect">
            <a:avLst/>
          </a:prstGeom>
          <a:noFill/>
        </p:spPr>
        <p:txBody>
          <a:bodyPr wrap="square" rtlCol="0">
            <a:spAutoFit/>
          </a:bodyPr>
          <a:lstStyle/>
          <a:p>
            <a:r>
              <a:rPr lang="zh-MO" altLang="en-US" sz="2400" dirty="0">
                <a:latin typeface="HGPSoeiKakugothicUB" panose="020B0900000000000000" pitchFamily="34" charset="-128"/>
                <a:ea typeface="HGPSoeiKakugothicUB" panose="020B0900000000000000" pitchFamily="34" charset="-128"/>
              </a:rPr>
              <a:t/>
            </a:r>
          </a:p>
          <a:p>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p>
          <a:p>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r>
              <a:rPr lang="zh-MO" altLang="en-US" sz="2400" dirty="0">
                <a:latin typeface="HGPSoeiKakugothicUB" panose="020B0900000000000000" pitchFamily="34" charset="-128"/>
                <a:ea typeface="HGPSoeiKakugothicUB" panose="020B0900000000000000" pitchFamily="34" charset="-128"/>
              </a:rPr>
              <a:t/>
            </a:r>
            <a:r>
              <a:rPr lang="ja-JP" altLang="en-US" sz="2400">
                <a:latin typeface="HGPSoeiKakugothicUB" panose="020B0900000000000000" pitchFamily="34" charset="-128"/>
                <a:ea typeface="HGPSoeiKakugothicUB" panose="020B0900000000000000" pitchFamily="34" charset="-128"/>
              </a:rPr>
              <a:t/>
            </a:r>
          </a:p>
          <a:p>
            <a:endParaRPr lang="ja-JP" altLang="en-US" sz="2400">
              <a:latin typeface="HGPSoeiKakugothicUB" panose="020B0900000000000000" pitchFamily="34" charset="-128"/>
              <a:ea typeface="HGPSoeiKakugothicUB" panose="020B0900000000000000" pitchFamily="34" charset="-128"/>
            </a:endParaRPr>
          </a:p>
          <a:p>
            <a:r>
              <a:rPr lang="zh-MO" altLang="en-US" sz="2400" dirty="0">
                <a:latin typeface="HGPSoeiKakugothicUB" panose="020B0900000000000000" pitchFamily="34" charset="-128"/>
                <a:ea typeface="HGPSoeiKakugothicUB" panose="020B0900000000000000" pitchFamily="34" charset="-128"/>
              </a:rPr>
              <a:t/>
            </a:r>
          </a:p>
          <a:p>
            <a:r>
              <a:rPr lang="en-GB" altLang="zh-MO" sz="2400" dirty="0">
                <a:latin typeface="HGPSoeiKakugothicUB" panose="020B0900000000000000" pitchFamily="34" charset="-128"/>
                <a:ea typeface="HGPSoeiKakugothicUB" panose="020B0900000000000000" pitchFamily="34" charset="-128"/>
              </a:rPr>
              <a:t/>
            </a:r>
            <a:endParaRPr kumimoji="1" lang="zh-MO" altLang="en-US" sz="2400" dirty="0">
              <a:latin typeface="HGPSoeiKakugothicUB" panose="020B0900000000000000" pitchFamily="34" charset="-128"/>
              <a:ea typeface="HGPSoeiKakugothicUB" panose="020B0900000000000000" pitchFamily="34" charset="-128"/>
            </a:endParaRPr>
          </a:p>
        </p:txBody>
      </p:sp>
    </p:spTree>
    <p:extLst>
      <p:ext uri="{BB962C8B-B14F-4D97-AF65-F5344CB8AC3E}">
        <ns3:creationId val="3114164625"/>
      </p:ext>
    </p:extLst>
  </p:cSld>
  <p:clrMapOvr>
    <a:masterClrMapping/>
  </p:clrMapOvr>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74719750-D704-344C-AE40-DCD5B399FF6B}"/>
            </a:ext>
          </a:extLst>
        </p:cNvPr>
        <p:cNvGrpSpPr/>
        <p:nvPr/>
      </p:nvGrpSpPr>
      <p:grpSpPr>
        <a:xfrm>
          <a:off x="0" y="0"/>
          <a:ext cx="0" cy="0"/>
          <a:chOff x="0" y="0"/>
          <a:chExt cx="0" cy="0"/>
        </a:xfrm>
      </p:grpSpPr>
      <p:sp>
        <p:nvSpPr>
          <p:cNvPr id="2" name="標題 1">
            <a:extLst>
              <a:ext uri="{FF2B5EF4-FFF2-40B4-BE49-F238E27FC236}">
                <ns2:creationId id="{16E3F3B3-B8C4-DFD9-6E39-C07F0039373A}"/>
              </a:ext>
            </a:extLst>
          </p:cNvPr>
          <p:cNvSpPr>
            <a:spLocks noGrp="1"/>
          </p:cNvSpPr>
          <p:nvPr>
            <p:ph type="title"/>
          </p:nvPr>
        </p:nvSpPr>
        <p:spPr/>
        <p:txBody>
          <a:bodyPr>
            <a:normAutofit/>
          </a:bodyPr>
          <a:lstStyle/>
          <a:p>
            <a:r>
              <a:rPr lang="en-US" altLang="ja-JP" sz="3600" dirty="0"/>
              <a:t>Step3で確認できたこと</a:t>
            </a:r>
            <a:r>
              <a:rPr lang="ja-JP" altLang="en-US" sz="3600"/>
              <a:t/>
            </a:r>
            <a:r>
              <a:rPr lang="en-US" altLang="ja-JP" sz="3600" dirty="0"/>
              <a:t/>
            </a:r>
            <a:r>
              <a:rPr lang="ja-JP" altLang="en-US" sz="3600"/>
              <a:t/>
            </a:r>
            <a:r>
              <a:rPr lang="zh-MO" altLang="en-US" sz="3600" dirty="0"/>
              <a:t/>
            </a:r>
            <a:r>
              <a:rPr lang="ja-JP" altLang="en-US" sz="3600"/>
              <a:t/>
            </a:r>
            <a:endParaRPr lang="en-US" altLang="ja-JP" sz="3600" dirty="0"/>
          </a:p>
        </p:txBody>
      </p:sp>
      <p:sp>
        <p:nvSpPr>
          <p:cNvPr id="3" name="內容版面配置區 2">
            <a:extLst>
              <a:ext uri="{FF2B5EF4-FFF2-40B4-BE49-F238E27FC236}">
                <ns2:creationId id="{8A6C35C8-1850-9D5E-A347-C5D8608FAE08}"/>
              </a:ext>
            </a:extLst>
          </p:cNvPr>
          <p:cNvSpPr>
            <a:spLocks noGrp="1"/>
          </p:cNvSpPr>
          <p:nvPr>
            <p:ph idx="1"/>
          </p:nvPr>
        </p:nvSpPr>
        <p:spPr/>
        <p:txBody>
          <a:bodyPr>
            <a:normAutofit/>
          </a:bodyPr>
          <a:lstStyle/>
          <a:p>
            <a:pPr marL="0" indent="0">
              <a:buNone/>
            </a:pPr>
            <a:r>
              <a:rPr lang="zh-MO" altLang="en-US" sz="2400" dirty="0"/>
              <a:t>Table14 だけで学習し、Holdout35 で評価する標準プロトコルを確立した。
native座標では、少数教師から7×7表の全体構造をかなり再構成できた。
これは、表が単なるルックアップではなく、低次元の連続構造を持つ可能性を示す。</a:t>
            </a:r>
            <a:r>
              <a:rPr lang="ja-JP" altLang="en-US" sz="2400"/>
              <a:t/>
            </a:r>
            <a:r>
              <a:rPr lang="zh-MO" altLang="en-US" sz="2400" dirty="0"/>
              <a:t/>
            </a:r>
          </a:p>
          <a:p>
            <a:pPr marL="0" indent="0">
              <a:buNone/>
            </a:pPr>
            <a:r>
              <a:rPr lang="zh-MO" altLang="en-US" sz="2400" dirty="0"/>
              <a:t/>
            </a:r>
            <a:r>
              <a:rPr lang="en-GB" altLang="zh-MO" sz="2400" dirty="0"/>
              <a:t/>
            </a:r>
            <a:r>
              <a:rPr lang="ja-JP" altLang="en-US" sz="2400"/>
              <a:t/>
            </a:r>
            <a:r>
              <a:rPr lang="zh-MO" altLang="en-US" sz="2400" dirty="0"/>
              <a:t/>
            </a:r>
            <a:r>
              <a:rPr lang="ja-JP" altLang="en-US" sz="2400"/>
              <a:t/>
            </a:r>
            <a:r>
              <a:rPr lang="en-GB" altLang="zh-MO" sz="2400" dirty="0"/>
              <a:t/>
            </a:r>
            <a:r>
              <a:rPr lang="ja-JP" altLang="en-US" sz="2400"/>
              <a:t/>
            </a:r>
            <a:r>
              <a:rPr lang="zh-MO" altLang="en-US" sz="2400" dirty="0"/>
              <a:t/>
            </a:r>
            <a:r>
              <a:rPr lang="ja-JP" altLang="en-US" sz="2400"/>
              <a:t/>
            </a:r>
            <a:r>
              <a:rPr lang="zh-MO" altLang="en-US" sz="2400" dirty="0"/>
              <a:t/>
            </a:r>
            <a:r>
              <a:rPr lang="ja-JP" altLang="en-US" sz="2400"/>
              <a:t/>
            </a:r>
          </a:p>
          <a:p>
            <a:pPr marL="0" indent="0">
              <a:buNone/>
            </a:pPr>
            <a:r>
              <a:rPr lang="ja-JP" altLang="en-US" sz="2400"/>
              <a:t/>
            </a:r>
            <a:r>
              <a:rPr lang="en-GB" altLang="zh-MO" sz="2400" dirty="0"/>
              <a:t/>
            </a:r>
            <a:r>
              <a:rPr lang="zh-MO" altLang="en-US" sz="2400" dirty="0"/>
              <a:t/>
            </a:r>
            <a:r>
              <a:rPr lang="ja-JP" altLang="en-US" sz="2400"/>
              <a:t/>
            </a:r>
            <a:r>
              <a:rPr lang="zh-MO" altLang="en-US" sz="2400" dirty="0"/>
              <a:t/>
            </a:r>
            <a:r>
              <a:rPr lang="ja-JP" altLang="en-US" sz="2400"/>
              <a:t/>
            </a:r>
            <a:r>
              <a:rPr lang="en-US" altLang="ja-JP" sz="2400" dirty="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p>
          <a:p>
            <a:pPr marL="0" indent="0">
              <a:buNone/>
            </a:pPr>
            <a:r>
              <a:rPr lang="ja-JP" altLang="en-US" sz="2400"/>
              <a:t/>
            </a:r>
            <a:r>
              <a:rPr lang="zh-MO" altLang="en-US" sz="2400" dirty="0"/>
              <a:t/>
            </a:r>
            <a:r>
              <a:rPr lang="ja-JP" altLang="en-US" sz="2400"/>
              <a:t/>
            </a:r>
            <a:r>
              <a:rPr lang="zh-MO" altLang="en-US" sz="2400" dirty="0"/>
              <a:t/>
            </a:r>
            <a:r>
              <a:rPr lang="en-US" altLang="zh-MO" sz="2400" dirty="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p>
          <a:p>
            <a:pPr marL="0" indent="0">
              <a:buNone/>
            </a:pP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p>
          <a:p>
            <a:pPr marL="0" indent="0">
              <a:buNone/>
            </a:pP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r>
              <a:rPr lang="zh-MO" altLang="en-US" sz="2400" dirty="0"/>
              <a:t/>
            </a:r>
            <a:r>
              <a:rPr lang="ja-JP" altLang="en-US" sz="2400"/>
              <a:t/>
            </a:r>
            <a:endParaRPr lang="en-US" altLang="ja-JP" sz="2400" dirty="0"/>
          </a:p>
          <a:p>
            <a:endParaRPr lang="en-US" altLang="ja-JP" sz="2400" dirty="0"/>
          </a:p>
          <a:p>
            <a:pPr marL="0" indent="0">
              <a:buNone/>
            </a:pPr>
            <a:r>
              <a:rPr lang="ja-JP" altLang="en-US" sz="2400"/>
              <a:t/>
            </a:r>
          </a:p>
          <a:p>
            <a:pPr marL="0" indent="0">
              <a:buNone/>
            </a:pPr>
            <a:r>
              <a:rPr lang="ja-JP" altLang="en-US" sz="2400"/>
              <a:t/>
            </a:r>
          </a:p>
          <a:p>
            <a:pPr marL="0" indent="0">
              <a:buNone/>
            </a:pPr>
            <a:r>
              <a:rPr lang="ja-JP" altLang="en-US" sz="2400"/>
              <a:t/>
            </a:r>
            <a:r>
              <a:rPr lang="en-GB" altLang="ja-JP" sz="2400" dirty="0"/>
              <a:t/>
            </a:r>
            <a:r>
              <a:rPr lang="ja-JP" altLang="en-US" sz="2400"/>
              <a:t/>
            </a:r>
          </a:p>
          <a:p>
            <a:endParaRPr lang="ja-JP" altLang="en-US"/>
          </a:p>
        </p:txBody>
      </p:sp>
      <p:sp>
        <p:nvSpPr>
          <p:cNvPr id="6" name="投影片編號版面配置區 5">
            <a:extLst>
              <a:ext uri="{FF2B5EF4-FFF2-40B4-BE49-F238E27FC236}">
                <ns2:creationId id="{33F4B8A1-EB2C-9703-735C-70535E9E29F6}"/>
              </a:ext>
            </a:extLst>
          </p:cNvPr>
          <p:cNvSpPr>
            <a:spLocks noGrp="1"/>
          </p:cNvSpPr>
          <p:nvPr>
            <p:ph type="sldNum" sz="quarter" idx="12"/>
          </p:nvPr>
        </p:nvSpPr>
        <p:spPr/>
        <p:txBody>
          <a:bodyPr/>
          <a:lstStyle/>
          <a:p>
            <a:fld id="{3509F7B2-E600-4F87-A2BF-206386C1A1D6}" type="slidenum">
              <a:rPr kumimoji="1" lang="ja-JP" altLang="en-US" smtClean="0"/>
              <a:t>15</a:t>
            </a:fld>
            <a:endParaRPr kumimoji="1" lang="ja-JP" altLang="en-US"/>
          </a:p>
        </p:txBody>
      </p:sp>
    </p:spTree>
    <p:extLst>
      <p:ext uri="{BB962C8B-B14F-4D97-AF65-F5344CB8AC3E}">
        <ns3:creationId val="138014356"/>
      </p:ext>
    </p:extLst>
  </p:cSld>
  <p:clrMapOvr>
    <a:masterClrMapping/>
  </p:clrMapOvr>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A773054A-6683-3242-A5DA-6831E3EC0223}"/>
            </a:ext>
          </a:extLst>
        </p:cNvPr>
        <p:cNvGrpSpPr/>
        <p:nvPr/>
      </p:nvGrpSpPr>
      <p:grpSpPr>
        <a:xfrm>
          <a:off x="0" y="0"/>
          <a:ext cx="0" cy="0"/>
          <a:chOff x="0" y="0"/>
          <a:chExt cx="0" cy="0"/>
        </a:xfrm>
      </p:grpSpPr>
      <p:sp>
        <p:nvSpPr>
          <p:cNvPr id="2" name="標題 1">
            <a:extLst>
              <a:ext uri="{FF2B5EF4-FFF2-40B4-BE49-F238E27FC236}">
                <ns2:creationId id="{D872244B-916F-E7DE-1503-A80312692950}"/>
              </a:ext>
            </a:extLst>
          </p:cNvPr>
          <p:cNvSpPr>
            <a:spLocks noGrp="1"/>
          </p:cNvSpPr>
          <p:nvPr>
            <p:ph type="title"/>
          </p:nvPr>
        </p:nvSpPr>
        <p:spPr/>
        <p:txBody>
          <a:bodyPr>
            <a:normAutofit/>
          </a:bodyPr>
          <a:lstStyle/>
          <a:p>
            <a:r>
              <a:rPr lang="en-US" altLang="zh-MO" sz="3600" dirty="0"/>
              <a:t>次の問い：どの関数形式で説明できるか</a:t>
            </a:r>
            <a:r>
              <a:rPr lang="zh-MO" altLang="en-US" sz="3600" dirty="0"/>
              <a:t/>
            </a:r>
            <a:r>
              <a:rPr lang="en-US" altLang="zh-MO" sz="3600" dirty="0"/>
              <a:t/>
            </a:r>
            <a:r>
              <a:rPr lang="ja-JP" altLang="en-US" sz="3600"/>
              <a:t/>
            </a:r>
            <a:r>
              <a:rPr lang="zh-MO" altLang="en-US" sz="3600" dirty="0"/>
              <a:t/>
            </a:r>
            <a:endParaRPr lang="en-US" altLang="ja-JP" sz="3600" dirty="0"/>
          </a:p>
        </p:txBody>
      </p:sp>
      <p:sp>
        <p:nvSpPr>
          <p:cNvPr id="3" name="內容版面配置區 2">
            <a:extLst>
              <a:ext uri="{FF2B5EF4-FFF2-40B4-BE49-F238E27FC236}">
                <ns2:creationId id="{4DBB142C-F22B-7040-668C-EE2DDFFB311C}"/>
              </a:ext>
            </a:extLst>
          </p:cNvPr>
          <p:cNvSpPr>
            <a:spLocks noGrp="1"/>
          </p:cNvSpPr>
          <p:nvPr>
            <p:ph idx="1"/>
          </p:nvPr>
        </p:nvSpPr>
        <p:spPr>
          <a:xfrm>
            <a:off x="838200" y="1180316"/>
            <a:ext cx="10515600" cy="1295255"/>
          </a:xfrm>
        </p:spPr>
        <p:txBody>
          <a:bodyPr>
            <a:normAutofit/>
          </a:bodyPr>
          <a:lstStyle/>
          <a:p>
            <a:pPr marL="0" indent="0">
              <a:buNone/>
            </a:pPr>
            <a:r>
              <a:rPr lang="en-GB" altLang="ja-JP" dirty="0"/>
              <a:t>Table14 → Holdout35 で構造が見えたため、次はその構造を生成する関数形式を比較する。
比較対象：simple average, linear, quadratic, abs。
評価の軸：性能だけでなく、解釈しやすさと少数教師での安定性も見る。</a:t>
            </a:r>
            <a:r>
              <a:rPr lang="ja-JP" altLang="en-US"/>
              <a:t/>
            </a:r>
            <a:r>
              <a:rPr lang="en-GB" altLang="ja-JP" dirty="0"/>
              <a:t/>
            </a:r>
            <a:r>
              <a:rPr lang="ja-JP" altLang="en-US"/>
              <a:t/>
            </a:r>
            <a:r>
              <a:rPr lang="zh-MO" altLang="en-US" dirty="0"/>
              <a:t/>
            </a:r>
            <a:r>
              <a:rPr lang="ja-JP" altLang="en-US"/>
              <a:t/>
            </a:r>
          </a:p>
          <a:p>
            <a:pPr marL="0" indent="0">
              <a:buNone/>
            </a:pP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endParaRPr lang="ja-JP" altLang="en-US" dirty="0"/>
          </a:p>
        </p:txBody>
      </p:sp>
      <p:sp>
        <p:nvSpPr>
          <p:cNvPr id="6" name="投影片編號版面配置區 5">
            <a:extLst>
              <a:ext uri="{FF2B5EF4-FFF2-40B4-BE49-F238E27FC236}">
                <ns2:creationId id="{666D2E55-8266-A57C-54D3-442DB9B69BAD}"/>
              </a:ext>
            </a:extLst>
          </p:cNvPr>
          <p:cNvSpPr>
            <a:spLocks noGrp="1"/>
          </p:cNvSpPr>
          <p:nvPr>
            <p:ph type="sldNum" sz="quarter" idx="12"/>
          </p:nvPr>
        </p:nvSpPr>
        <p:spPr/>
        <p:txBody>
          <a:bodyPr/>
          <a:lstStyle/>
          <a:p>
            <a:fld id="{3509F7B2-E600-4F87-A2BF-206386C1A1D6}" type="slidenum">
              <a:rPr kumimoji="1" lang="ja-JP" altLang="en-US" smtClean="0"/>
              <a:t>16</a:t>
            </a:fld>
            <a:endParaRPr kumimoji="1" lang="ja-JP" altLang="en-US"/>
          </a:p>
        </p:txBody>
      </p:sp>
      <p:sp>
        <p:nvSpPr>
          <p:cNvPr id="4" name="文字方塊 3">
            <a:extLst>
              <a:ext uri="{FF2B5EF4-FFF2-40B4-BE49-F238E27FC236}">
                <ns2:creationId id="{06E1602D-AA56-91FB-CD74-E326756FB09F}"/>
              </a:ext>
            </a:extLst>
          </p:cNvPr>
          <p:cNvSpPr txBox="1"/>
          <p:nvPr/>
        </p:nvSpPr>
        <p:spPr>
          <a:xfrm>
            <a:off x="838200" y="2475571"/>
            <a:ext cx="7433293" cy="1384995"/>
          </a:xfrm>
          <a:prstGeom prst="rect">
            <a:avLst/>
          </a:prstGeom>
          <a:noFill/>
        </p:spPr>
        <p:txBody>
          <a:bodyPr wrap="square" rtlCol="0">
            <a:spAutoFit/>
          </a:bodyPr>
          <a:lstStyle/>
          <a:p>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p>
          <a:p>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p>
          <a:p>
            <a:endParaRPr kumimoji="1" lang="zh-MO" altLang="en-US" sz="2800" dirty="0">
              <a:latin typeface="HGPSoeiKakugothicUB" panose="020B0900000000000000" pitchFamily="34" charset="-128"/>
              <a:ea typeface="HGPSoeiKakugothicUB" panose="020B0900000000000000" pitchFamily="34" charset="-128"/>
            </a:endParaRPr>
          </a:p>
        </p:txBody>
      </p:sp>
      <p:sp>
        <p:nvSpPr>
          <p:cNvPr id="5" name="文字方塊 4">
            <a:extLst>
              <a:ext uri="{FF2B5EF4-FFF2-40B4-BE49-F238E27FC236}">
                <ns2:creationId id="{75031E5E-7B57-53FF-1BB1-E1EFDF09416C}"/>
              </a:ext>
            </a:extLst>
          </p:cNvPr>
          <p:cNvSpPr txBox="1"/>
          <p:nvPr/>
        </p:nvSpPr>
        <p:spPr>
          <a:xfrm>
            <a:off x="838200" y="3860566"/>
            <a:ext cx="6974986" cy="1384995"/>
          </a:xfrm>
          <a:prstGeom prst="rect">
            <a:avLst/>
          </a:prstGeom>
          <a:noFill/>
        </p:spPr>
        <p:txBody>
          <a:bodyPr wrap="none" rtlCol="0">
            <a:spAutoFit/>
          </a:bodyPr>
          <a:lstStyle/>
          <a:p>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en-GB" altLang="zh-MO" sz="2800" dirty="0">
                <a:latin typeface="HGPSoeiKakugothicUB" panose="020B0900000000000000" pitchFamily="34" charset="-128"/>
                <a:ea typeface="HGPSoeiKakugothicUB" panose="020B0900000000000000" pitchFamily="34" charset="-128"/>
              </a:rPr>
              <a:t/>
            </a:r>
            <a:r>
              <a:rPr lang="zh-MO" altLang="en-GB" sz="2800" dirty="0">
                <a:latin typeface="HGPSoeiKakugothicUB" panose="020B0900000000000000" pitchFamily="34" charset="-128"/>
                <a:ea typeface="HGPSoeiKakugothicUB" panose="020B0900000000000000" pitchFamily="34" charset="-128"/>
              </a:rPr>
              <a:t/>
            </a:r>
          </a:p>
          <a:p>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en-GB" altLang="zh-MO"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p>
          <a:p>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r>
              <a:rPr lang="zh-MO" altLang="en-US" sz="2800" dirty="0">
                <a:latin typeface="HGPSoeiKakugothicUB" panose="020B0900000000000000" pitchFamily="34" charset="-128"/>
                <a:ea typeface="HGPSoeiKakugothicUB" panose="020B0900000000000000" pitchFamily="34" charset="-128"/>
              </a:rPr>
              <a:t/>
            </a:r>
            <a:r>
              <a:rPr lang="ja-JP" altLang="en-US" sz="2800">
                <a:latin typeface="HGPSoeiKakugothicUB" panose="020B0900000000000000" pitchFamily="34" charset="-128"/>
                <a:ea typeface="HGPSoeiKakugothicUB" panose="020B0900000000000000" pitchFamily="34" charset="-128"/>
              </a:rPr>
              <a:t/>
            </a:r>
          </a:p>
        </p:txBody>
      </p:sp>
    </p:spTree>
    <p:extLst>
      <p:ext uri="{BB962C8B-B14F-4D97-AF65-F5344CB8AC3E}">
        <ns3:creationId val="3627010250"/>
      </p:ext>
    </p:extLst>
  </p:cSld>
  <p:clrMapOvr>
    <a:masterClrMapping/>
  </p:clrMapOvr>
</p:sld>
</file>

<file path=ppt/slides/slide17.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a:extLst>
            <a:ext uri="{FF2B5EF4-FFF2-40B4-BE49-F238E27FC236}">
              <ns2:creationId id="{23BCE79A-D617-1D4C-2D4E-FCB4A4CBC4D6}"/>
            </a:ext>
          </a:extLst>
        </p:cNvPr>
        <p:cNvGrpSpPr/>
        <p:nvPr/>
      </p:nvGrpSpPr>
      <p:grpSpPr>
        <a:xfrm>
          <a:off x="0" y="0"/>
          <a:ext cx="0" cy="0"/>
          <a:chOff x="0" y="0"/>
          <a:chExt cx="0" cy="0"/>
        </a:xfrm>
      </p:grpSpPr>
      <p:sp>
        <p:nvSpPr>
          <p:cNvPr id="2" name="標題 1">
            <a:extLst>
              <a:ext uri="{FF2B5EF4-FFF2-40B4-BE49-F238E27FC236}">
                <ns2:creationId id="{735228B0-F059-2856-7814-351181CE4CBB}"/>
              </a:ext>
            </a:extLst>
          </p:cNvPr>
          <p:cNvSpPr>
            <a:spLocks noGrp="1"/>
          </p:cNvSpPr>
          <p:nvPr>
            <p:ph type="title"/>
          </p:nvPr>
        </p:nvSpPr>
        <p:spPr/>
        <p:txBody>
          <a:bodyPr>
            <a:normAutofit/>
          </a:bodyPr>
          <a:lstStyle/>
          <a:p>
            <a:r>
              <a:rPr lang="en-US" altLang="zh-MO" sz="3600" dirty="0"/>
              <a:t>Step4–6：4つの関数形式を比較する</a:t>
            </a:r>
            <a:r>
              <a:rPr lang="zh-MO" altLang="en-US" sz="3600" dirty="0"/>
              <a:t/>
            </a:r>
            <a:r>
              <a:rPr lang="ja-JP" altLang="en-US" sz="3600"/>
              <a:t/>
            </a:r>
            <a:r>
              <a:rPr lang="zh-MO" altLang="en-US" sz="3600" dirty="0"/>
              <a:t/>
            </a:r>
            <a:r>
              <a:rPr lang="ja-JP" altLang="en-US" sz="3600"/>
              <a:t/>
            </a:r>
            <a:r>
              <a:rPr lang="zh-MO" altLang="en-US" sz="3600" dirty="0"/>
              <a:t/>
            </a:r>
            <a:r>
              <a:rPr lang="ja-JP" altLang="en-US" sz="3600"/>
              <a:t/>
            </a:r>
            <a:r>
              <a:rPr lang="zh-MO" altLang="en-US" sz="3600" dirty="0"/>
              <a:t/>
            </a:r>
            <a:r>
              <a:rPr lang="ja-JP" altLang="en-US" sz="3600"/>
              <a:t/>
            </a:r>
            <a:endParaRPr lang="ja-JP" altLang="en-US" sz="3600" dirty="0"/>
          </a:p>
        </p:txBody>
      </p:sp>
      <ns3:AlternateContent>
        <ns3:Choice Requires="a14">
          <p:sp>
            <p:nvSpPr>
              <p:cNvPr id="3" name="內容版面配置區 2">
                <a:extLst>
                  <a:ext uri="{FF2B5EF4-FFF2-40B4-BE49-F238E27FC236}">
                    <ns2:creationId id="{1F11982E-F81C-6826-A7F7-18A25F683F2F}"/>
                  </a:ext>
                </a:extLst>
              </p:cNvPr>
              <p:cNvSpPr>
                <a:spLocks noGrp="1"/>
              </p:cNvSpPr>
              <p:nvPr>
                <p:ph idx="1"/>
              </p:nvPr>
            </p:nvSpPr>
            <p:spPr/>
            <p:txBody>
              <a:bodyPr>
                <a:normAutofit/>
              </a:bodyPr>
              <a:lstStyle/>
              <a:p>
                <a:pPr marL="0" indent="0">
                  <a:buNone/>
                </a:pPr>
                <a:r>
                  <a:rPr lang="ja-JP" altLang="en-US" sz="2200"/>
                  <a:t>同じ Table14 → Holdout35 プロトコルで、4つの関数形式を比較する。
本研究では、complex model が勝つかどうかだけでなく、どの形式が何を説明できるかを整理する。</a:t>
                </a:r>
              </a:p>
              <a:p>
                <a:r>
                  <a:rPr lang="ja-JP" altLang="en-US" sz="2200"/>
                  <a:t/>
                </a:r>
                <a:r>
                  <a:rPr lang="zh-CN" altLang="en-US" sz="2200" dirty="0"/>
                  <a:t/>
                </a:r>
                <a:r>
                  <a:rPr lang="ja-JP" altLang="en-US" sz="2200"/>
                  <a:t/>
                </a:r>
              </a:p>
              <a:p>
                <a:pPr marL="0" indent="0">
                  <a:buNone/>
                </a:pPr>
                <a:r>
                  <a:rPr lang="zh-MO" altLang="en-US" sz="2200" dirty="0"/>
                  <a:t/>
                </a:r>
                <a:r>
                  <a:rPr lang="ja-JP" altLang="en-US" sz="2200"/>
                  <a:t/>
                </a:r>
                <a:r>
                  <a:rPr lang="zh-MO" altLang="en-US" sz="2200" dirty="0"/>
                  <a:t/>
                </a:r>
                <a:r>
                  <a:rPr lang="ja-JP" altLang="en-US" sz="2200"/>
                  <a:t/>
                </a:r>
                <a:r>
                  <a:rPr lang="zh-MO" altLang="en-US" sz="2200" dirty="0"/>
                  <a:t/>
                </a:r>
              </a:p>
              <a:p>
                <a:r>
                  <a:rPr lang="zh-MO" altLang="en-US" sz="2200" dirty="0"/>
                  <a:t/>
                </a:r>
                <a:r>
                  <a:rPr lang="ja-JP" altLang="en-US" sz="2200"/>
                  <a:t/>
                </a:r>
                <ns4:m>
                  <ns5:oMath>
                    <ns5:r>
                      <a:rPr lang="en-GB" altLang="zh-MO" sz="2200" i="1">
                        <a:latin typeface="Cambria Math" panose="02040503050406030204" pitchFamily="18" charset="0"/>
                      </a:rPr>
                      <ns5:t>𝑑</ns5:t>
                    </ns5:r>
                  </ns5:oMath>
                </ns4:m>
                <a:endParaRPr lang="en-US" altLang="zh-MO" sz="2200" i="1" dirty="0">
                  <a:latin typeface="Cambria Math" panose="02040503050406030204" pitchFamily="18" charset="0"/>
                </a:endParaRPr>
              </a:p>
              <a:p>
                <a:pPr marL="0" indent="0">
                  <a:buNone/>
                </a:pPr>
                <ns4:m>
                  <ns5:oMathPara>
                    <ns5:oMathParaPr>
                      <ns5:jc ns5:val="centerGroup"/>
                    </ns5:oMathParaPr>
                    <ns5:oMath>
                      <ns5:sSub>
                        <ns5:sSubPr>
                          <ns5:ctrlPr>
                            <a:rPr lang="en-GB" altLang="zh-MO" sz="2200" i="1" smtClean="0">
                              <a:latin typeface="Cambria Math" panose="02040503050406030204" pitchFamily="18" charset="0"/>
                            </a:rPr>
                          </ns5:ctrlPr>
                        </ns5:sSubPr>
                        <ns5:e>
                          <ns5:r>
                            <a:rPr lang="en-GB" altLang="zh-MO" sz="2200" i="1">
                              <a:latin typeface="Cambria Math" panose="02040503050406030204" pitchFamily="18" charset="0"/>
                            </a:rPr>
                            <ns5:t>𝑤</ns5:t>
                          </ns5:r>
                        </ns5:e>
                        <ns5:sub>
                          <ns5:r>
                            <a:rPr lang="en-GB" altLang="zh-MO" sz="2200" i="1">
                              <a:latin typeface="Cambria Math" panose="02040503050406030204" pitchFamily="18" charset="0"/>
                            </a:rPr>
                            <ns5:t>𝑣</ns5:t>
                          </ns5:r>
                        </ns5:sub>
                      </ns5:sSub>
                      <ns5:r>
                        <a:rPr lang="en-GB" altLang="zh-MO" sz="2200" i="1">
                          <a:latin typeface="Cambria Math" panose="02040503050406030204" pitchFamily="18" charset="0"/>
                        </a:rPr>
                        <ns5:t>=</ns5:t>
                      </ns5:r>
                      <ns5:r>
                        <a:rPr lang="en-GB" altLang="zh-MO" sz="2200" i="1">
                          <a:latin typeface="Cambria Math" panose="02040503050406030204" pitchFamily="18" charset="0"/>
                        </a:rPr>
                        <ns5:t>𝜎</ns5:t>
                      </ns5:r>
                      <ns5:d>
                        <ns5:dPr>
                          <ns5:ctrlPr>
                            <a:rPr lang="en-GB" altLang="zh-MO" sz="2200" i="1">
                              <a:latin typeface="Cambria Math" panose="02040503050406030204" pitchFamily="18" charset="0"/>
                            </a:rPr>
                          </ns5:ctrlPr>
                        </ns5:dPr>
                        <ns5:e>
                          <ns5:r>
                            <a:rPr lang="en-GB" altLang="zh-MO" sz="2200" i="1">
                              <a:latin typeface="Cambria Math" panose="02040503050406030204" pitchFamily="18" charset="0"/>
                            </a:rPr>
                            <ns5:t>𝑎</ns5:t>
                          </ns5:r>
                          <ns5:r>
                            <a:rPr lang="en-GB" altLang="zh-MO" sz="2200" i="1">
                              <a:latin typeface="Cambria Math" panose="02040503050406030204" pitchFamily="18" charset="0"/>
                            </a:rPr>
                            <ns5:t>⋅</ns5:t>
                          </ns5:r>
                          <ns5:r>
                            <a:rPr lang="en-GB" altLang="zh-MO" sz="2200" i="1" smtClean="0">
                              <a:latin typeface="Cambria Math" panose="02040503050406030204" pitchFamily="18" charset="0"/>
                            </a:rPr>
                            <ns5:t>𝑑</ns5:t>
                          </ns5:r>
                          <ns5:r>
                            <a:rPr lang="en-GB" altLang="zh-MO" sz="2200" i="1">
                              <a:latin typeface="Cambria Math" panose="02040503050406030204" pitchFamily="18" charset="0"/>
                            </a:rPr>
                            <ns5:t>+</ns5:t>
                          </ns5:r>
                          <ns5:r>
                            <a:rPr lang="en-GB" altLang="zh-MO" sz="2200" i="1">
                              <a:latin typeface="Cambria Math" panose="02040503050406030204" pitchFamily="18" charset="0"/>
                            </a:rPr>
                            <ns5:t>𝑏</ns5:t>
                          </ns5:r>
                        </ns5:e>
                      </ns5:d>
                      <ns5:r>
                        <a:rPr lang="en-GB" altLang="zh-MO" sz="2200" i="1">
                          <a:latin typeface="Cambria Math" panose="02040503050406030204" pitchFamily="18" charset="0"/>
                        </a:rPr>
                        <ns5:t>​</ns5:t>
                      </ns5:r>
                      <ns5:r>
                        <a:rPr lang="en-GB" altLang="zh-MO" sz="2200">
                          <a:latin typeface="Cambria Math" panose="02040503050406030204" pitchFamily="18" charset="0"/>
                        </a:rPr>
                        <ns5:t>​</ns5:t>
                      </ns5:r>
                    </ns5:oMath>
                  </ns5:oMathPara>
                </ns4:m>
                <a:endParaRPr lang="en-US" altLang="zh-MO" sz="2200" i="1" dirty="0">
                  <a:latin typeface="Cambria Math" panose="02040503050406030204" pitchFamily="18" charset="0"/>
                </a:endParaRPr>
              </a:p>
              <a:p>
                <a:r>
                  <a:rPr lang="zh-MO" altLang="en-US" sz="2200" dirty="0"/>
                  <a:t/>
                </a:r>
                <a:r>
                  <a:rPr lang="ja-JP" altLang="en-US" sz="2200"/>
                  <a:t/>
                </a:r>
                <ns4:m>
                  <ns5:oMath>
                    <ns5:sSup>
                      <ns5:sSupPr>
                        <ns5:ctrlPr>
                          <a:rPr lang="en-GB" altLang="zh-MO" sz="2200" i="1" smtClean="0">
                            <a:latin typeface="Cambria Math" panose="02040503050406030204" pitchFamily="18" charset="0"/>
                          </a:rPr>
                        </ns5:ctrlPr>
                      </ns5:sSupPr>
                      <ns5:e>
                        <ns5:r>
                          <a:rPr lang="en-GB" altLang="zh-MO" sz="2200" i="1" smtClean="0">
                            <a:latin typeface="Cambria Math" panose="02040503050406030204" pitchFamily="18" charset="0"/>
                          </a:rPr>
                          <ns5:t>𝑑</ns5:t>
                        </ns5:r>
                      </ns5:e>
                      <ns5:sup>
                        <ns5:r>
                          <a:rPr lang="en-GB" altLang="zh-MO" sz="2200" i="1" smtClean="0">
                            <a:latin typeface="Cambria Math" panose="02040503050406030204" pitchFamily="18" charset="0"/>
                          </a:rPr>
                          <ns5:t>2</ns5:t>
                        </ns5:r>
                      </ns5:sup>
                    </ns5:sSup>
                  </ns5:oMath>
                </ns4:m>
                <a:endParaRPr lang="en-US" altLang="zh-MO" sz="2200" i="1" dirty="0">
                  <a:latin typeface="Cambria Math" panose="02040503050406030204" pitchFamily="18" charset="0"/>
                </a:endParaRPr>
              </a:p>
              <a:p>
                <a:pPr marL="0" indent="0">
                  <a:buNone/>
                </a:pPr>
                <ns4:m>
                  <ns5:oMathPara>
                    <ns5:oMathParaPr>
                      <ns5:jc ns5:val="centerGroup"/>
                    </ns5:oMathParaPr>
                    <ns5:oMath>
                      <ns5:sSub>
                        <ns5:sSubPr>
                          <ns5:ctrlPr>
                            <a:rPr lang="en-GB" altLang="zh-MO" sz="2200" i="1" smtClean="0">
                              <a:latin typeface="Cambria Math" panose="02040503050406030204" pitchFamily="18" charset="0"/>
                            </a:rPr>
                          </ns5:ctrlPr>
                        </ns5:sSubPr>
                        <ns5:e>
                          <ns5:r>
                            <a:rPr lang="en-GB" altLang="zh-MO" sz="2200" i="1" smtClean="0">
                              <a:latin typeface="Cambria Math" panose="02040503050406030204" pitchFamily="18" charset="0"/>
                            </a:rPr>
                            <ns5:t>𝑤</ns5:t>
                          </ns5:r>
                        </ns5:e>
                        <ns5:sub>
                          <ns5:r>
                            <a:rPr lang="en-GB" altLang="zh-MO" sz="2200" i="1" smtClean="0">
                              <a:latin typeface="Cambria Math" panose="02040503050406030204" pitchFamily="18" charset="0"/>
                            </a:rPr>
                            <ns5:t>𝑣</ns5:t>
                          </ns5:r>
                        </ns5:sub>
                      </ns5:sSub>
                      <ns5:r>
                        <a:rPr lang="en-GB" altLang="zh-MO" sz="2200" i="1">
                          <a:latin typeface="Cambria Math" panose="02040503050406030204" pitchFamily="18" charset="0"/>
                        </a:rPr>
                        <ns5:t>=</ns5:t>
                      </ns5:r>
                      <ns5:r>
                        <a:rPr lang="en-GB" altLang="zh-MO" sz="2200" i="1">
                          <a:latin typeface="Cambria Math" panose="02040503050406030204" pitchFamily="18" charset="0"/>
                        </a:rPr>
                        <ns5:t>𝜎</ns5:t>
                      </ns5:r>
                      <ns5:d>
                        <ns5:dPr>
                          <ns5:ctrlPr>
                            <a:rPr lang="en-GB" altLang="zh-MO" sz="2200" i="1">
                              <a:latin typeface="Cambria Math" panose="02040503050406030204" pitchFamily="18" charset="0"/>
                            </a:rPr>
                          </ns5:ctrlPr>
                        </ns5:dPr>
                        <ns5:e>
                          <ns5:sSub>
                            <ns5:sSubPr>
                              <ns5:ctrlPr>
                                <a:rPr lang="en-GB" altLang="zh-MO" sz="2200" i="1">
                                  <a:latin typeface="Cambria Math" panose="02040503050406030204" pitchFamily="18" charset="0"/>
                                </a:rPr>
                              </ns5:ctrlPr>
                            </ns5:sSubPr>
                            <ns5:e>
                              <ns5:r>
                                <a:rPr lang="en-GB" altLang="zh-MO" sz="2200" i="1">
                                  <a:latin typeface="Cambria Math" panose="02040503050406030204" pitchFamily="18" charset="0"/>
                                </a:rPr>
                                <ns5:t>𝑎</ns5:t>
                              </ns5:r>
                            </ns5:e>
                            <ns5:sub>
                              <ns5:r>
                                <a:rPr lang="en-GB" altLang="zh-MO" sz="2200" i="1">
                                  <a:latin typeface="Cambria Math" panose="02040503050406030204" pitchFamily="18" charset="0"/>
                                </a:rPr>
                                <ns5:t>1</ns5:t>
                              </ns5:r>
                            </ns5:sub>
                          </ns5:sSub>
                          <ns5:r>
                            <a:rPr lang="en-GB" altLang="zh-MO" sz="2200" i="1">
                              <a:latin typeface="Cambria Math" panose="02040503050406030204" pitchFamily="18" charset="0"/>
                            </a:rPr>
                            <ns5:t>𝑑</ns5:t>
                          </ns5:r>
                          <ns5:r>
                            <a:rPr lang="en-GB" altLang="zh-MO" sz="2200" i="1">
                              <a:latin typeface="Cambria Math" panose="02040503050406030204" pitchFamily="18" charset="0"/>
                            </a:rPr>
                            <ns5:t>+</ns5:t>
                          </ns5:r>
                          <ns5:sSub>
                            <ns5:sSubPr>
                              <ns5:ctrlPr>
                                <a:rPr lang="en-GB" altLang="zh-MO" sz="2200" i="1">
                                  <a:latin typeface="Cambria Math" panose="02040503050406030204" pitchFamily="18" charset="0"/>
                                </a:rPr>
                              </ns5:ctrlPr>
                            </ns5:sSubPr>
                            <ns5:e>
                              <ns5:r>
                                <a:rPr lang="en-GB" altLang="zh-MO" sz="2200" i="1">
                                  <a:latin typeface="Cambria Math" panose="02040503050406030204" pitchFamily="18" charset="0"/>
                                </a:rPr>
                                <ns5:t>𝑎</ns5:t>
                              </ns5:r>
                            </ns5:e>
                            <ns5:sub>
                              <ns5:r>
                                <a:rPr lang="en-GB" altLang="zh-MO" sz="2200" i="1">
                                  <a:latin typeface="Cambria Math" panose="02040503050406030204" pitchFamily="18" charset="0"/>
                                </a:rPr>
                                <ns5:t>2</ns5:t>
                              </ns5:r>
                            </ns5:sub>
                          </ns5:sSub>
                          <ns5:sSup>
                            <ns5:sSupPr>
                              <ns5:ctrlPr>
                                <a:rPr lang="en-GB" altLang="zh-MO" sz="2200" i="1">
                                  <a:latin typeface="Cambria Math" panose="02040503050406030204" pitchFamily="18" charset="0"/>
                                </a:rPr>
                              </ns5:ctrlPr>
                            </ns5:sSupPr>
                            <ns5:e>
                              <ns5:r>
                                <a:rPr lang="en-GB" altLang="zh-MO" sz="2200" i="1">
                                  <a:latin typeface="Cambria Math" panose="02040503050406030204" pitchFamily="18" charset="0"/>
                                </a:rPr>
                                <ns5:t>𝑑</ns5:t>
                              </ns5:r>
                            </ns5:e>
                            <ns5:sup>
                              <ns5:r>
                                <a:rPr lang="en-GB" altLang="zh-MO" sz="2200" i="1">
                                  <a:latin typeface="Cambria Math" panose="02040503050406030204" pitchFamily="18" charset="0"/>
                                </a:rPr>
                                <ns5:t>2</ns5:t>
                              </ns5:r>
                            </ns5:sup>
                          </ns5:sSup>
                          <ns5:r>
                            <a:rPr lang="en-GB" altLang="zh-MO" sz="2200" i="1">
                              <a:latin typeface="Cambria Math" panose="02040503050406030204" pitchFamily="18" charset="0"/>
                            </a:rPr>
                            <ns5:t>+</ns5:t>
                          </ns5:r>
                          <ns5:r>
                            <a:rPr lang="en-GB" altLang="zh-MO" sz="2200" i="1">
                              <a:latin typeface="Cambria Math" panose="02040503050406030204" pitchFamily="18" charset="0"/>
                            </a:rPr>
                            <ns5:t>𝑏</ns5:t>
                          </ns5:r>
                        </ns5:e>
                      </ns5:d>
                    </ns5:oMath>
                  </ns5:oMathPara>
                </ns4:m>
                <a:endParaRPr lang="en-US" altLang="zh-MO" sz="2200" i="1" dirty="0">
                  <a:latin typeface="Cambria Math" panose="02040503050406030204" pitchFamily="18" charset="0"/>
                </a:endParaRPr>
              </a:p>
              <a:p>
                <a:r>
                  <a:rPr lang="zh-MO" altLang="en-US" sz="2200" dirty="0"/>
                  <a:t/>
                </a:r>
                <a:r>
                  <a:rPr lang="ja-JP" altLang="en-US" sz="2200"/>
                  <a:t/>
                </a:r>
                <ns4:m>
                  <ns5:oMath>
                    <ns5:d>
                      <ns5:dPr>
                        <ns5:begChr ns5:val="|"/>
                        <ns5:endChr ns5:val="|"/>
                        <ns5:ctrlPr>
                          <a:rPr lang="en-US" altLang="ja-JP" sz="2200" i="1" smtClean="0">
                            <a:latin typeface="Cambria Math" panose="02040503050406030204" pitchFamily="18" charset="0"/>
                          </a:rPr>
                        </ns5:ctrlPr>
                      </ns5:dPr>
                      <ns5:e>
                        <ns5:r>
                          <a:rPr lang="en-GB" altLang="zh-MO" sz="2200" i="1">
                            <a:latin typeface="Cambria Math" panose="02040503050406030204" pitchFamily="18" charset="0"/>
                          </a:rPr>
                          <ns5:t>𝑑</ns5:t>
                        </ns5:r>
                      </ns5:e>
                    </ns5:d>
                  </ns5:oMath>
                </ns4:m>
                <a:endParaRPr lang="en-US" altLang="zh-MO" sz="2200" i="1" dirty="0">
                  <a:latin typeface="Cambria Math" panose="02040503050406030204" pitchFamily="18" charset="0"/>
                </a:endParaRPr>
              </a:p>
              <a:p>
                <a:pPr marL="0" indent="0">
                  <a:buNone/>
                </a:pPr>
                <ns4:m>
                  <ns5:oMathPara>
                    <ns5:oMathParaPr>
                      <ns5:jc ns5:val="centerGroup"/>
                    </ns5:oMathParaPr>
                    <ns5:oMath>
                      <ns5:sSub>
                        <ns5:sSubPr>
                          <ns5:ctrlPr>
                            <a:rPr lang="en-GB" altLang="zh-MO" sz="2200" i="1" smtClean="0">
                              <a:latin typeface="Cambria Math" panose="02040503050406030204" pitchFamily="18" charset="0"/>
                            </a:rPr>
                          </ns5:ctrlPr>
                        </ns5:sSubPr>
                        <ns5:e>
                          <ns5:r>
                            <a:rPr lang="en-GB" altLang="zh-MO" sz="2200" i="1" smtClean="0">
                              <a:latin typeface="Cambria Math" panose="02040503050406030204" pitchFamily="18" charset="0"/>
                            </a:rPr>
                            <ns5:t>𝑤</ns5:t>
                          </ns5:r>
                        </ns5:e>
                        <ns5:sub>
                          <ns5:r>
                            <a:rPr lang="en-GB" altLang="zh-MO" sz="2200" i="1" smtClean="0">
                              <a:latin typeface="Cambria Math" panose="02040503050406030204" pitchFamily="18" charset="0"/>
                            </a:rPr>
                            <ns5:t>𝑣</ns5:t>
                          </ns5:r>
                        </ns5:sub>
                      </ns5:sSub>
                      <ns5:r>
                        <a:rPr lang="en-GB" altLang="zh-MO" sz="2200" i="1">
                          <a:latin typeface="Cambria Math" panose="02040503050406030204" pitchFamily="18" charset="0"/>
                        </a:rPr>
                        <ns5:t>=</ns5:t>
                      </ns5:r>
                      <ns5:r>
                        <a:rPr lang="en-GB" altLang="zh-MO" sz="2200" i="1">
                          <a:latin typeface="Cambria Math" panose="02040503050406030204" pitchFamily="18" charset="0"/>
                        </a:rPr>
                        <ns5:t>𝜎</ns5:t>
                      </ns5:r>
                      <ns5:d>
                        <ns5:dPr>
                          <ns5:ctrlPr>
                            <a:rPr lang="en-GB" altLang="zh-MO" sz="2200" i="1">
                              <a:latin typeface="Cambria Math" panose="02040503050406030204" pitchFamily="18" charset="0"/>
                            </a:rPr>
                          </ns5:ctrlPr>
                        </ns5:dPr>
                        <ns5:e>
                          <ns5:sSub>
                            <ns5:sSubPr>
                              <ns5:ctrlPr>
                                <a:rPr lang="en-GB" altLang="zh-MO" sz="2200" i="1">
                                  <a:latin typeface="Cambria Math" panose="02040503050406030204" pitchFamily="18" charset="0"/>
                                </a:rPr>
                              </ns5:ctrlPr>
                            </ns5:sSubPr>
                            <ns5:e>
                              <ns5:r>
                                <a:rPr lang="en-GB" altLang="zh-MO" sz="2200" i="1">
                                  <a:latin typeface="Cambria Math" panose="02040503050406030204" pitchFamily="18" charset="0"/>
                                </a:rPr>
                                <ns5:t>𝑎</ns5:t>
                              </ns5:r>
                            </ns5:e>
                            <ns5:sub>
                              <ns5:r>
                                <a:rPr lang="en-GB" altLang="zh-MO" sz="2200" i="1">
                                  <a:latin typeface="Cambria Math" panose="02040503050406030204" pitchFamily="18" charset="0"/>
                                </a:rPr>
                                <ns5:t>1</ns5:t>
                              </ns5:r>
                            </ns5:sub>
                          </ns5:sSub>
                          <ns5:r>
                            <a:rPr lang="en-GB" altLang="zh-MO" sz="2200" i="1">
                              <a:latin typeface="Cambria Math" panose="02040503050406030204" pitchFamily="18" charset="0"/>
                            </a:rPr>
                            <ns5:t>𝑑</ns5:t>
                          </ns5:r>
                          <ns5:r>
                            <a:rPr lang="en-GB" altLang="zh-MO" sz="2200" i="1">
                              <a:latin typeface="Cambria Math" panose="02040503050406030204" pitchFamily="18" charset="0"/>
                            </a:rPr>
                            <ns5:t>+</ns5:t>
                          </ns5:r>
                          <ns5:sSub>
                            <ns5:sSubPr>
                              <ns5:ctrlPr>
                                <a:rPr lang="en-GB" altLang="zh-MO" sz="2200" i="1">
                                  <a:latin typeface="Cambria Math" panose="02040503050406030204" pitchFamily="18" charset="0"/>
                                </a:rPr>
                              </ns5:ctrlPr>
                            </ns5:sSubPr>
                            <ns5:e>
                              <ns5:r>
                                <a:rPr lang="en-GB" altLang="zh-MO" sz="2200" i="1">
                                  <a:latin typeface="Cambria Math" panose="02040503050406030204" pitchFamily="18" charset="0"/>
                                </a:rPr>
                                <ns5:t>𝑎</ns5:t>
                              </ns5:r>
                            </ns5:e>
                            <ns5:sub>
                              <ns5:r>
                                <a:rPr lang="en-GB" altLang="zh-MO" sz="2200" i="1">
                                  <a:latin typeface="Cambria Math" panose="02040503050406030204" pitchFamily="18" charset="0"/>
                                </a:rPr>
                                <ns5:t>2</ns5:t>
                              </ns5:r>
                            </ns5:sub>
                          </ns5:sSub>
                          <ns5:d>
                            <ns5:dPr>
                              <ns5:begChr ns5:val="|"/>
                              <ns5:endChr ns5:val="|"/>
                              <ns5:ctrlPr>
                                <a:rPr lang="en-GB" altLang="zh-MO" sz="2200" i="1">
                                  <a:latin typeface="Cambria Math" panose="02040503050406030204" pitchFamily="18" charset="0"/>
                                </a:rPr>
                              </ns5:ctrlPr>
                            </ns5:dPr>
                            <ns5:e>
                              <ns5:r>
                                <a:rPr lang="en-GB" altLang="zh-MO" sz="2200" i="1">
                                  <a:latin typeface="Cambria Math" panose="02040503050406030204" pitchFamily="18" charset="0"/>
                                </a:rPr>
                                <ns5:t>𝑑</ns5:t>
                              </ns5:r>
                            </ns5:e>
                          </ns5:d>
                          <ns5:r>
                            <a:rPr lang="en-GB" altLang="zh-MO" sz="2200" i="1">
                              <a:latin typeface="Cambria Math" panose="02040503050406030204" pitchFamily="18" charset="0"/>
                            </a:rPr>
                            <ns5:t>+</ns5:t>
                          </ns5:r>
                          <ns5:r>
                            <a:rPr lang="en-GB" altLang="zh-MO" sz="2200" i="1">
                              <a:latin typeface="Cambria Math" panose="02040503050406030204" pitchFamily="18" charset="0"/>
                            </a:rPr>
                            <ns5:t>𝑏</ns5:t>
                          </ns5:r>
                        </ns5:e>
                      </ns5:d>
                      <ns5:r>
                        <a:rPr lang="en-GB" altLang="zh-MO" sz="2200" i="1">
                          <a:latin typeface="Cambria Math" panose="02040503050406030204" pitchFamily="18" charset="0"/>
                        </a:rPr>
                        <ns5:t>​</ns5:t>
                      </ns5:r>
                    </ns5:oMath>
                  </ns5:oMathPara>
                </ns4:m>
                <a:endParaRPr lang="en-US" altLang="zh-MO" sz="2200" i="1" dirty="0">
                  <a:latin typeface="Cambria Math" panose="02040503050406030204" pitchFamily="18" charset="0"/>
                </a:endParaRPr>
              </a:p>
              <a:p>
                <a:pPr marL="0" indent="0">
                  <a:buNone/>
                </a:pPr>
                <a:endParaRPr lang="ja-JP" altLang="en-US" sz="2200"/>
              </a:p>
            </p:txBody>
          </p:sp>
        </ns3:Choice>
        <ns3:Fallback>
          <p:sp>
            <p:nvSpPr>
              <p:cNvPr id="3" name="內容版面配置區 2">
                <a:extLst>
                  <a:ext uri="{FF2B5EF4-FFF2-40B4-BE49-F238E27FC236}">
                    <ns2:creationId id="{1F11982E-F81C-6826-A7F7-18A25F683F2F}"/>
                  </a:ext>
                </a:extLst>
              </p:cNvPr>
              <p:cNvSpPr>
                <a:spLocks noGrp="1" noRot="1" noChangeAspect="1" noMove="1" noResize="1" noEditPoints="1" noAdjustHandles="1" noChangeArrowheads="1" noChangeShapeType="1" noTextEdit="1"/>
              </p:cNvSpPr>
              <p:nvPr>
                <p:ph idx="1"/>
              </p:nvPr>
            </p:nvSpPr>
            <p:spPr>
              <a:blipFill>
                <a:blip r:embed="rId2"/>
                <a:stretch>
                  <a:fillRect l="-724" t="-1777"/>
                </a:stretch>
              </a:blipFill>
            </p:spPr>
            <p:txBody>
              <a:bodyPr/>
              <a:lstStyle/>
              <a:p>
                <a:r>
                  <a:rPr lang="zh-MO" altLang="en-US">
                    <a:noFill/>
                  </a:rPr>
                  <a:t/>
                </a:r>
              </a:p>
            </p:txBody>
          </p:sp>
        </ns3:Fallback>
      </ns3:AlternateContent>
      <p:sp>
        <p:nvSpPr>
          <p:cNvPr id="6" name="投影片編號版面配置區 5">
            <a:extLst>
              <a:ext uri="{FF2B5EF4-FFF2-40B4-BE49-F238E27FC236}">
                <ns2:creationId id="{C47A06EC-6BDE-F0B9-4816-77F74857B968}"/>
              </a:ext>
            </a:extLst>
          </p:cNvPr>
          <p:cNvSpPr>
            <a:spLocks noGrp="1"/>
          </p:cNvSpPr>
          <p:nvPr>
            <p:ph type="sldNum" sz="quarter" idx="12"/>
          </p:nvPr>
        </p:nvSpPr>
        <p:spPr/>
        <p:txBody>
          <a:bodyPr/>
          <a:lstStyle/>
          <a:p>
            <a:fld id="{3509F7B2-E600-4F87-A2BF-206386C1A1D6}" type="slidenum">
              <a:rPr kumimoji="1" lang="ja-JP" altLang="en-US" smtClean="0"/>
              <a:t>17</a:t>
            </a:fld>
            <a:endParaRPr kumimoji="1" lang="ja-JP" altLang="en-US"/>
          </a:p>
        </p:txBody>
      </p:sp>
      <p:pic>
        <p:nvPicPr>
          <p:cNvPr id="1026" name="Picture 2" descr="圖像預覽">
            <a:extLst>
              <a:ext uri="{FF2B5EF4-FFF2-40B4-BE49-F238E27FC236}">
                <ns2:creationId id="{999D06BB-099F-CF3B-3027-6A5339F7AA3B}"/>
              </a:ext>
            </a:extLst>
          </p:cNvPr>
          <p:cNvPicPr>
            <a:picLocks noChangeAspect="1" noChangeArrowheads="1"/>
          </p:cNvPicPr>
          <p:nvPr/>
        </p:nvPicPr>
        <p:blipFill rotWithShape="1">
          <a:blip r:embed="rId3">
            <a:extLst>
              <a:ext uri="{28A0092B-C50C-407E-A947-70E740481C1C}">
                <ns4:useLocalDpi val="0"/>
              </a:ext>
            </a:extLst>
          </a:blip>
          <a:srcRect b="15279"/>
          <a:stretch>
            <a:fillRect/>
          </a:stretch>
        </p:blipFill>
        <p:spPr bwMode="auto">
          <a:xfrm>
            <a:off x="2398243" y="4825135"/>
            <a:ext cx="7395514" cy="1482359"/>
          </a:xfrm>
          <a:prstGeom prst="rect">
            <a:avLst/>
          </a:prstGeom>
          <a:noFill/>
          <a:extLst>
            <a:ext uri="{909E8E84-426E-40DD-AFC4-6F175D3DCCD1}">
              <ns4:hiddenFill>
                <a:solidFill>
                  <a:srgbClr val="FFFFFF"/>
                </a:solidFill>
              </ns4:hiddenFill>
            </a:ext>
          </a:extLst>
        </p:spPr>
      </p:pic>
    </p:spTree>
    <p:extLst>
      <p:ext uri="{BB962C8B-B14F-4D97-AF65-F5344CB8AC3E}">
        <ns7:creationId val="3430261036"/>
      </p:ext>
    </p:extLst>
  </p:cSld>
  <p:clrMapOvr>
    <a:masterClrMapping/>
  </p:clrMapOvr>
</p:sld>
</file>

<file path=ppt/slides/slide18.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a:extLst>
            <a:ext uri="{FF2B5EF4-FFF2-40B4-BE49-F238E27FC236}">
              <ns2:creationId id="{A5F83383-1F46-5429-E51D-4401AAAA8912}"/>
            </a:ext>
          </a:extLst>
        </p:cNvPr>
        <p:cNvGrpSpPr/>
        <p:nvPr/>
      </p:nvGrpSpPr>
      <p:grpSpPr>
        <a:xfrm>
          <a:off x="0" y="0"/>
          <a:ext cx="0" cy="0"/>
          <a:chOff x="0" y="0"/>
          <a:chExt cx="0" cy="0"/>
        </a:xfrm>
      </p:grpSpPr>
      <p:sp>
        <p:nvSpPr>
          <p:cNvPr id="2" name="標題 1">
            <a:extLst>
              <a:ext uri="{FF2B5EF4-FFF2-40B4-BE49-F238E27FC236}">
                <ns2:creationId id="{FCC6E576-5274-B5F3-ABE0-0BAF9D7FAB94}"/>
              </a:ext>
            </a:extLst>
          </p:cNvPr>
          <p:cNvSpPr>
            <a:spLocks noGrp="1"/>
          </p:cNvSpPr>
          <p:nvPr>
            <p:ph type="title"/>
          </p:nvPr>
        </p:nvSpPr>
        <p:spPr/>
        <p:txBody>
          <a:bodyPr>
            <a:normAutofit/>
          </a:bodyPr>
          <a:lstStyle/>
          <a:p>
            <a:r>
              <a:rPr lang="en-GB" altLang="zh-MO" sz="3600" dirty="0"/>
              <a:t>simple average：固定平均の参照点</a:t>
            </a:r>
            <a:r>
              <a:rPr lang="zh-MO" altLang="en-GB" sz="3600" dirty="0"/>
              <a:t/>
            </a:r>
            <a:r>
              <a:rPr lang="zh-MO" altLang="en-US" sz="3600" dirty="0"/>
              <a:t/>
            </a:r>
            <a:r>
              <a:rPr lang="ja-JP" altLang="en-US" sz="3600"/>
              <a:t/>
            </a:r>
            <a:r>
              <a:rPr lang="zh-MO" altLang="en-US" sz="3600" dirty="0"/>
              <a:t/>
            </a:r>
            <a:r>
              <a:rPr lang="ja-JP" altLang="en-US" sz="3600"/>
              <a:t/>
            </a:r>
            <a:r>
              <a:rPr lang="zh-MO" altLang="en-US" sz="3600" dirty="0"/>
              <a:t/>
            </a:r>
            <a:r>
              <a:rPr lang="ja-JP" altLang="en-US" sz="3600"/>
              <a:t/>
            </a:r>
            <a:endParaRPr lang="en-US" altLang="zh-MO" sz="3600" dirty="0"/>
          </a:p>
        </p:txBody>
      </p:sp>
      <ns3:AlternateContent>
        <ns3:Choice Requires="a14">
          <p:sp>
            <p:nvSpPr>
              <p:cNvPr id="3" name="內容版面配置區 2">
                <a:extLst>
                  <a:ext uri="{FF2B5EF4-FFF2-40B4-BE49-F238E27FC236}">
                    <ns2:creationId id="{847FABD3-09E0-0DB1-B2BC-8C8A99914AA9}"/>
                  </a:ext>
                </a:extLst>
              </p:cNvPr>
              <p:cNvSpPr>
                <a:spLocks noGrp="1"/>
              </p:cNvSpPr>
              <p:nvPr>
                <p:ph idx="1"/>
              </p:nvPr>
            </p:nvSpPr>
            <p:spPr/>
            <p:txBody>
              <a:bodyPr>
                <a:normAutofit fontScale="92500" lnSpcReduction="20000"/>
              </a:bodyPr>
              <a:lstStyle/>
              <a:p>
                <a:pPr marL="0" indent="0">
                  <a:buNone/>
                </a:pPr>
                <a:r>
                  <a:rPr lang="zh-MO" altLang="en-US" dirty="0"/>
                  <a:t>式：E = (F + V) / 2。
役割：重みを学習しない固定平均として、表の低次元性を確認する参照点。
注意：単なる比較対象ではなく、融合表が平均構造にどれだけ近いかを見るための重要な基準である。</a:t>
                </a:r>
                <a:r>
                  <a:rPr lang="ja-JP" altLang="en-US"/>
                  <a:t/>
                </a:r>
                <ns4:m>
                  <ns5:oMath>
                    <ns5:r>
                      <a:rPr lang="en-GB" altLang="zh-MO" i="1">
                        <a:latin typeface="Cambria Math" panose="02040503050406030204" pitchFamily="18" charset="0"/>
                      </a:rPr>
                      <ns5:t>𝑑</ns5:t>
                    </ns5:r>
                  </ns5:oMath>
                </ns4:m>
                <a:endParaRPr lang="en-US" altLang="zh-MO" i="1" dirty="0">
                  <a:latin typeface="Cambria Math" panose="02040503050406030204" pitchFamily="18" charset="0"/>
                </a:endParaRPr>
              </a:p>
              <a:p>
                <a:pPr marL="0" indent="0">
                  <a:buNone/>
                </a:pPr>
                <ns4:m>
                  <ns5:oMathPara>
                    <ns5:oMathParaPr>
                      <ns5:jc ns5:val="centerGroup"/>
                    </ns5:oMathParaPr>
                    <ns5:oMath>
                      <ns5:sSub>
                        <ns5:sSubPr>
                          <ns5:ctrlPr>
                            <a:rPr lang="en-GB" altLang="zh-MO" i="1" smtClean="0">
                              <a:latin typeface="Cambria Math" panose="02040503050406030204" pitchFamily="18" charset="0"/>
                            </a:rPr>
                          </ns5:ctrlPr>
                        </ns5:sSubPr>
                        <ns5:e>
                          <ns5:r>
                            <a:rPr lang="en-GB" altLang="zh-MO" i="1">
                              <a:latin typeface="Cambria Math" panose="02040503050406030204" pitchFamily="18" charset="0"/>
                            </a:rPr>
                            <ns5:t>𝑤</ns5:t>
                          </ns5:r>
                        </ns5:e>
                        <ns5:sub>
                          <ns5:r>
                            <a:rPr lang="en-GB" altLang="zh-MO" i="1">
                              <a:latin typeface="Cambria Math" panose="02040503050406030204" pitchFamily="18" charset="0"/>
                            </a:rPr>
                            <ns5:t>𝑣</ns5:t>
                          </ns5:r>
                        </ns5:sub>
                      </ns5:sSub>
                      <ns5:r>
                        <a:rPr lang="en-GB" altLang="zh-MO" i="1">
                          <a:latin typeface="Cambria Math" panose="02040503050406030204" pitchFamily="18" charset="0"/>
                        </a:rPr>
                        <ns5:t>=</ns5:t>
                      </ns5:r>
                      <ns5:r>
                        <a:rPr lang="en-GB" altLang="zh-MO" i="1">
                          <a:latin typeface="Cambria Math" panose="02040503050406030204" pitchFamily="18" charset="0"/>
                        </a:rPr>
                        <ns5:t>𝜎</ns5:t>
                      </ns5:r>
                      <ns5:d>
                        <ns5:dPr>
                          <ns5:ctrlPr>
                            <a:rPr lang="en-GB" altLang="zh-MO" i="1">
                              <a:latin typeface="Cambria Math" panose="02040503050406030204" pitchFamily="18" charset="0"/>
                            </a:rPr>
                          </ns5:ctrlPr>
                        </ns5:dPr>
                        <ns5:e>
                          <ns5:r>
                            <a:rPr lang="en-GB" altLang="zh-MO" i="1">
                              <a:latin typeface="Cambria Math" panose="02040503050406030204" pitchFamily="18" charset="0"/>
                            </a:rPr>
                            <ns5:t>𝑎</ns5:t>
                          </ns5:r>
                          <ns5:r>
                            <a:rPr lang="en-GB" altLang="zh-MO" i="1">
                              <a:latin typeface="Cambria Math" panose="02040503050406030204" pitchFamily="18" charset="0"/>
                            </a:rPr>
                            <ns5:t>⋅</ns5:t>
                          </ns5:r>
                          <ns5:r>
                            <a:rPr lang="en-GB" altLang="zh-MO" i="1" smtClean="0">
                              <a:latin typeface="Cambria Math" panose="02040503050406030204" pitchFamily="18" charset="0"/>
                            </a:rPr>
                            <ns5:t>𝑑</ns5:t>
                          </ns5:r>
                          <ns5:r>
                            <a:rPr lang="en-GB" altLang="zh-MO" i="1">
                              <a:latin typeface="Cambria Math" panose="02040503050406030204" pitchFamily="18" charset="0"/>
                            </a:rPr>
                            <ns5:t>+</ns5:t>
                          </ns5:r>
                          <ns5:r>
                            <a:rPr lang="en-GB" altLang="zh-MO" i="1">
                              <a:latin typeface="Cambria Math" panose="02040503050406030204" pitchFamily="18" charset="0"/>
                            </a:rPr>
                            <ns5:t>𝑏</ns5:t>
                          </ns5:r>
                        </ns5:e>
                      </ns5:d>
                      <ns5:r>
                        <a:rPr lang="en-GB" altLang="zh-MO" i="1">
                          <a:latin typeface="Cambria Math" panose="02040503050406030204" pitchFamily="18" charset="0"/>
                        </a:rPr>
                        <ns5:t>​</ns5:t>
                      </ns5:r>
                      <ns5:r>
                        <a:rPr lang="en-GB" altLang="zh-MO">
                          <a:latin typeface="Cambria Math" panose="02040503050406030204" pitchFamily="18" charset="0"/>
                        </a:rPr>
                        <ns5:t>​</ns5:t>
                      </ns5:r>
                    </ns5:oMath>
                  </ns5:oMathPara>
                </ns4:m>
                <a:endParaRPr lang="en-US" altLang="zh-MO" i="1" dirty="0">
                  <a:latin typeface="Cambria Math" panose="02040503050406030204" pitchFamily="18" charset="0"/>
                </a:endParaRPr>
              </a:p>
              <a:p>
                <a:pPr marL="0" indent="0">
                  <a:buNone/>
                </a:pPr>
                <a:endParaRPr lang="ja-JP" altLang="en-US"/>
              </a:p>
              <a:p>
                <a:pPr marL="0" indent="0">
                  <a:buNone/>
                </a:pPr>
                <a:r>
                  <a:rPr lang="ja-JP" altLang="en-US"/>
                  <a:t/>
                </a:r>
              </a:p>
              <a:p>
                <a:pPr marL="0" indent="0">
                  <a:buNone/>
                </a:pPr>
                <a:r>
                  <a:rPr lang="ja-JP" altLang="en-US"/>
                  <a:t/>
                </a:r>
              </a:p>
              <a:p>
                <a:pPr marL="0" indent="0">
                  <a:buNone/>
                </a:pPr>
                <a:endParaRPr lang="ja-JP" altLang="en-US"/>
              </a:p>
              <a:p>
                <a:pPr marL="0" indent="0">
                  <a:buNone/>
                </a:pPr>
                <a:r>
                  <a:rPr lang="ja-JP" altLang="en-US"/>
                  <a:t/>
                </a:r>
              </a:p>
              <a:p>
                <a:pPr marL="0" indent="0">
                  <a:buNone/>
                </a:pPr>
                <a:r>
                  <a:rPr lang="en-US" altLang="ja-JP" dirty="0"/>
                  <a:t/>
                </a:r>
                <a:r>
                  <a:rPr lang="ja-JP" altLang="en-US"/>
                  <a:t/>
                </a:r>
              </a:p>
              <a:p>
                <a:pPr marL="0" indent="0">
                  <a:buNone/>
                </a:pPr>
                <a:endParaRPr lang="ja-JP" altLang="en-US"/>
              </a:p>
              <a:p>
                <a:pPr marL="0" indent="0">
                  <a:buNone/>
                </a:pPr>
                <a:r>
                  <a:rPr lang="ja-JP" altLang="en-US"/>
                  <a:t/>
                </a:r>
              </a:p>
              <a:p>
                <a:pPr marL="0" indent="0">
                  <a:buNone/>
                </a:pPr>
                <a:r>
                  <a:rPr lang="ja-JP" altLang="en-US"/>
                  <a:t/>
                </a:r>
                <a:r>
                  <a:rPr lang="en-GB" altLang="ja-JP" dirty="0"/>
                  <a:t/>
                </a:r>
                <a:r>
                  <a:rPr lang="ja-JP" altLang="en-US"/>
                  <a:t/>
                </a:r>
              </a:p>
              <a:p>
                <a:pPr marL="0" indent="0">
                  <a:buNone/>
                </a:pPr>
                <a:r>
                  <a:rPr lang="ja-JP" altLang="en-US"/>
                  <a:t/>
                </a:r>
                <a:r>
                  <a:rPr lang="en-US" altLang="ja-JP" dirty="0"/>
                  <a:t/>
                </a:r>
                <a:r>
                  <a:rPr lang="en-GB" altLang="ja-JP" dirty="0"/>
                  <a:t/>
                </a:r>
                <a:r>
                  <a:rPr lang="ja-JP" altLang="en-US"/>
                  <a:t/>
                </a:r>
              </a:p>
            </p:txBody>
          </p:sp>
        </ns3:Choice>
        <ns3:Fallback>
          <p:sp>
            <p:nvSpPr>
              <p:cNvPr id="3" name="內容版面配置區 2">
                <a:extLst>
                  <a:ext uri="{FF2B5EF4-FFF2-40B4-BE49-F238E27FC236}">
                    <ns2:creationId id="{847FABD3-09E0-0DB1-B2BC-8C8A99914AA9}"/>
                  </a:ext>
                </a:extLst>
              </p:cNvPr>
              <p:cNvSpPr>
                <a:spLocks noGrp="1" noRot="1" noChangeAspect="1" noMove="1" noResize="1" noEditPoints="1" noAdjustHandles="1" noChangeArrowheads="1" noChangeShapeType="1" noTextEdit="1"/>
              </p:cNvSpPr>
              <p:nvPr>
                <p:ph idx="1"/>
              </p:nvPr>
            </p:nvSpPr>
            <p:spPr>
              <a:blipFill>
                <a:blip r:embed="rId2"/>
                <a:stretch>
                  <a:fillRect l="-1086" t="-4061"/>
                </a:stretch>
              </a:blipFill>
            </p:spPr>
            <p:txBody>
              <a:bodyPr/>
              <a:lstStyle/>
              <a:p>
                <a:r>
                  <a:rPr lang="zh-MO" altLang="en-US">
                    <a:noFill/>
                  </a:rPr>
                  <a:t/>
                </a:r>
              </a:p>
            </p:txBody>
          </p:sp>
        </ns3:Fallback>
      </ns3:AlternateContent>
      <p:sp>
        <p:nvSpPr>
          <p:cNvPr id="6" name="投影片編號版面配置區 5">
            <a:extLst>
              <a:ext uri="{FF2B5EF4-FFF2-40B4-BE49-F238E27FC236}">
                <ns2:creationId id="{360C126C-CD82-C61E-1716-87DF03530430}"/>
              </a:ext>
            </a:extLst>
          </p:cNvPr>
          <p:cNvSpPr>
            <a:spLocks noGrp="1"/>
          </p:cNvSpPr>
          <p:nvPr>
            <p:ph type="sldNum" sz="quarter" idx="12"/>
          </p:nvPr>
        </p:nvSpPr>
        <p:spPr/>
        <p:txBody>
          <a:bodyPr/>
          <a:lstStyle/>
          <a:p>
            <a:fld id="{3509F7B2-E600-4F87-A2BF-206386C1A1D6}" type="slidenum">
              <a:rPr kumimoji="1" lang="ja-JP" altLang="en-US" smtClean="0"/>
              <a:t>18</a:t>
            </a:fld>
            <a:endParaRPr kumimoji="1" lang="ja-JP" altLang="en-US"/>
          </a:p>
        </p:txBody>
      </p:sp>
    </p:spTree>
    <p:extLst>
      <p:ext uri="{BB962C8B-B14F-4D97-AF65-F5344CB8AC3E}">
        <ns7:creationId val="290233629"/>
      </p:ext>
    </p:extLst>
  </p:cSld>
  <p:clrMapOvr>
    <a:masterClrMapping/>
  </p:clrMapOvr>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ja-JP" altLang="en-US"/>
              <a:t>linear：低次元の単調構造を確認する</a:t>
            </a:r>
          </a:p>
        </p:txBody>
      </p:sp>
      <p:sp>
        <p:nvSpPr>
          <p:cNvPr id="3" name="內容版面配置區 2">
            <a:extLst>
              <a:ext uri="{FF2B5EF4-FFF2-40B4-BE49-F238E27FC236}">
                <ns2:creationId id="{258865D4-D6B5-1DDE-79E9-0A78BCBC4D2F}"/>
              </a:ext>
            </a:extLst>
          </p:cNvPr>
          <p:cNvSpPr>
            <a:spLocks noGrp="1"/>
          </p:cNvSpPr>
          <p:nvPr>
            <p:ph idx="1"/>
          </p:nvPr>
        </p:nvSpPr>
        <p:spPr>
          <a:xfrm>
            <a:off x="838200" y="4503791"/>
            <a:ext cx="10515600" cy="350000"/>
          </a:xfrm>
        </p:spPr>
        <p:txBody>
          <a:bodyPr>
            <a:noAutofit/>
          </a:bodyPr>
          <a:lstStyle/>
          <a:p>
            <a:pPr marL="0" indent="0">
              <a:buNone/>
            </a:pPr>
            <a:r>
              <a:rPr lang="ja-JP" altLang="en-US" sz="2000"/>
              <a:t>式：w = σ(a・d + b)。
役割：差分 d に対して単調に重みが変わるかを確認する。
意味：linear で Holdout35 を再構成できるなら、7×7表には低次元の連続構造があると解釈できる。</a:t>
            </a:r>
          </a:p>
          <a:p>
            <a:pPr marL="0" indent="0">
              <a:buNone/>
            </a:pPr>
            <a:r>
              <a:rPr lang="ja-JP" altLang="en-US" sz="2000"/>
              <a:t/>
            </a:r>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19</a:t>
            </a:fld>
            <a:endParaRPr kumimoji="1" lang="ja-JP" altLang="en-US"/>
          </a:p>
        </p:txBody>
      </p:sp>
      <p:pic>
        <p:nvPicPr>
          <p:cNvPr id="7" name="圖片 6">
            <a:extLst>
              <a:ext uri="{FF2B5EF4-FFF2-40B4-BE49-F238E27FC236}">
                <ns2:creationId id="{142AEC41-EEFA-1A57-21C1-8281D368E781}"/>
              </a:ext>
            </a:extLst>
          </p:cNvPr>
          <p:cNvPicPr>
            <a:picLocks noChangeAspect="1"/>
          </p:cNvPicPr>
          <p:nvPr/>
        </p:nvPicPr>
        <p:blipFill>
          <a:blip r:embed="rId2"/>
          <a:stretch>
            <a:fillRect/>
          </a:stretch>
        </p:blipFill>
        <p:spPr>
          <a:xfrm>
            <a:off x="838200" y="1569307"/>
            <a:ext cx="10515600" cy="2545493"/>
          </a:xfrm>
          <a:prstGeom prst="rect">
            <a:avLst/>
          </a:prstGeom>
        </p:spPr>
      </p:pic>
    </p:spTree>
    <p:extLst>
      <p:ext uri="{BB962C8B-B14F-4D97-AF65-F5344CB8AC3E}">
        <ns4:creationId val="3317678122"/>
      </p:ext>
    </p:extLst>
  </p:cSld>
  <p:clrMapOvr>
    <a:masterClrMapping/>
  </p:clrMapOvr>
</p:sld>
</file>

<file path=ppt/slides/slide20.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a:extLst>
            <a:ext uri="{FF2B5EF4-FFF2-40B4-BE49-F238E27FC236}">
              <ns2:creationId id="{8D21D856-0E7B-AB6A-BCEF-B5BDEAD27696}"/>
            </a:ext>
          </a:extLst>
        </p:cNvPr>
        <p:cNvGrpSpPr/>
        <p:nvPr/>
      </p:nvGrpSpPr>
      <p:grpSpPr>
        <a:xfrm>
          <a:off x="0" y="0"/>
          <a:ext cx="0" cy="0"/>
          <a:chOff x="0" y="0"/>
          <a:chExt cx="0" cy="0"/>
        </a:xfrm>
      </p:grpSpPr>
      <p:sp>
        <p:nvSpPr>
          <p:cNvPr id="2" name="標題 1">
            <a:extLst>
              <a:ext uri="{FF2B5EF4-FFF2-40B4-BE49-F238E27FC236}">
                <ns2:creationId id="{E783D34B-215D-0C39-1578-A9CBA8C01F36}"/>
              </a:ext>
            </a:extLst>
          </p:cNvPr>
          <p:cNvSpPr>
            <a:spLocks noGrp="1"/>
          </p:cNvSpPr>
          <p:nvPr>
            <p:ph type="title"/>
          </p:nvPr>
        </p:nvSpPr>
        <p:spPr/>
        <p:txBody>
          <a:bodyPr>
            <a:normAutofit/>
          </a:bodyPr>
          <a:lstStyle/>
          <a:p>
            <a:r>
              <a:rPr lang="en-GB" altLang="zh-MO" sz="3600" dirty="0"/>
              <a:t>quadratic：曲率・反転仮説を検討する</a:t>
            </a:r>
            <a:r>
              <a:rPr lang="zh-MO" altLang="en-GB" sz="3600" dirty="0"/>
              <a:t/>
            </a:r>
            <a:r>
              <a:rPr lang="zh-MO" altLang="en-US" sz="3600" dirty="0"/>
              <a:t/>
            </a:r>
            <a:r>
              <a:rPr lang="ja-JP" altLang="en-US" sz="3600"/>
              <a:t/>
            </a:r>
            <a:r>
              <a:rPr lang="zh-MO" altLang="en-US" sz="3600" dirty="0"/>
              <a:t/>
            </a:r>
            <a:r>
              <a:rPr lang="ja-JP" altLang="en-US" sz="3600"/>
              <a:t/>
            </a:r>
            <a:r>
              <a:rPr lang="zh-MO" altLang="en-US" sz="3600" dirty="0"/>
              <a:t/>
            </a:r>
            <a:r>
              <a:rPr lang="ja-JP" altLang="en-US" sz="3600"/>
              <a:t/>
            </a:r>
            <a:endParaRPr lang="en-US" altLang="zh-MO" sz="3600" dirty="0"/>
          </a:p>
        </p:txBody>
      </p:sp>
      <ns3:AlternateContent>
        <ns3:Choice Requires="a14">
          <p:sp>
            <p:nvSpPr>
              <p:cNvPr id="3" name="內容版面配置區 2">
                <a:extLst>
                  <a:ext uri="{FF2B5EF4-FFF2-40B4-BE49-F238E27FC236}">
                    <ns2:creationId id="{BAEA37D7-D654-6583-5F5E-82A0D10CDE76}"/>
                  </a:ext>
                </a:extLst>
              </p:cNvPr>
              <p:cNvSpPr>
                <a:spLocks noGrp="1"/>
              </p:cNvSpPr>
              <p:nvPr>
                <p:ph idx="1"/>
              </p:nvPr>
            </p:nvSpPr>
            <p:spPr/>
            <p:txBody>
              <a:bodyPr>
                <a:normAutofit fontScale="92500" lnSpcReduction="10000"/>
              </a:bodyPr>
              <a:lstStyle/>
              <a:p>
                <a:pPr marL="0" indent="0">
                  <a:buNone/>
                </a:pPr>
                <a:r>
                  <a:rPr lang="zh-MO" altLang="en-US" dirty="0"/>
                  <a:t>式：w = σ(a・d + c・d² + b)。
役割：重み曲線の曲率や、統合戦略の反転可能性を検討する。
限界：Table14 のような少数教師では曲率 c が不安定になりやすく、主線ではなく補助的検討とする。</a:t>
                </a:r>
                <a:r>
                  <a:rPr lang="ja-JP" altLang="en-US"/>
                  <a:t/>
                </a:r>
                <ns4:m>
                  <ns5:oMath>
                    <ns5:sSup>
                      <ns5:sSupPr>
                        <ns5:ctrlPr>
                          <a:rPr lang="en-GB" altLang="zh-MO" i="1" smtClean="0">
                            <a:latin typeface="Cambria Math" panose="02040503050406030204" pitchFamily="18" charset="0"/>
                          </a:rPr>
                        </ns5:ctrlPr>
                      </ns5:sSupPr>
                      <ns5:e>
                        <ns5:r>
                          <a:rPr lang="en-GB" altLang="zh-MO" i="1" smtClean="0">
                            <a:latin typeface="Cambria Math" panose="02040503050406030204" pitchFamily="18" charset="0"/>
                          </a:rPr>
                          <ns5:t>𝑑</ns5:t>
                        </ns5:r>
                      </ns5:e>
                      <ns5:sup>
                        <ns5:r>
                          <a:rPr lang="en-GB" altLang="zh-MO" i="1" smtClean="0">
                            <a:latin typeface="Cambria Math" panose="02040503050406030204" pitchFamily="18" charset="0"/>
                          </a:rPr>
                          <ns5:t>2</ns5:t>
                        </ns5:r>
                      </ns5:sup>
                    </ns5:sSup>
                  </ns5:oMath>
                </ns4:m>
                <a:endParaRPr lang="en-US" altLang="zh-MO" i="1" dirty="0">
                  <a:latin typeface="Cambria Math" panose="02040503050406030204" pitchFamily="18" charset="0"/>
                </a:endParaRPr>
              </a:p>
              <a:p>
                <a:pPr marL="0" indent="0">
                  <a:buNone/>
                </a:pPr>
                <ns4:m>
                  <ns5:oMathPara>
                    <ns5:oMathParaPr>
                      <ns5:jc ns5:val="centerGroup"/>
                    </ns5:oMathParaPr>
                    <ns5:oMath>
                      <ns5:sSub>
                        <ns5:sSubPr>
                          <ns5:ctrlPr>
                            <a:rPr lang="en-GB" altLang="zh-MO" i="1" smtClean="0">
                              <a:latin typeface="Cambria Math" panose="02040503050406030204" pitchFamily="18" charset="0"/>
                            </a:rPr>
                          </ns5:ctrlPr>
                        </ns5:sSubPr>
                        <ns5:e>
                          <ns5:r>
                            <a:rPr lang="en-GB" altLang="zh-MO" i="1" smtClean="0">
                              <a:latin typeface="Cambria Math" panose="02040503050406030204" pitchFamily="18" charset="0"/>
                            </a:rPr>
                            <ns5:t>𝑤</ns5:t>
                          </ns5:r>
                        </ns5:e>
                        <ns5:sub>
                          <ns5:r>
                            <a:rPr lang="en-GB" altLang="zh-MO" i="1" smtClean="0">
                              <a:latin typeface="Cambria Math" panose="02040503050406030204" pitchFamily="18" charset="0"/>
                            </a:rPr>
                            <ns5:t>𝑣</ns5:t>
                          </ns5:r>
                        </ns5:sub>
                      </ns5:sSub>
                      <ns5:r>
                        <a:rPr lang="en-GB" altLang="zh-MO" i="1">
                          <a:latin typeface="Cambria Math" panose="02040503050406030204" pitchFamily="18" charset="0"/>
                        </a:rPr>
                        <ns5:t>=</ns5:t>
                      </ns5:r>
                      <ns5:r>
                        <a:rPr lang="en-GB" altLang="zh-MO" i="1">
                          <a:latin typeface="Cambria Math" panose="02040503050406030204" pitchFamily="18" charset="0"/>
                        </a:rPr>
                        <ns5:t>𝜎</ns5:t>
                      </ns5:r>
                      <ns5:d>
                        <ns5:dPr>
                          <ns5:ctrlPr>
                            <a:rPr lang="en-GB" altLang="zh-MO" i="1">
                              <a:latin typeface="Cambria Math" panose="02040503050406030204" pitchFamily="18" charset="0"/>
                            </a:rPr>
                          </ns5:ctrlPr>
                        </ns5:dPr>
                        <ns5:e>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𝑎</ns5:t>
                              </ns5:r>
                            </ns5:e>
                            <ns5:sub>
                              <ns5:r>
                                <a:rPr lang="en-GB" altLang="zh-MO" i="1">
                                  <a:latin typeface="Cambria Math" panose="02040503050406030204" pitchFamily="18" charset="0"/>
                                </a:rPr>
                                <ns5:t>1</ns5:t>
                              </ns5:r>
                            </ns5:sub>
                          </ns5:sSub>
                          <ns5:r>
                            <a:rPr lang="en-GB" altLang="zh-MO" i="1">
                              <a:latin typeface="Cambria Math" panose="02040503050406030204" pitchFamily="18" charset="0"/>
                            </a:rPr>
                            <ns5:t>𝑑</ns5:t>
                          </ns5:r>
                          <ns5:r>
                            <a:rPr lang="en-GB" altLang="zh-MO" i="1">
                              <a:latin typeface="Cambria Math" panose="02040503050406030204" pitchFamily="18" charset="0"/>
                            </a:rPr>
                            <ns5:t>+</ns5:t>
                          </ns5:r>
                          <ns5:sSub>
                            <ns5:sSubPr>
                              <ns5:ctrlPr>
                                <a:rPr lang="en-GB" altLang="zh-MO" i="1">
                                  <a:latin typeface="Cambria Math" panose="02040503050406030204" pitchFamily="18" charset="0"/>
                                </a:rPr>
                              </ns5:ctrlPr>
                            </ns5:sSubPr>
                            <ns5:e>
                              <ns5:r>
                                <a:rPr lang="en-GB" altLang="zh-MO" i="1">
                                  <a:latin typeface="Cambria Math" panose="02040503050406030204" pitchFamily="18" charset="0"/>
                                </a:rPr>
                                <ns5:t>𝑎</ns5:t>
                              </ns5:r>
                            </ns5:e>
                            <ns5:sub>
                              <ns5:r>
                                <a:rPr lang="en-GB" altLang="zh-MO" i="1">
                                  <a:latin typeface="Cambria Math" panose="02040503050406030204" pitchFamily="18" charset="0"/>
                                </a:rPr>
                                <ns5:t>2</ns5:t>
                              </ns5:r>
                            </ns5:sub>
                          </ns5:sSub>
                          <ns5:sSup>
                            <ns5:sSupPr>
                              <ns5:ctrlPr>
                                <a:rPr lang="en-GB" altLang="zh-MO" i="1">
                                  <a:latin typeface="Cambria Math" panose="02040503050406030204" pitchFamily="18" charset="0"/>
                                </a:rPr>
                              </ns5:ctrlPr>
                            </ns5:sSupPr>
                            <ns5:e>
                              <ns5:r>
                                <a:rPr lang="en-GB" altLang="zh-MO" i="1">
                                  <a:latin typeface="Cambria Math" panose="02040503050406030204" pitchFamily="18" charset="0"/>
                                </a:rPr>
                                <ns5:t>𝑑</ns5:t>
                              </ns5:r>
                            </ns5:e>
                            <ns5:sup>
                              <ns5:r>
                                <a:rPr lang="en-GB" altLang="zh-MO" i="1">
                                  <a:latin typeface="Cambria Math" panose="02040503050406030204" pitchFamily="18" charset="0"/>
                                </a:rPr>
                                <ns5:t>2</ns5:t>
                              </ns5:r>
                            </ns5:sup>
                          </ns5:sSup>
                          <ns5:r>
                            <a:rPr lang="en-GB" altLang="zh-MO" i="1">
                              <a:latin typeface="Cambria Math" panose="02040503050406030204" pitchFamily="18" charset="0"/>
                            </a:rPr>
                            <ns5:t>+</ns5:t>
                          </ns5:r>
                          <ns5:r>
                            <a:rPr lang="en-GB" altLang="zh-MO" i="1">
                              <a:latin typeface="Cambria Math" panose="02040503050406030204" pitchFamily="18" charset="0"/>
                            </a:rPr>
                            <ns5:t>𝑏</ns5:t>
                          </ns5:r>
                        </ns5:e>
                      </ns5:d>
                    </ns5:oMath>
                  </ns5:oMathPara>
                </ns4:m>
                <a:endParaRPr lang="en-US" altLang="zh-MO" i="1" dirty="0">
                  <a:latin typeface="Cambria Math" panose="02040503050406030204" pitchFamily="18" charset="0"/>
                </a:endParaRPr>
              </a:p>
              <a:p>
                <a:pPr marL="0" indent="0">
                  <a:buNone/>
                </a:pPr>
                <a:r>
                  <a:rPr lang="zh-MO" altLang="en-US" dirty="0">
                    <a:latin typeface="Cambria Math" panose="02040503050406030204" pitchFamily="18" charset="0"/>
                  </a:rPr>
                  <a:t/>
                </a:r>
              </a:p>
              <a:p>
                <a:pPr marL="0" indent="0">
                  <a:buNone/>
                </a:pP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p>
              <a:p>
                <a:pPr marL="0" indent="0">
                  <a:buNone/>
                </a:pPr>
                <a:endParaRPr lang="ja-JP" altLang="en-US">
                  <a:latin typeface="Cambria Math" panose="02040503050406030204" pitchFamily="18" charset="0"/>
                </a:endParaRPr>
              </a:p>
              <a:p>
                <a:pPr marL="0" indent="0">
                  <a:buNone/>
                </a:pPr>
                <a:r>
                  <a:rPr lang="zh-MO" altLang="en-US" dirty="0">
                    <a:latin typeface="Cambria Math" panose="02040503050406030204" pitchFamily="18" charset="0"/>
                  </a:rPr>
                  <a:t/>
                </a:r>
                <a:r>
                  <a:rPr lang="ja-JP" altLang="en-US">
                    <a:latin typeface="Cambria Math" panose="02040503050406030204" pitchFamily="18" charset="0"/>
                  </a:rPr>
                  <a:t/>
                </a:r>
              </a:p>
              <a:p>
                <a:pPr marL="0" indent="0">
                  <a:buNone/>
                </a:pP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p>
              <a:p>
                <a:pPr marL="0" indent="0">
                  <a:buNone/>
                </a:pPr>
                <a:endParaRPr lang="ja-JP" altLang="en-US">
                  <a:latin typeface="Cambria Math" panose="02040503050406030204" pitchFamily="18" charset="0"/>
                </a:endParaRPr>
              </a:p>
              <a:p>
                <a:pPr marL="0" indent="0">
                  <a:buNone/>
                </a:pPr>
                <a:r>
                  <a:rPr lang="zh-MO" altLang="en-US" dirty="0">
                    <a:latin typeface="Cambria Math" panose="02040503050406030204" pitchFamily="18" charset="0"/>
                  </a:rPr>
                  <a:t/>
                </a:r>
              </a:p>
              <a:p>
                <a:pPr marL="0" indent="0">
                  <a:buNone/>
                </a:pPr>
                <a:r>
                  <a:rPr lang="en-US" altLang="zh-MO"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p>
              <a:p>
                <a:pPr marL="0" indent="0">
                  <a:buNone/>
                </a:pPr>
                <a:r>
                  <a:rPr lang="zh-MO" altLang="en-US" dirty="0">
                    <a:latin typeface="Cambria Math" panose="02040503050406030204" pitchFamily="18" charset="0"/>
                  </a:rPr>
                  <a:t/>
                </a:r>
                <a:r>
                  <a:rPr lang="ja-JP" altLang="en-US">
                    <a:latin typeface="Cambria Math" panose="02040503050406030204" pitchFamily="18" charset="0"/>
                  </a:rPr>
                  <a:t/>
                </a:r>
                <a:r>
                  <a:rPr lang="zh-MO" altLang="en-US" dirty="0">
                    <a:latin typeface="Cambria Math" panose="02040503050406030204" pitchFamily="18" charset="0"/>
                  </a:rPr>
                  <a:t/>
                </a:r>
                <a:r>
                  <a:rPr lang="ja-JP" altLang="en-US">
                    <a:latin typeface="Cambria Math" panose="02040503050406030204" pitchFamily="18" charset="0"/>
                  </a:rPr>
                  <a:t/>
                </a:r>
                <a:endParaRPr lang="en-US" altLang="zh-MO" dirty="0">
                  <a:latin typeface="Cambria Math" panose="02040503050406030204" pitchFamily="18" charset="0"/>
                </a:endParaRPr>
              </a:p>
            </p:txBody>
          </p:sp>
        </ns3:Choice>
        <ns3:Fallback>
          <p:sp>
            <p:nvSpPr>
              <p:cNvPr id="3" name="內容版面配置區 2">
                <a:extLst>
                  <a:ext uri="{FF2B5EF4-FFF2-40B4-BE49-F238E27FC236}">
                    <ns2:creationId id="{BAEA37D7-D654-6583-5F5E-82A0D10CDE76}"/>
                  </a:ext>
                </a:extLst>
              </p:cNvPr>
              <p:cNvSpPr>
                <a:spLocks noGrp="1" noRot="1" noChangeAspect="1" noMove="1" noResize="1" noEditPoints="1" noAdjustHandles="1" noChangeArrowheads="1" noChangeShapeType="1" noTextEdit="1"/>
              </p:cNvSpPr>
              <p:nvPr>
                <p:ph idx="1"/>
              </p:nvPr>
            </p:nvSpPr>
            <p:spPr>
              <a:blipFill>
                <a:blip r:embed="rId2"/>
                <a:stretch>
                  <a:fillRect l="-1086" t="-3299"/>
                </a:stretch>
              </a:blipFill>
            </p:spPr>
            <p:txBody>
              <a:bodyPr/>
              <a:lstStyle/>
              <a:p>
                <a:r>
                  <a:rPr lang="zh-MO" altLang="en-US">
                    <a:noFill/>
                  </a:rPr>
                  <a:t/>
                </a:r>
              </a:p>
            </p:txBody>
          </p:sp>
        </ns3:Fallback>
      </ns3:AlternateContent>
      <p:sp>
        <p:nvSpPr>
          <p:cNvPr id="6" name="投影片編號版面配置區 5">
            <a:extLst>
              <a:ext uri="{FF2B5EF4-FFF2-40B4-BE49-F238E27FC236}">
                <ns2:creationId id="{3DA37542-9DFE-EA4E-4C51-AECFF786602F}"/>
              </a:ext>
            </a:extLst>
          </p:cNvPr>
          <p:cNvSpPr>
            <a:spLocks noGrp="1"/>
          </p:cNvSpPr>
          <p:nvPr>
            <p:ph type="sldNum" sz="quarter" idx="12"/>
          </p:nvPr>
        </p:nvSpPr>
        <p:spPr/>
        <p:txBody>
          <a:bodyPr/>
          <a:lstStyle/>
          <a:p>
            <a:fld id="{3509F7B2-E600-4F87-A2BF-206386C1A1D6}" type="slidenum">
              <a:rPr kumimoji="1" lang="ja-JP" altLang="en-US" smtClean="0"/>
              <a:t>20</a:t>
            </a:fld>
            <a:endParaRPr kumimoji="1" lang="ja-JP" altLang="en-US"/>
          </a:p>
        </p:txBody>
      </p:sp>
    </p:spTree>
    <p:extLst>
      <p:ext uri="{BB962C8B-B14F-4D97-AF65-F5344CB8AC3E}">
        <ns7:creationId val="358315343"/>
      </p:ext>
    </p:extLst>
  </p:cSld>
  <p:clrMapOvr>
    <a:masterClrMapping/>
  </p:clrMapOvr>
</p:sld>
</file>

<file path=ppt/slides/slide21.xml><?xml version="1.0" encoding="utf-8"?>
<p:sld xmlns:a="http://schemas.openxmlformats.org/drawingml/2006/main" xmlns:ns2="http://schemas.openxmlformats.org/markup-compatibility/2006" xmlns:ns3="http://schemas.microsoft.com/office/drawing/2014/main"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ns2:AlternateContent>
        <ns2:Choice Requires="a14">
          <p:sp>
            <p:nvSpPr>
              <p:cNvPr id="2" name="標題 1">
                <a:extLst>
                  <a:ext uri="{FF2B5EF4-FFF2-40B4-BE49-F238E27FC236}">
                    <ns3:creationId id="{EB327080-FF7E-CED4-3A55-9C226C81EBC2}"/>
                  </a:ext>
                </a:extLst>
              </p:cNvPr>
              <p:cNvSpPr>
                <a:spLocks noGrp="1"/>
              </p:cNvSpPr>
              <p:nvPr>
                <p:ph type="title"/>
              </p:nvPr>
            </p:nvSpPr>
            <p:spPr/>
            <p:txBody>
              <a:bodyPr>
                <a:normAutofit/>
              </a:bodyPr>
              <a:lstStyle/>
              <a:p>
                <a:r>
                  <a:rPr lang="ja-JP" altLang="en-US"/>
                  <a:t>quadratic：4ケースで反転仮説を見る</a:t>
                </a:r>
                <ns4:m>
                  <ns5:oMath>
                    <ns5:sSup>
                      <ns5:sSupPr>
                        <ns5:ctrlPr>
                          <a:rPr lang="ja-JP" altLang="en-US" i="1" smtClean="0">
                            <a:latin typeface="Cambria Math" panose="02040503050406030204" pitchFamily="18" charset="0"/>
                          </a:rPr>
                        </ns5:ctrlPr>
                      </ns5:sSupPr>
                      <ns5:e>
                        <ns5:r>
                          <a:rPr lang="ja-JP" altLang="en-US" i="1" smtClean="0">
                            <a:latin typeface="Cambria Math" panose="02040503050406030204" pitchFamily="18" charset="0"/>
                          </a:rPr>
                          <ns5:t>𝑑</ns5:t>
                        </ns5:r>
                      </ns5:e>
                      <ns5:sup>
                        <ns5:r>
                          <a:rPr lang="ja-JP" altLang="en-US" i="1" smtClean="0">
                            <a:latin typeface="Cambria Math" panose="02040503050406030204" pitchFamily="18" charset="0"/>
                          </a:rPr>
                          <ns5:t>2</ns5:t>
                        </ns5:r>
                      </ns5:sup>
                    </ns5:sSup>
                  </ns5:oMath>
                </ns4:m>
                <a:r>
                  <a:rPr lang="ja-JP" altLang="en-US"/>
                  <a:t/>
                </a:r>
              </a:p>
            </p:txBody>
          </p:sp>
        </ns2:Choice>
        <ns2:Fallback>
          <p:sp>
            <p:nvSpPr>
              <p:cNvPr id="2" name="標題 1">
                <a:extLst>
                  <a:ext uri="{FF2B5EF4-FFF2-40B4-BE49-F238E27FC236}">
                    <ns3:creationId id="{EB327080-FF7E-CED4-3A55-9C226C81EBC2}"/>
                  </a:ext>
                </a:extLst>
              </p:cNvPr>
              <p:cNvSpPr>
                <a:spLocks noGrp="1" noRot="1" noChangeAspect="1" noMove="1" noResize="1" noEditPoints="1" noAdjustHandles="1" noChangeArrowheads="1" noChangeShapeType="1" noTextEdit="1"/>
              </p:cNvSpPr>
              <p:nvPr>
                <p:ph type="title"/>
              </p:nvPr>
            </p:nvSpPr>
            <p:spPr>
              <a:blipFill>
                <a:blip r:embed="rId2"/>
                <a:stretch>
                  <a:fillRect l="-2171" t="-6944" b="-12500"/>
                </a:stretch>
              </a:blipFill>
            </p:spPr>
            <p:txBody>
              <a:bodyPr/>
              <a:lstStyle/>
              <a:p>
                <a:r>
                  <a:rPr lang="zh-MO" altLang="en-US">
                    <a:noFill/>
                  </a:rPr>
                  <a:t>a,b の符号を固定した4ケースで、曲率を含むモデルの挙動を比較する。
観察点：性能改善よりも、曲率が安定して解釈可能かを確認する。</a:t>
                </a:r>
              </a:p>
            </p:txBody>
          </p:sp>
        </ns2:Fallback>
      </ns2:AlternateContent>
      <p:sp>
        <p:nvSpPr>
          <p:cNvPr id="3" name="內容版面配置區 2">
            <a:extLst>
              <a:ext uri="{FF2B5EF4-FFF2-40B4-BE49-F238E27FC236}">
                <ns3:creationId id="{258865D4-D6B5-1DDE-79E9-0A78BCBC4D2F}"/>
              </a:ext>
            </a:extLst>
          </p:cNvPr>
          <p:cNvSpPr>
            <a:spLocks noGrp="1"/>
          </p:cNvSpPr>
          <p:nvPr>
            <p:ph idx="1"/>
          </p:nvPr>
        </p:nvSpPr>
        <p:spPr>
          <a:xfrm>
            <a:off x="838200" y="4688750"/>
            <a:ext cx="10515600" cy="350000"/>
          </a:xfrm>
        </p:spPr>
        <p:txBody>
          <a:bodyPr>
            <a:noAutofit/>
          </a:bodyPr>
          <a:lstStyle/>
          <a:p>
            <a:pPr marL="0" indent="0">
              <a:buNone/>
            </a:pPr>
            <a:r>
              <a:rPr lang="ja-JP" altLang="en-US" sz="2000"/>
              <a:t/>
            </a:r>
          </a:p>
          <a:p>
            <a:pPr marL="0" indent="0">
              <a:buNone/>
            </a:pPr>
            <a:r>
              <a:rPr lang="ja-JP" altLang="en-US" sz="2000"/>
              <a:t/>
            </a:r>
          </a:p>
        </p:txBody>
      </p:sp>
      <p:sp>
        <p:nvSpPr>
          <p:cNvPr id="6" name="投影片編號版面配置區 5">
            <a:extLst>
              <a:ext uri="{FF2B5EF4-FFF2-40B4-BE49-F238E27FC236}">
                <ns3: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21</a:t>
            </a:fld>
            <a:endParaRPr kumimoji="1" lang="ja-JP" altLang="en-US"/>
          </a:p>
        </p:txBody>
      </p:sp>
      <p:pic>
        <p:nvPicPr>
          <p:cNvPr id="7" name="圖片 6">
            <a:extLst>
              <a:ext uri="{FF2B5EF4-FFF2-40B4-BE49-F238E27FC236}">
                <ns3:creationId id="{142AEC41-EEFA-1A57-21C1-8281D368E781}"/>
              </a:ext>
            </a:extLst>
          </p:cNvPr>
          <p:cNvPicPr>
            <a:picLocks noChangeAspect="1"/>
          </p:cNvPicPr>
          <p:nvPr/>
        </p:nvPicPr>
        <p:blipFill>
          <a:blip r:embed="rId3"/>
          <a:stretch>
            <a:fillRect/>
          </a:stretch>
        </p:blipFill>
        <p:spPr>
          <a:xfrm>
            <a:off x="838200" y="1569307"/>
            <a:ext cx="10515600" cy="2545493"/>
          </a:xfrm>
          <a:prstGeom prst="rect">
            <a:avLst/>
          </a:prstGeom>
        </p:spPr>
      </p:pic>
    </p:spTree>
    <p:extLst>
      <p:ext uri="{BB962C8B-B14F-4D97-AF65-F5344CB8AC3E}">
        <ns7:creationId val="3317678122"/>
      </p:ext>
    </p:extLst>
  </p:cSld>
  <p:clrMapOvr>
    <a:masterClrMapping/>
  </p:clrMapOvr>
</p:sld>
</file>

<file path=ppt/slides/slide22.xml><?xml version="1.0" encoding="utf-8"?>
<p:sld xmlns:a="http://schemas.openxmlformats.org/drawingml/2006/main" xmlns:ns2="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7290F8E6-5478-EA84-18DF-13746709041F}"/>
              </a:ext>
            </a:extLst>
          </p:cNvPr>
          <p:cNvSpPr>
            <a:spLocks noGrp="1"/>
          </p:cNvSpPr>
          <p:nvPr>
            <p:ph type="title"/>
          </p:nvPr>
        </p:nvSpPr>
        <p:spPr/>
        <p:txBody>
          <a:bodyPr>
            <a:normAutofit fontScale="90000"/>
          </a:bodyPr>
          <a:lstStyle/>
          <a:p>
            <a:r>
              <a:rPr lang="en-GB" altLang="zh-MO" dirty="0"/>
              <a:t>abs：方向 d と衝突強度 |d| を分ける</a:t>
            </a:r>
            <a:r>
              <a:rPr lang="zh-MO" altLang="en-GB" dirty="0"/>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endParaRPr kumimoji="1" lang="zh-MO" altLang="en-US" dirty="0"/>
          </a:p>
        </p:txBody>
      </p:sp>
      <ns3:AlternateContent>
        <ns3:Choice Requires="a14">
          <p:sp>
            <p:nvSpPr>
              <p:cNvPr id="3" name="內容版面配置區 2">
                <a:extLst>
                  <a:ext uri="{FF2B5EF4-FFF2-40B4-BE49-F238E27FC236}">
                    <ns2:creationId id="{B7BCA7AE-7478-104C-285A-30B0BB61ACB9}"/>
                  </a:ext>
                </a:extLst>
              </p:cNvPr>
              <p:cNvSpPr>
                <a:spLocks noGrp="1"/>
              </p:cNvSpPr>
              <p:nvPr>
                <p:ph idx="1"/>
              </p:nvPr>
            </p:nvSpPr>
            <p:spPr/>
            <p:txBody>
              <a:bodyPr>
                <a:normAutofit fontScale="85000" lnSpcReduction="20000"/>
              </a:bodyPr>
              <a:lstStyle/>
              <a:p>
                <a:pPr marL="0" indent="0">
                  <a:buNone/>
                </a:pPr>
                <a:r>
                  <a:rPr lang="zh-MO" altLang="en-US" dirty="0"/>
                  <a:t>式：w = σ(a・d + c・|d| + b)。
役割：方向 d と衝突強度 |d| を分けて読む機構説明モデル。
注意：性能最優を主張するためではなく、重み決定の解釈を補助するために使う。</a:t>
                </a:r>
                <a:r>
                  <a:rPr lang="ja-JP" altLang="en-US"/>
                  <a:t/>
                </a:r>
                <ns4:m>
                  <ns5:oMath>
                    <ns5:r>
                      <a:rPr lang="en-GB" altLang="zh-MO" i="1" smtClean="0">
                        <a:latin typeface="Cambria Math" panose="02040503050406030204" pitchFamily="18" charset="0"/>
                      </a:rPr>
                      <ns5:t>𝑤</ns5:t>
                    </ns5:r>
                    <ns5:r>
                      <a:rPr lang="en-GB" altLang="zh-MO" i="1" smtClean="0">
                        <a:latin typeface="Cambria Math" panose="02040503050406030204" pitchFamily="18" charset="0"/>
                      </a:rPr>
                      <ns5:t>=</ns5:t>
                    </ns5:r>
                    <ns5:r>
                      <a:rPr lang="en-GB" altLang="zh-MO" i="1" smtClean="0">
                        <a:latin typeface="Cambria Math" panose="02040503050406030204" pitchFamily="18" charset="0"/>
                      </a:rPr>
                      <ns5:t>𝜎</ns5:t>
                    </ns5:r>
                    <ns5:d>
                      <ns5:dPr>
                        <ns5:ctrlPr>
                          <a:rPr lang="en-GB" altLang="zh-MO" i="1" smtClean="0">
                            <a:latin typeface="Cambria Math" panose="02040503050406030204" pitchFamily="18" charset="0"/>
                          </a:rPr>
                        </ns5:ctrlPr>
                      </ns5:dPr>
                      <ns5:e>
                        <ns5:sSub>
                          <ns5:sSubPr>
                            <ns5:ctrlPr>
                              <a:rPr lang="en-GB" altLang="zh-MO" i="1" smtClean="0">
                                <a:latin typeface="Cambria Math" panose="02040503050406030204" pitchFamily="18" charset="0"/>
                              </a:rPr>
                            </ns5:ctrlPr>
                          </ns5:sSubPr>
                          <ns5:e>
                            <ns5:r>
                              <a:rPr lang="en-GB" altLang="zh-MO" i="1" smtClean="0">
                                <a:latin typeface="Cambria Math" panose="02040503050406030204" pitchFamily="18" charset="0"/>
                              </a:rPr>
                              <ns5:t>𝑎</ns5:t>
                            </ns5:r>
                          </ns5:e>
                          <ns5:sub>
                            <ns5:r>
                              <a:rPr lang="en-GB" altLang="zh-MO" i="1" smtClean="0">
                                <a:latin typeface="Cambria Math" panose="02040503050406030204" pitchFamily="18" charset="0"/>
                              </a:rPr>
                              <ns5:t>1</ns5:t>
                            </ns5:r>
                          </ns5:sub>
                        </ns5:sSub>
                        <ns5:r>
                          <a:rPr lang="en-GB" altLang="zh-MO" i="1" smtClean="0">
                            <a:latin typeface="Cambria Math" panose="02040503050406030204" pitchFamily="18" charset="0"/>
                          </a:rPr>
                          <ns5:t>𝑑</ns5:t>
                        </ns5:r>
                        <ns5:r>
                          <a:rPr lang="en-GB" altLang="zh-MO" i="1" smtClean="0">
                            <a:latin typeface="Cambria Math" panose="02040503050406030204" pitchFamily="18" charset="0"/>
                          </a:rPr>
                          <ns5:t>+</ns5:t>
                        </ns5:r>
                        <ns5:sSub>
                          <ns5:sSubPr>
                            <ns5:ctrlPr>
                              <a:rPr lang="en-GB" altLang="zh-MO" i="1" smtClean="0">
                                <a:latin typeface="Cambria Math" panose="02040503050406030204" pitchFamily="18" charset="0"/>
                              </a:rPr>
                            </ns5:ctrlPr>
                          </ns5:sSubPr>
                          <ns5:e>
                            <ns5:r>
                              <a:rPr lang="en-GB" altLang="zh-MO" i="1" smtClean="0">
                                <a:latin typeface="Cambria Math" panose="02040503050406030204" pitchFamily="18" charset="0"/>
                              </a:rPr>
                              <ns5:t>𝑎</ns5:t>
                            </ns5:r>
                          </ns5:e>
                          <ns5:sub>
                            <ns5:r>
                              <a:rPr lang="en-GB" altLang="zh-MO" i="1" smtClean="0">
                                <a:latin typeface="Cambria Math" panose="02040503050406030204" pitchFamily="18" charset="0"/>
                              </a:rPr>
                              <ns5:t>2</ns5:t>
                            </ns5:r>
                          </ns5:sub>
                        </ns5:sSub>
                        <ns5:d>
                          <ns5:dPr>
                            <ns5:begChr ns5:val="|"/>
                            <ns5:endChr ns5:val="|"/>
                            <ns5:ctrlPr>
                              <a:rPr lang="en-GB" altLang="zh-MO" i="1" smtClean="0">
                                <a:latin typeface="Cambria Math" panose="02040503050406030204" pitchFamily="18" charset="0"/>
                              </a:rPr>
                            </ns5:ctrlPr>
                          </ns5:dPr>
                          <ns5:e>
                            <ns5:r>
                              <a:rPr lang="en-GB" altLang="zh-MO" i="1" smtClean="0">
                                <a:latin typeface="Cambria Math" panose="02040503050406030204" pitchFamily="18" charset="0"/>
                              </a:rPr>
                              <ns5:t>𝑑</ns5:t>
                            </ns5:r>
                          </ns5:e>
                        </ns5:d>
                        <ns5:r>
                          <a:rPr lang="en-GB" altLang="zh-MO" i="1" smtClean="0">
                            <a:latin typeface="Cambria Math" panose="02040503050406030204" pitchFamily="18" charset="0"/>
                          </a:rPr>
                          <ns5:t>+</ns5:t>
                        </ns5:r>
                        <ns5:r>
                          <a:rPr lang="en-GB" altLang="zh-MO" i="1" smtClean="0">
                            <a:latin typeface="Cambria Math" panose="02040503050406030204" pitchFamily="18" charset="0"/>
                          </a:rPr>
                          <ns5:t>𝑏</ns5:t>
                        </ns5:r>
                      </ns5:e>
                    </ns5:d>
                  </ns5:oMath>
                </ns4:m>
                <a:endParaRPr lang="en-GB" altLang="zh-MO" dirty="0"/>
              </a:p>
              <a:p>
                <a:endParaRPr kumimoji="1" lang="en-US" altLang="zh-MO" dirty="0"/>
              </a:p>
              <a:p>
                <a:pPr marL="0" indent="0">
                  <a:buNone/>
                </a:pPr>
                <a:r>
                  <a:rPr lang="zh-MO" altLang="en-US" dirty="0"/>
                  <a:t/>
                </a:r>
              </a:p>
              <a:p>
                <a:pPr marL="0" indent="0">
                  <a:buNone/>
                </a:pP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pPr marL="0" indent="0">
                  <a:buNone/>
                </a:pPr>
                <a:endParaRPr lang="ja-JP" altLang="en-US"/>
              </a:p>
              <a:p>
                <a:pPr marL="0" indent="0">
                  <a:buNone/>
                </a:pPr>
                <a:r>
                  <a:rPr lang="zh-MO" altLang="en-US" dirty="0"/>
                  <a:t/>
                </a:r>
                <a:r>
                  <a:rPr lang="ja-JP" altLang="en-US"/>
                  <a:t/>
                </a:r>
              </a:p>
              <a:p>
                <a:pPr marL="0" indent="0">
                  <a:buNone/>
                </a:pPr>
                <a:r>
                  <a:rPr lang="ja-JP" altLang="en-US"/>
                  <a:t/>
                </a:r>
                <a:r>
                  <a:rPr lang="zh-MO" altLang="en-US" dirty="0"/>
                  <a:t/>
                </a:r>
                <a:r>
                  <a:rPr lang="ja-JP" altLang="en-US"/>
                  <a:t/>
                </a:r>
                <a:r>
                  <a:rPr lang="zh-MO" altLang="en-US" dirty="0"/>
                  <a:t/>
                </a:r>
                <a:r>
                  <a:rPr lang="ja-JP" altLang="en-US"/>
                  <a:t/>
                </a:r>
              </a:p>
              <a:p>
                <a:pPr marL="0" indent="0">
                  <a:buNone/>
                </a:pPr>
                <a:r>
                  <a:rPr lang="ja-JP" altLang="en-US"/>
                  <a:t/>
                </a:r>
                <a:r>
                  <a:rPr lang="zh-MO" altLang="en-US" dirty="0"/>
                  <a:t/>
                </a:r>
                <a:r>
                  <a:rPr lang="ja-JP" altLang="en-US"/>
                  <a:t/>
                </a:r>
                <a:r>
                  <a:rPr lang="zh-MO" altLang="en-US" dirty="0"/>
                  <a:t/>
                </a:r>
                <a:r>
                  <a:rPr lang="ja-JP" altLang="en-US"/>
                  <a:t/>
                </a:r>
              </a:p>
              <a:p>
                <a:pPr marL="0" indent="0">
                  <a:buNone/>
                </a:pP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pPr marL="0" indent="0">
                  <a:buNone/>
                </a:pPr>
                <a:endParaRPr lang="ja-JP" altLang="en-US"/>
              </a:p>
              <a:p>
                <a:pPr marL="0" indent="0">
                  <a:buNone/>
                </a:pPr>
                <a:r>
                  <a:rPr lang="zh-MO" altLang="en-US" dirty="0"/>
                  <a:t/>
                </a:r>
              </a:p>
              <a:p>
                <a:pPr marL="0" indent="0">
                  <a:buNone/>
                </a:pPr>
                <a:r>
                  <a:rPr lang="zh-MO" altLang="en-US" dirty="0"/>
                  <a:t/>
                </a:r>
                <a:r>
                  <a:rPr lang="ja-JP" altLang="en-US"/>
                  <a:t/>
                </a:r>
                <a:r>
                  <a:rPr lang="zh-MO" altLang="en-US" dirty="0"/>
                  <a:t/>
                </a:r>
                <a:r>
                  <a:rPr lang="ja-JP" altLang="en-US"/>
                  <a:t/>
                </a:r>
                <a:r>
                  <a:rPr lang="en-US" altLang="ja-JP" dirty="0"/>
                  <a:t/>
                </a:r>
                <a:r>
                  <a:rPr lang="zh-MO" altLang="en-US" dirty="0"/>
                  <a:t/>
                </a:r>
                <a:r>
                  <a:rPr lang="ja-JP" altLang="en-US"/>
                  <a:t/>
                </a:r>
                <a:r>
                  <a:rPr lang="zh-MO" altLang="en-US" dirty="0"/>
                  <a:t/>
                </a:r>
                <a:r>
                  <a:rPr lang="ja-JP" altLang="en-US"/>
                  <a:t/>
                </a:r>
                <a:r>
                  <a:rPr lang="en-GB" altLang="zh-MO"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p>
              <a:p>
                <a:pPr marL="0" indent="0">
                  <a:buNone/>
                </a:pPr>
                <a:endParaRPr kumimoji="1" lang="zh-MO" altLang="en-US" dirty="0"/>
              </a:p>
            </p:txBody>
          </p:sp>
        </ns3:Choice>
        <ns3:Fallback>
          <p:sp>
            <p:nvSpPr>
              <p:cNvPr id="3" name="內容版面配置區 2">
                <a:extLst>
                  <a:ext uri="{FF2B5EF4-FFF2-40B4-BE49-F238E27FC236}">
                    <ns2:creationId id="{B7BCA7AE-7478-104C-285A-30B0BB61ACB9}"/>
                  </a:ext>
                </a:extLst>
              </p:cNvPr>
              <p:cNvSpPr>
                <a:spLocks noGrp="1" noRot="1" noChangeAspect="1" noMove="1" noResize="1" noEditPoints="1" noAdjustHandles="1" noChangeArrowheads="1" noChangeShapeType="1" noTextEdit="1"/>
              </p:cNvSpPr>
              <p:nvPr>
                <p:ph idx="1"/>
              </p:nvPr>
            </p:nvSpPr>
            <p:spPr>
              <a:blipFill>
                <a:blip r:embed="rId2"/>
                <a:stretch>
                  <a:fillRect l="-965" t="-3553"/>
                </a:stretch>
              </a:blipFill>
            </p:spPr>
            <p:txBody>
              <a:bodyPr/>
              <a:lstStyle/>
              <a:p>
                <a:r>
                  <a:rPr lang="zh-MO" altLang="en-US">
                    <a:noFill/>
                  </a:rPr>
                  <a:t/>
                </a:r>
              </a:p>
            </p:txBody>
          </p:sp>
        </ns3:Fallback>
      </ns3:AlternateContent>
      <p:sp>
        <p:nvSpPr>
          <p:cNvPr id="6" name="投影片編號版面配置區 5">
            <a:extLst>
              <a:ext uri="{FF2B5EF4-FFF2-40B4-BE49-F238E27FC236}">
                <ns2:creationId id="{BC6715AA-8D48-124F-2CE1-90BC54351CA8}"/>
              </a:ext>
            </a:extLst>
          </p:cNvPr>
          <p:cNvSpPr>
            <a:spLocks noGrp="1"/>
          </p:cNvSpPr>
          <p:nvPr>
            <p:ph type="sldNum" sz="quarter" idx="12"/>
          </p:nvPr>
        </p:nvSpPr>
        <p:spPr/>
        <p:txBody>
          <a:bodyPr/>
          <a:lstStyle/>
          <a:p>
            <a:fld id="{3509F7B2-E600-4F87-A2BF-206386C1A1D6}" type="slidenum">
              <a:rPr kumimoji="1" lang="ja-JP" altLang="en-US" smtClean="0"/>
              <a:t>22</a:t>
            </a:fld>
            <a:endParaRPr kumimoji="1" lang="ja-JP" altLang="en-US"/>
          </a:p>
        </p:txBody>
      </p:sp>
      <p:pic>
        <p:nvPicPr>
          <p:cNvPr id="201" name="case table"/>
          <p:cNvPicPr>
            <a:picLocks noChangeAspect="1"/>
          </p:cNvPicPr>
          <p:nvPr/>
        </p:nvPicPr>
        <p:blipFill>
          <a:blip r:embed="rId201"/>
          <a:stretch>
            <a:fillRect/>
          </a:stretch>
        </p:blipFill>
        <p:spPr>
          <a:xfrm>
            <a:off x="685800" y="1874519"/>
            <a:ext cx="8046720" cy="3611880"/>
          </a:xfrm>
          <a:prstGeom prst="rect">
            <a:avLst/>
          </a:prstGeom>
        </p:spPr>
      </p:pic>
    </p:spTree>
    <p:extLst>
      <p:ext uri="{BB962C8B-B14F-4D97-AF65-F5344CB8AC3E}">
        <ns7:creationId val="1671289619"/>
      </p:ext>
    </p:extLst>
  </p:cSld>
  <p:clrMapOvr>
    <a:masterClrMapping/>
  </p:clrMapOvr>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ja-JP" altLang="en-US"/>
              <a:t>関数形式比較から座標系比較へ</a:t>
            </a:r>
          </a:p>
        </p:txBody>
      </p:sp>
      <p:sp>
        <p:nvSpPr>
          <p:cNvPr id="3" name="內容版面配置區 2">
            <a:extLst>
              <a:ext uri="{FF2B5EF4-FFF2-40B4-BE49-F238E27FC236}">
                <ns2:creationId id="{258865D4-D6B5-1DDE-79E9-0A78BCBC4D2F}"/>
              </a:ext>
            </a:extLst>
          </p:cNvPr>
          <p:cNvSpPr>
            <a:spLocks noGrp="1"/>
          </p:cNvSpPr>
          <p:nvPr>
            <p:ph idx="1"/>
          </p:nvPr>
        </p:nvSpPr>
        <p:spPr>
          <a:xfrm>
            <a:off x="838200" y="4516148"/>
            <a:ext cx="10515600" cy="350000"/>
          </a:xfrm>
        </p:spPr>
        <p:txBody>
          <a:bodyPr>
            <a:noAutofit/>
          </a:bodyPr>
          <a:lstStyle/>
          <a:p>
            <a:pPr marL="0" indent="0">
              <a:buNone/>
            </a:pPr>
            <a:r>
              <a:rPr lang="ja-JP" altLang="en-US" sz="2000"/>
              <a:t>native座標で4つの関数形式の役割を整理した。
次に、同じ Table14 → Holdout35 プロトコルを nrc_affine と nrc_direct に適用する。
問い：NRCに近い座標でも、7×7表の低次元構造は保たれるか。</a:t>
            </a:r>
          </a:p>
          <a:p>
            <a:pPr marL="0" indent="0">
              <a:buNone/>
            </a:pPr>
            <a:r>
              <a:rPr lang="ja-JP" altLang="en-US" sz="2000"/>
              <a:t/>
            </a:r>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23</a:t>
            </a:fld>
            <a:endParaRPr kumimoji="1" lang="ja-JP" altLang="en-US"/>
          </a:p>
        </p:txBody>
      </p:sp>
      <p:pic>
        <p:nvPicPr>
          <p:cNvPr id="13" name="圖片 12">
            <a:extLst>
              <a:ext uri="{FF2B5EF4-FFF2-40B4-BE49-F238E27FC236}">
                <ns2:creationId id="{C9CAA9FE-2C9F-3E91-B748-AAE79EEB18B4}"/>
              </a:ext>
            </a:extLst>
          </p:cNvPr>
          <p:cNvPicPr>
            <a:picLocks noChangeAspect="1"/>
          </p:cNvPicPr>
          <p:nvPr/>
        </p:nvPicPr>
        <p:blipFill>
          <a:blip r:embed="rId2"/>
          <a:stretch>
            <a:fillRect/>
          </a:stretch>
        </p:blipFill>
        <p:spPr>
          <a:xfrm>
            <a:off x="457200" y="1627324"/>
            <a:ext cx="10988174" cy="2441815"/>
          </a:xfrm>
          <a:prstGeom prst="rect">
            <a:avLst/>
          </a:prstGeom>
        </p:spPr>
      </p:pic>
    </p:spTree>
    <p:extLst>
      <p:ext uri="{BB962C8B-B14F-4D97-AF65-F5344CB8AC3E}">
        <ns4:creationId val="3317678122"/>
      </p:ext>
    </p:extLst>
  </p:cSld>
  <p:clrMapOvr>
    <a:masterClrMapping/>
  </p:clrMapOvr>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native座標で確認できたこと</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24</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・native座標では Holdout35 MSE が最も低く、7×7表の低次元融合構造が最も明確に現れた。
・best は simple average（MSE=0.0148）で、linear ap_bp / ap_bn（MSE=0.0160）もほぼ同程度である。
・quadratic は曲率・反転仮説の補助的検討として扱う。
・abs は性能最優モデルではなく、方向 d と衝突強度 |d| を分けて読む機構説明モデルである。</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en-US" altLang="ja-JP"/>
              <a:t>nrc_affine：NRC尺度でも構造は保たれる</a:t>
            </a:r>
            <a:endParaRPr kumimoji="1" lang="zh-MO" altLang="en-US"/>
          </a:p>
        </p:txBody>
      </p:sp>
      <p:sp>
        <p:nvSpPr>
          <p:cNvPr id="3" name="內容版面配置區 2">
            <a:extLst>
              <a:ext uri="{FF2B5EF4-FFF2-40B4-BE49-F238E27FC236}">
                <ns2:creationId id="{258865D4-D6B5-1DDE-79E9-0A78BCBC4D2F}"/>
              </a:ext>
            </a:extLst>
          </p:cNvPr>
          <p:cNvSpPr>
            <a:spLocks noGrp="1"/>
          </p:cNvSpPr>
          <p:nvPr>
            <p:ph idx="1"/>
          </p:nvPr>
        </p:nvSpPr>
        <p:spPr>
          <a:xfrm>
            <a:off x="838200" y="4875758"/>
            <a:ext cx="10515600" cy="350000"/>
          </a:xfrm>
        </p:spPr>
        <p:txBody>
          <a:bodyPr>
            <a:normAutofit fontScale="85000" lnSpcReduction="20000"/>
          </a:bodyPr>
          <a:lstStyle/>
          <a:p>
            <a:pPr marL="0" indent="0">
              <a:buNone/>
            </a:pPr>
            <a:r>
              <a:rPr lang="en-US" altLang="ja-JP"/>
              <a:t>7基本感情をNRC座標へ合わせ、Full49全体へ同じアフィン変換を適用した。
Best：linear ap_bn, Holdout35 MSE = 0.0509。</a:t>
            </a:r>
            <a:r>
              <a:rPr lang="ja-JP" altLang="en-US"/>
              <a:t/>
            </a:r>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p:txBody>
          <a:bodyPr/>
          <a:lstStyle/>
          <a:p>
            <a:fld id="{3509F7B2-E600-4F87-A2BF-206386C1A1D6}" type="slidenum">
              <a:rPr kumimoji="1" lang="ja-JP" altLang="en-US" smtClean="0"/>
              <a:t>25</a:t>
            </a:fld>
            <a:endParaRPr kumimoji="1" lang="ja-JP" altLang="en-US"/>
          </a:p>
        </p:txBody>
      </p:sp>
      <p:pic>
        <p:nvPicPr>
          <p:cNvPr id="4" name="圖片 3">
            <a:extLst>
              <a:ext uri="{FF2B5EF4-FFF2-40B4-BE49-F238E27FC236}">
                <ns2:creationId id="{7FC97976-5908-4AE0-1062-F00A2E9F025E}"/>
              </a:ext>
            </a:extLst>
          </p:cNvPr>
          <p:cNvPicPr>
            <a:picLocks noChangeAspect="1"/>
          </p:cNvPicPr>
          <p:nvPr/>
        </p:nvPicPr>
        <p:blipFill>
          <a:blip r:embed="rId2"/>
          <a:stretch>
            <a:fillRect/>
          </a:stretch>
        </p:blipFill>
        <p:spPr>
          <a:xfrm>
            <a:off x="2209800" y="1180316"/>
            <a:ext cx="7772400" cy="3238500"/>
          </a:xfrm>
          <a:prstGeom prst="rect">
            <a:avLst/>
          </a:prstGeom>
        </p:spPr>
      </p:pic>
    </p:spTree>
    <p:extLst>
      <p:ext uri="{BB962C8B-B14F-4D97-AF65-F5344CB8AC3E}">
        <ns4:creationId val="3317678122"/>
      </p:ext>
    </p:extLst>
  </p:cSld>
  <p:clrMapOvr>
    <a:masterClrMapping/>
  </p:clrMapOvr>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a:extLst>
            <a:ext uri="{FF2B5EF4-FFF2-40B4-BE49-F238E27FC236}">
              <ns2:creationId id="{53BCD80E-A5DC-53EF-6457-4E30E21F0AA6}"/>
            </a:ext>
          </a:extLst>
        </p:cNvPr>
        <p:cNvGrpSpPr/>
        <p:nvPr/>
      </p:nvGrpSpPr>
      <p:grpSpPr>
        <a:xfrm>
          <a:off x="0" y="0"/>
          <a:ext cx="0" cy="0"/>
          <a:chOff x="0" y="0"/>
          <a:chExt cx="0" cy="0"/>
        </a:xfrm>
      </p:grpSpPr>
      <p:sp>
        <p:nvSpPr>
          <p:cNvPr id="2" name="標題 1">
            <a:extLst>
              <a:ext uri="{FF2B5EF4-FFF2-40B4-BE49-F238E27FC236}">
                <ns2:creationId id="{B969A882-6670-228B-90E0-9A9D4F262EB8}"/>
              </a:ext>
            </a:extLst>
          </p:cNvPr>
          <p:cNvSpPr>
            <a:spLocks noGrp="1"/>
          </p:cNvSpPr>
          <p:nvPr>
            <p:ph type="title"/>
          </p:nvPr>
        </p:nvSpPr>
        <p:spPr/>
        <p:txBody>
          <a:bodyPr>
            <a:normAutofit/>
          </a:bodyPr>
          <a:lstStyle/>
          <a:p>
            <a:r>
              <a:rPr lang="en-US" altLang="ja-JP"/>
              <a:t>nrc_affine：4つの関数形式の比較</a:t>
            </a:r>
            <a:endParaRPr kumimoji="1" lang="zh-MO" altLang="en-US"/>
          </a:p>
        </p:txBody>
      </p:sp>
      <p:sp>
        <p:nvSpPr>
          <p:cNvPr id="3" name="內容版面配置區 2">
            <a:extLst>
              <a:ext uri="{FF2B5EF4-FFF2-40B4-BE49-F238E27FC236}">
                <ns2:creationId id="{D3F97A45-8E61-0395-46FC-FA9AB74B1B50}"/>
              </a:ext>
            </a:extLst>
          </p:cNvPr>
          <p:cNvSpPr>
            <a:spLocks noGrp="1"/>
          </p:cNvSpPr>
          <p:nvPr>
            <p:ph idx="1"/>
          </p:nvPr>
        </p:nvSpPr>
        <p:spPr>
          <a:xfrm>
            <a:off x="838200" y="4875758"/>
            <a:ext cx="10515600" cy="350000"/>
          </a:xfrm>
        </p:spPr>
        <p:txBody>
          <a:bodyPr>
            <a:normAutofit fontScale="85000" lnSpcReduction="20000"/>
          </a:bodyPr>
          <a:lstStyle/>
          <a:p>
            <a:pPr marL="0" indent="0">
              <a:buNone/>
            </a:pPr>
            <a:r>
              <a:rPr lang="en-US" altLang="zh-MO"/>
              <a:t>simple average / linear / quadratic / abs の差は小さい。
これは、複雑モデルが大きく勝つのではなく、7×7表の低次元構造そのものが強いことを示す。</a:t>
            </a:r>
            <a:r>
              <a:rPr lang="zh-MO" altLang="en-US"/>
              <a:t/>
            </a:r>
            <a:r>
              <a:rPr lang="ja-JP" altLang="en-US"/>
              <a:t/>
            </a:r>
            <a:r>
              <a:rPr lang="zh-MO" altLang="en-US"/>
              <a:t/>
            </a:r>
            <a:r>
              <a:rPr lang="ja-JP" altLang="en-US"/>
              <a:t/>
            </a:r>
            <a:r>
              <a:rPr lang="zh-MO" altLang="en-US"/>
              <a:t/>
            </a:r>
            <a:r>
              <a:rPr lang="ja-JP" altLang="en-US"/>
              <a:t/>
            </a:r>
            <a:r>
              <a:rPr lang="zh-MO" altLang="en-US"/>
              <a:t/>
            </a:r>
            <a:r>
              <a:rPr lang="ja-JP" altLang="en-US"/>
              <a:t/>
            </a:r>
          </a:p>
        </p:txBody>
      </p:sp>
      <p:sp>
        <p:nvSpPr>
          <p:cNvPr id="6" name="投影片編號版面配置區 5">
            <a:extLst>
              <a:ext uri="{FF2B5EF4-FFF2-40B4-BE49-F238E27FC236}">
                <ns2:creationId id="{0317C91B-FC95-F8BA-C67D-08F5F53E8792}"/>
              </a:ext>
            </a:extLst>
          </p:cNvPr>
          <p:cNvSpPr>
            <a:spLocks noGrp="1"/>
          </p:cNvSpPr>
          <p:nvPr>
            <p:ph type="sldNum" sz="quarter" idx="12"/>
          </p:nvPr>
        </p:nvSpPr>
        <p:spPr/>
        <p:txBody>
          <a:bodyPr/>
          <a:lstStyle/>
          <a:p>
            <a:fld id="{3509F7B2-E600-4F87-A2BF-206386C1A1D6}" type="slidenum">
              <a:rPr kumimoji="1" lang="ja-JP" altLang="en-US" smtClean="0"/>
              <a:t>26</a:t>
            </a:fld>
            <a:endParaRPr kumimoji="1" lang="ja-JP" altLang="en-US"/>
          </a:p>
        </p:txBody>
      </p:sp>
      <p:pic>
        <p:nvPicPr>
          <p:cNvPr id="5" name="圖片 4">
            <a:extLst>
              <a:ext uri="{FF2B5EF4-FFF2-40B4-BE49-F238E27FC236}">
                <ns2:creationId id="{B1B4770E-8EAA-B941-3A70-E816572D9118}"/>
              </a:ext>
            </a:extLst>
          </p:cNvPr>
          <p:cNvPicPr>
            <a:picLocks noChangeAspect="1"/>
          </p:cNvPicPr>
          <p:nvPr/>
        </p:nvPicPr>
        <p:blipFill>
          <a:blip r:embed="rId2"/>
          <a:stretch>
            <a:fillRect/>
          </a:stretch>
        </p:blipFill>
        <p:spPr>
          <a:xfrm>
            <a:off x="2209800" y="1223966"/>
            <a:ext cx="7772400" cy="3238500"/>
          </a:xfrm>
          <a:prstGeom prst="rect">
            <a:avLst/>
          </a:prstGeom>
        </p:spPr>
      </p:pic>
    </p:spTree>
    <p:extLst>
      <p:ext uri="{BB962C8B-B14F-4D97-AF65-F5344CB8AC3E}">
        <ns4:creationId val="191868774"/>
      </p:ext>
    </p:extLst>
  </p:cSld>
  <p:clrMapOvr>
    <a:masterClrMapping/>
  </p:clrMapOvr>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EB327080-FF7E-CED4-3A55-9C226C81EBC2}"/>
              </a:ext>
            </a:extLst>
          </p:cNvPr>
          <p:cNvSpPr>
            <a:spLocks noGrp="1"/>
          </p:cNvSpPr>
          <p:nvPr>
            <p:ph type="title"/>
          </p:nvPr>
        </p:nvSpPr>
        <p:spPr/>
        <p:txBody>
          <a:bodyPr>
            <a:normAutofit/>
          </a:bodyPr>
          <a:lstStyle/>
          <a:p>
            <a:r>
              <a:rPr lang="en-US" altLang="ja-JP"/>
              <a:t>nrc_direct：辞書座標を直接使うと誤差が増える</a:t>
            </a:r>
            <a:endParaRPr kumimoji="1" lang="zh-MO" altLang="en-US"/>
          </a:p>
        </p:txBody>
      </p:sp>
      <p:sp>
        <p:nvSpPr>
          <p:cNvPr id="3" name="內容版面配置區 2">
            <a:extLst>
              <a:ext uri="{FF2B5EF4-FFF2-40B4-BE49-F238E27FC236}">
                <ns2:creationId id="{258865D4-D6B5-1DDE-79E9-0A78BCBC4D2F}"/>
              </a:ext>
            </a:extLst>
          </p:cNvPr>
          <p:cNvSpPr>
            <a:spLocks noGrp="1"/>
          </p:cNvSpPr>
          <p:nvPr>
            <p:ph idx="1"/>
          </p:nvPr>
        </p:nvSpPr>
        <p:spPr>
          <a:xfrm>
            <a:off x="861883" y="5060652"/>
            <a:ext cx="10515600" cy="350000"/>
          </a:xfrm>
        </p:spPr>
        <p:txBody>
          <a:bodyPr>
            <a:noAutofit/>
          </a:bodyPr>
          <a:lstStyle/>
          <a:p>
            <a:pPr marL="0" indent="0">
              <a:buNone/>
            </a:pPr>
            <a:r>
              <a:rPr lang="ja-JP" altLang="en-US" sz="2000"/>
              <a:t>各複合感情ラベルをNRC辞書座標で直接置き換えると、Holdout35誤差が大きくなる。
Best：linear an_bp, Holdout35 MSE = 0.3592。</a:t>
            </a:r>
          </a:p>
          <a:p>
            <a:pPr marL="0" indent="0">
              <a:buNone/>
            </a:pPr>
            <a:r>
              <a:rPr lang="ja-JP" altLang="en-US" sz="2000"/>
              <a:t/>
            </a:r>
          </a:p>
        </p:txBody>
      </p:sp>
      <p:sp>
        <p:nvSpPr>
          <p:cNvPr id="6" name="投影片編號版面配置區 5">
            <a:extLst>
              <a:ext uri="{FF2B5EF4-FFF2-40B4-BE49-F238E27FC236}">
                <ns2:creationId id="{499675C4-B5D4-4730-4D08-10A0B8772247}"/>
              </a:ext>
            </a:extLst>
          </p:cNvPr>
          <p:cNvSpPr>
            <a:spLocks noGrp="1"/>
          </p:cNvSpPr>
          <p:nvPr>
            <p:ph type="sldNum" sz="quarter" idx="12"/>
          </p:nvPr>
        </p:nvSpPr>
        <p:spPr>
          <a:xfrm>
            <a:off x="8610600" y="6392266"/>
            <a:ext cx="2743200" cy="365125"/>
          </a:xfrm>
        </p:spPr>
        <p:txBody>
          <a:bodyPr/>
          <a:lstStyle/>
          <a:p>
            <a:fld id="{3509F7B2-E600-4F87-A2BF-206386C1A1D6}" type="slidenum">
              <a:rPr kumimoji="1" lang="ja-JP" altLang="en-US" smtClean="0"/>
              <a:t>27</a:t>
            </a:fld>
            <a:endParaRPr kumimoji="1" lang="ja-JP" altLang="en-US"/>
          </a:p>
        </p:txBody>
      </p:sp>
      <p:sp>
        <p:nvSpPr>
          <p:cNvPr id="8" name="Watermark"/>
          <p:cNvSpPr txBox="1"/>
          <p:nvPr/>
        </p:nvSpPr>
        <p:spPr>
          <a:xfrm>
            <a:off x="9884000" y="6400000"/>
            <a:ext cx="2200000" cy="350000"/>
          </a:xfrm>
          <a:prstGeom prst="rect">
            <a:avLst/>
          </a:prstGeom>
          <a:noFill/>
          <a:ln>
            <a:noFill/>
          </a:ln>
        </p:spPr>
        <p:txBody>
          <a:bodyPr wrap="square" lIns="0" tIns="0" rIns="91440" bIns="45720" rtlCol="0" anchor="b"/>
          <a:lstStyle/>
          <a:p>
            <a:pPr algn="r"/>
            <a:endParaRPr/>
          </a:p>
        </p:txBody>
      </p:sp>
      <p:pic>
        <p:nvPicPr>
          <p:cNvPr id="4" name="圖片 3">
            <a:extLst>
              <a:ext uri="{FF2B5EF4-FFF2-40B4-BE49-F238E27FC236}">
                <ns2:creationId id="{4A4CFCDD-8293-AF23-CAF0-AE925BD642B2}"/>
              </a:ext>
            </a:extLst>
          </p:cNvPr>
          <p:cNvPicPr>
            <a:picLocks noChangeAspect="1"/>
          </p:cNvPicPr>
          <p:nvPr/>
        </p:nvPicPr>
        <p:blipFill>
          <a:blip r:embed="rId2"/>
          <a:stretch>
            <a:fillRect/>
          </a:stretch>
        </p:blipFill>
        <p:spPr>
          <a:xfrm>
            <a:off x="814516" y="1250316"/>
            <a:ext cx="10562967" cy="3520989"/>
          </a:xfrm>
          <a:prstGeom prst="rect">
            <a:avLst/>
          </a:prstGeom>
        </p:spPr>
      </p:pic>
    </p:spTree>
    <p:extLst>
      <p:ext uri="{BB962C8B-B14F-4D97-AF65-F5344CB8AC3E}">
        <ns4:creationId val="3317678122"/>
      </p:ext>
    </p:extLst>
  </p:cSld>
  <p:clrMapOvr>
    <a:masterClrMapping/>
  </p:clrMapOvr>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標題 1">
            <a:extLst>
              <a:ext uri="{FF2B5EF4-FFF2-40B4-BE49-F238E27FC236}">
                <ns2:creationId id="{314A7DFA-DB9D-DFBE-9843-52745009225E}"/>
              </a:ext>
            </a:extLst>
          </p:cNvPr>
          <p:cNvSpPr>
            <a:spLocks noGrp="1"/>
          </p:cNvSpPr>
          <p:nvPr>
            <p:ph type="title"/>
          </p:nvPr>
        </p:nvSpPr>
        <p:spPr/>
        <p:txBody>
          <a:bodyPr/>
          <a:lstStyle/>
          <a:p>
            <a:r>
              <a:rPr kumimoji="1" lang="ja-JP" altLang="en-US"/>
              <a:t>native / nrc_affine / nrc_direct の総比較</a:t>
            </a:r>
          </a:p>
        </p:txBody>
      </p:sp>
      <p:sp>
        <p:nvSpPr>
          <p:cNvPr id="3" name="內容版面配置區 2">
            <a:extLst>
              <a:ext uri="{FF2B5EF4-FFF2-40B4-BE49-F238E27FC236}">
                <ns2:creationId id="{1666D5A1-3442-0586-361D-6DA87AE945AE}"/>
              </a:ext>
            </a:extLst>
          </p:cNvPr>
          <p:cNvSpPr>
            <a:spLocks noGrp="1"/>
          </p:cNvSpPr>
          <p:nvPr>
            <p:ph idx="1"/>
          </p:nvPr>
        </p:nvSpPr>
        <p:spPr/>
        <p:txBody>
          <a:bodyPr/>
          <a:lstStyle/>
          <a:p>
            <a:pPr marL="0" indent="0">
              <a:buNone/>
            </a:pPr>
            <a:r>
              <a:rPr lang="ja-JP" altLang="en-US"/>
              <a:t>同じ Table14 → Holdout35 プロトコルで比較すると、native が最も良く、nrc_affine でも構造は残り、nrc_direct では大きく弱まる。
結論：NRC語彙座標そのものは、face × speech 融合表の幾何とは一致しない。</a:t>
            </a:r>
          </a:p>
          <a:p>
            <a:pPr marL="0" indent="0">
              <a:buNone/>
            </a:pPr>
            <a:r>
              <a:rPr lang="ja-JP" altLang="en-US"/>
              <a:t/>
            </a:r>
          </a:p>
          <a:p>
            <a:pPr marL="0" indent="0">
              <a:buNone/>
            </a:pPr>
            <a:r>
              <a:rPr lang="ja-JP" altLang="en-US"/>
              <a:t/>
            </a:r>
          </a:p>
          <a:p>
            <a:pPr marL="0" indent="0">
              <a:buNone/>
            </a:pPr>
            <a:r>
              <a:rPr lang="ja-JP" altLang="en-US"/>
              <a:t/>
            </a:r>
          </a:p>
        </p:txBody>
      </p:sp>
      <p:sp>
        <p:nvSpPr>
          <p:cNvPr id="6" name="投影片編號版面配置區 5">
            <a:extLst>
              <a:ext uri="{FF2B5EF4-FFF2-40B4-BE49-F238E27FC236}">
                <ns2:creationId id="{0E4A4830-87C7-938A-E31A-76D645EA601C}"/>
              </a:ext>
            </a:extLst>
          </p:cNvPr>
          <p:cNvSpPr>
            <a:spLocks noGrp="1"/>
          </p:cNvSpPr>
          <p:nvPr>
            <p:ph type="sldNum" sz="quarter" idx="12"/>
          </p:nvPr>
        </p:nvSpPr>
        <p:spPr/>
        <p:txBody>
          <a:bodyPr/>
          <a:lstStyle/>
          <a:p>
            <a:fld id="{3509F7B2-E600-4F87-A2BF-206386C1A1D6}" type="slidenum">
              <a:rPr kumimoji="1" lang="ja-JP" altLang="en-US" smtClean="0"/>
              <a:t>28</a:t>
            </a:fld>
            <a:endParaRPr kumimoji="1" lang="ja-JP" altLang="en-US"/>
          </a:p>
        </p:txBody>
      </p:sp>
      <p:sp>
        <p:nvSpPr>
          <p:cNvPr id="7" name="Watermark"/>
          <p:cNvSpPr txBox="1"/>
          <p:nvPr/>
        </p:nvSpPr>
        <p:spPr>
          <a:xfrm>
            <a:off x="9884000" y="6400000"/>
            <a:ext cx="2200000" cy="350000"/>
          </a:xfrm>
          <a:prstGeom prst="rect">
            <a:avLst/>
          </a:prstGeom>
          <a:noFill/>
          <a:ln>
            <a:noFill/>
          </a:ln>
        </p:spPr>
        <p:txBody>
          <a:bodyPr wrap="square" lIns="0" tIns="0" rIns="91440" bIns="45720" rtlCol="0" anchor="b"/>
          <a:lstStyle/>
          <a:p>
            <a:pPr algn="r"/>
            <a:endParaRPr/>
          </a:p>
        </p:txBody>
      </p:sp>
      <p:pic>
        <p:nvPicPr>
          <p:cNvPr id="202" name="affine direct comparison"/>
          <p:cNvPicPr>
            <a:picLocks noChangeAspect="1"/>
          </p:cNvPicPr>
          <p:nvPr/>
        </p:nvPicPr>
        <p:blipFill>
          <a:blip r:embed="rId202"/>
          <a:stretch>
            <a:fillRect/>
          </a:stretch>
        </p:blipFill>
        <p:spPr>
          <a:xfrm>
            <a:off x="1325880" y="1664208"/>
            <a:ext cx="6492240" cy="4864608"/>
          </a:xfrm>
          <a:prstGeom prst="rect">
            <a:avLst/>
          </a:prstGeom>
        </p:spPr>
      </p:pic>
    </p:spTree>
    <p:extLst>
      <p:ext uri="{BB962C8B-B14F-4D97-AF65-F5344CB8AC3E}">
        <ns4:creationId val="3819948936"/>
      </p:ext>
    </p:extLst>
  </p:cSld>
  <p:clrMapOvr>
    <a:masterClrMapping/>
  </p:clrMapOvr>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AC7F5F9D-E5D2-4169-0F61-5F409570E8DC}"/>
              </a:ext>
            </a:extLst>
          </p:cNvPr>
          <p:cNvSpPr>
            <a:spLocks noGrp="1"/>
          </p:cNvSpPr>
          <p:nvPr>
            <p:ph type="title"/>
          </p:nvPr>
        </p:nvSpPr>
        <p:spPr/>
        <p:txBody>
          <a:bodyPr/>
          <a:lstStyle/>
          <a:p>
            <a:r>
              <a:rPr kumimoji="1" lang="ja-JP" altLang="en-US"/>
              <a:t>まとめと今後の展開</a:t>
            </a:r>
          </a:p>
        </p:txBody>
      </p:sp>
      <p:sp>
        <p:nvSpPr>
          <p:cNvPr id="3" name="內容版面配置區 2">
            <a:extLst>
              <a:ext uri="{FF2B5EF4-FFF2-40B4-BE49-F238E27FC236}">
                <ns2:creationId id="{99E0A56C-5BC8-68B1-769D-91FAA2BD69E9}"/>
              </a:ext>
            </a:extLst>
          </p:cNvPr>
          <p:cNvSpPr>
            <a:spLocks noGrp="1"/>
          </p:cNvSpPr>
          <p:nvPr>
            <p:ph idx="1"/>
          </p:nvPr>
        </p:nvSpPr>
        <p:spPr/>
        <p:txBody>
          <a:bodyPr/>
          <a:lstStyle/>
          <a:p>
            <a:pPr marL="0" indent="0">
              <a:buNone/>
            </a:pPr>
            <a:r>
              <a:rPr lang="ja-JP" altLang="en-US"/>
              <a:t>貢献1：離散的な7×7情緒表を、VA空間上の連続融合関数として検証可能にした。
貢献2：native / nrc_affine / nrc_direct 三座標比較により、nrc_affineでは構造保持、nrc_directでは構造減弱を示した。
貢献3：NRC語彙意味空間とface×speech融合規則空間の幾何的不一致を定量的に示した。
今後：報告書の仕上げ、review候補セルの確認、論文投稿準備。</a:t>
            </a:r>
          </a:p>
          <a:p>
            <a:pPr marL="0" indent="0">
              <a:buNone/>
            </a:pPr>
            <a:r>
              <a:rPr lang="ja-JP" altLang="en-US"/>
              <a:t/>
            </a:r>
          </a:p>
          <a:p>
            <a:pPr marL="0" indent="0">
              <a:buNone/>
            </a:pPr>
            <a:r>
              <a:rPr lang="ja-JP" altLang="en-US"/>
              <a:t/>
            </a:r>
          </a:p>
          <a:p>
            <a:pPr marL="0" indent="0">
              <a:buNone/>
            </a:pPr>
            <a:r>
              <a:rPr lang="ja-JP" altLang="en-US"/>
              <a:t/>
            </a:r>
          </a:p>
          <a:p>
            <a:pPr marL="0" indent="0">
              <a:buNone/>
            </a:pPr>
            <a:r>
              <a:rPr lang="ja-JP" altLang="en-US"/>
              <a:t/>
            </a:r>
          </a:p>
        </p:txBody>
      </p:sp>
      <p:sp>
        <p:nvSpPr>
          <p:cNvPr id="6" name="投影片編號版面配置區 5">
            <a:extLst>
              <a:ext uri="{FF2B5EF4-FFF2-40B4-BE49-F238E27FC236}">
                <ns2:creationId id="{65E8795F-1267-D730-3BB0-5B63C15F2709}"/>
              </a:ext>
            </a:extLst>
          </p:cNvPr>
          <p:cNvSpPr>
            <a:spLocks noGrp="1"/>
          </p:cNvSpPr>
          <p:nvPr>
            <p:ph type="sldNum" sz="quarter" idx="12"/>
          </p:nvPr>
        </p:nvSpPr>
        <p:spPr/>
        <p:txBody>
          <a:bodyPr/>
          <a:lstStyle/>
          <a:p>
            <a:fld id="{3509F7B2-E600-4F87-A2BF-206386C1A1D6}" type="slidenum">
              <a:rPr kumimoji="1" lang="ja-JP" altLang="en-US" smtClean="0"/>
              <a:t>29</a:t>
            </a:fld>
            <a:endParaRPr kumimoji="1" lang="ja-JP" altLang="en-US"/>
          </a:p>
        </p:txBody>
      </p:sp>
      <p:sp>
        <p:nvSpPr>
          <p:cNvPr id="7" name="Watermark"/>
          <p:cNvSpPr txBox="1"/>
          <p:nvPr/>
        </p:nvSpPr>
        <p:spPr>
          <a:xfrm>
            <a:off x="9884000" y="6400000"/>
            <a:ext cx="2200000" cy="350000"/>
          </a:xfrm>
          <a:prstGeom prst="rect">
            <a:avLst/>
          </a:prstGeom>
          <a:noFill/>
          <a:ln>
            <a:noFill/>
          </a:ln>
        </p:spPr>
        <p:txBody>
          <a:bodyPr wrap="square" lIns="0" tIns="0" rIns="91440" bIns="45720" rtlCol="0" anchor="b"/>
          <a:lstStyle/>
          <a:p>
            <a:pPr algn="r"/>
            <a:endParaRPr/>
          </a:p>
        </p:txBody>
      </p:sp>
    </p:spTree>
    <p:extLst>
      <p:ext uri="{BB962C8B-B14F-4D97-AF65-F5344CB8AC3E}">
        <ns3:creationId val="3761097884"/>
      </p:ext>
    </p:extLst>
  </p:cSld>
  <p:clrMapOvr>
    <a:masterClrMapping/>
  </p:clrMapOvr>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nrc_direct 追加実験：残差修正でも改善せず</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30</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nrc_direct に対して3種類の低複雑度モデルを追加検証した。
linear an_bp：MSE=0.3592（既存最良の単調補間モデル）
kernel residual：MSE=0.3639（類似入力組合せの残差平滑化・改善なし）
residual ridge：MSE=0.3757（基礎予測に低次元残差補正・改善なし）
abs an_bp：MSE=0.4044（Arousal側が弱い）
feature ridge：MSE=2.1701（特徴量拡張で明らかに過学習）
結論：nrc_direct の問題は単に「関数が弱いから」ではない。</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F-V線分距離診断：なぜnrc_directは難しいか</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31</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各nrc_direct目標点が、表情Fと音声Vを結ぶ線分からどれだけ離れているかを測定。
平均距離：0.2552　最大距離：1.3900　線分外投影：8 / 49
距離最大の組合せ：
　Happy|Surprised：dist=1.3900（F-V線分外）
　Surprised|Sad：dist=0.9529
　Surprised|Neutral：dist=0.8150
　Neutral|Angry：dist=0.8006（F-V線分外）
　Disgusted|Angry：dist=0.6016
F-V線分外の目標点は、補間モデルでは原理的に到達不能。
→ nrc_directの性能低下は構造的要因であり、モデルの問題ではない。</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NRC最近傍ラベル解釈（nrc_affine座標 × NRC辞書）</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32</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nrc_affine座標の近くに、NRC辞書上のどの情緒語があるかを検索。
自動ラベル修正ではなく、元ラベルとVA幾何の整合性を確認する補助ツール。
一致性分類（49セル）：
　aligned（距離≦0.20）：5セル　weakly aligned（0.20＜距離≦0.35）：13セル
　review（距離＞0.35）：31セル
元ラベル平均距離：0.5173　中央値：0.4610　最大距離：1.4434（Happy|Surprised→Calm）
Calmの附近候補：Amused(0.16), Astound(0.27), Joyful(0.31), Amazed(0.32), Excited(0.34)
→ Happy×Surprisedは高valence/高arousal語群に近く、CalmとはVA位置が大きく異なる。</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absモデル安定性検証</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33</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absモデル（nrc_affine + ap_bn）のパラメータ安定性を2種類の検証で評価。
leave-one-out（各1サンプル除去×14回）：
　Holdout35 MSE=0.0591±0.0053（比較的安定）
　R²_V=0.9052, R²_A=0.6786
bootstrap（14サンプル復元抽出×80回）：
　Holdout35 MSE=0.1036±0.0571（変動大）
　R²_V=0.8804, R²_A=0.3142（Arousal側特に不安定）
→ absモデルは方向dと強度|d|を説明する機構モデルとして有用だが、
　14サンプル下では安定最優モデルとは言えない。</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ns2:creationId id="{001A1602-F2D2-77E2-374D-33C01FAD782D}"/>
              </a:ext>
            </a:extLst>
          </p:cNvPr>
          <p:cNvSpPr>
            <a:spLocks noGrp="1"/>
          </p:cNvSpPr>
          <p:nvPr>
            <p:ph type="title"/>
          </p:nvPr>
        </p:nvSpPr>
        <p:spPr/>
        <p:txBody>
          <a:bodyPr>
            <a:normAutofit/>
          </a:bodyPr>
          <a:lstStyle/>
          <a:p>
            <a:r>
              <a:rPr lang="en-GB" altLang="ja-JP" sz="3600" dirty="0"/>
              <a:t>三座標総比較と核心的結論</a:t>
            </a:r>
            <a:r>
              <a:rPr lang="ja-JP" altLang="en-US" sz="3600"/>
              <a:t/>
            </a:r>
          </a:p>
        </p:txBody>
      </p:sp>
      <p:sp>
        <p:nvSpPr>
          <p:cNvPr id="6" name="投影片編號版面配置區 5">
            <a:extLst>
              <a:ext uri="{FF2B5EF4-FFF2-40B4-BE49-F238E27FC236}">
                <ns2:creationId id="{6D601C90-3642-E4FC-7435-F54EA0FE5115}"/>
              </a:ext>
            </a:extLst>
          </p:cNvPr>
          <p:cNvSpPr>
            <a:spLocks noGrp="1"/>
          </p:cNvSpPr>
          <p:nvPr>
            <p:ph type="sldNum" sz="quarter" idx="12"/>
          </p:nvPr>
        </p:nvSpPr>
        <p:spPr/>
        <p:txBody>
          <a:bodyPr/>
          <a:lstStyle/>
          <a:p>
            <a:fld id="{3509F7B2-E600-4F87-A2BF-206386C1A1D6}" type="slidenum">
              <a:rPr kumimoji="1" lang="ja-JP" altLang="en-US" smtClean="0"/>
              <a:t>34</a:t>
            </a:fld>
            <a:endParaRPr kumimoji="1" lang="ja-JP" altLang="en-US"/>
          </a:p>
        </p:txBody>
      </p:sp>
      <p:sp>
        <p:nvSpPr>
          <p:cNvPr id="5" name="內容版面配置區 4">
            <a:extLst>
              <a:ext uri="{FF2B5EF4-FFF2-40B4-BE49-F238E27FC236}">
                <ns2:creationId id="{415F0C33-2353-39B7-6A95-79137B39692C}"/>
              </a:ext>
            </a:extLst>
          </p:cNvPr>
          <p:cNvSpPr>
            <a:spLocks noGrp="1"/>
          </p:cNvSpPr>
          <p:nvPr>
            <p:ph idx="1"/>
          </p:nvPr>
        </p:nvSpPr>
        <p:spPr/>
        <p:txBody>
          <a:bodyPr>
            <a:normAutofit fontScale="92500" lnSpcReduction="20000"/>
          </a:bodyPr>
          <a:lstStyle/>
          <a:p>
            <a:r>
              <a:rPr lang="en-GB" altLang="zh-MO" dirty="0"/>
              <a:t>同一プロトコル（Table14→Holdout35）で三座標を比較：
native：simple average MSE=0.0148（7×7表の内部低次元構造が最も明確）
nrc_affine：linear ap_bn MSE=0.0509（NRC尺度でも構造は保たれる）
nrc_direct：linear an_bp MSE=0.3592（辞書座標直接置換で構造が弱まる）
nrc_directに残差修正・特徴拡張・kernel平滑を追加→いずれも改善なし
F-V線分距離診断：一部の辞書座標が融合線分から大きく外れている
核心的結論：NRC語彙意味空間とface×speech融合規則空間の幾何は一致しない。
最も妥当な方針：nrc_affineで座標較正＋構造保持、NRC最近傍でラベル解釈。</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en-US" altLang="ja-JP" dirty="0"/>
              <a:t/>
            </a:r>
            <a:r>
              <a:rPr lang="zh-MO" altLang="en-US" dirty="0"/>
              <a:t/>
            </a:r>
            <a:r>
              <a:rPr lang="ja-JP" altLang="en-US"/>
              <a:t/>
            </a:r>
            <a:r>
              <a:rPr lang="zh-MO" altLang="en-US" dirty="0"/>
              <a:t/>
            </a:r>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ja-JP" altLang="en-US"/>
          </a:p>
          <a:p>
            <a:r>
              <a:rPr lang="ja-JP" altLang="en-US"/>
              <a:t/>
            </a:r>
            <a:r>
              <a:rPr lang="en-GB" altLang="zh-MO" dirty="0"/>
              <a:t/>
            </a:r>
            <a:r>
              <a:rPr lang="ja-JP" altLang="en-US"/>
              <a:t/>
            </a:r>
            <a:r>
              <a:rPr lang="zh-MO" altLang="en-US" dirty="0"/>
              <a:t/>
            </a:r>
            <a:r>
              <a:rPr lang="ja-JP" altLang="en-US"/>
              <a:t/>
            </a:r>
          </a:p>
          <a:p>
            <a:r>
              <a:rPr lang="ja-JP" altLang="en-US"/>
              <a:t/>
            </a:r>
            <a:r>
              <a:rPr lang="zh-MO" altLang="en-US" dirty="0"/>
              <a:t/>
            </a:r>
            <a:r>
              <a:rPr lang="en-GB" altLang="zh-MO" dirty="0"/>
              <a:t/>
            </a:r>
            <a:r>
              <a:rPr lang="ja-JP" altLang="en-US"/>
              <a:t/>
            </a:r>
            <a:r>
              <a:rPr lang="zh-MO" altLang="en-US" dirty="0"/>
              <a:t/>
            </a:r>
            <a:r>
              <a:rPr lang="en-US" altLang="zh-MO" dirty="0"/>
              <a:t/>
            </a:r>
            <a:r>
              <a:rPr lang="en-GB" altLang="zh-MO" dirty="0"/>
              <a:t/>
            </a:r>
            <a:r>
              <a:rPr lang="ja-JP" altLang="en-US"/>
              <a:t/>
            </a:r>
            <a:r>
              <a:rPr lang="zh-MO" altLang="en-US" dirty="0"/>
              <a:t/>
            </a:r>
            <a:r>
              <a:rPr lang="ja-JP" altLang="en-US"/>
              <a:t/>
            </a:r>
            <a:r>
              <a:rPr lang="zh-MO" altLang="en-US" dirty="0"/>
              <a:t/>
            </a:r>
            <a:r>
              <a:rPr lang="ja-JP" altLang="en-US"/>
              <a:t/>
            </a:r>
          </a:p>
          <a:p>
            <a:r>
              <a:rPr lang="ja-JP" altLang="en-US"/>
              <a:t/>
            </a:r>
            <a:r>
              <a:rPr lang="zh-MO" altLang="en-US" dirty="0"/>
              <a:t/>
            </a:r>
            <a:r>
              <a:rPr lang="ja-JP" altLang="en-US"/>
              <a:t/>
            </a:r>
            <a:r>
              <a:rPr lang="zh-MO" altLang="en-US" dirty="0"/>
              <a:t/>
            </a:r>
            <a:r>
              <a:rPr lang="ja-JP" altLang="en-US"/>
              <a:t/>
            </a:r>
          </a:p>
          <a:p>
            <a:endParaRPr lang="zh-MO" altLang="en-US" dirty="0"/>
          </a:p>
        </p:txBody>
      </p:sp>
    </p:spTree>
    <p:extLst>
      <p:ext uri="{BB962C8B-B14F-4D97-AF65-F5344CB8AC3E}">
        <ns3:creationId val="4111056424"/>
      </p:ext>
    </p:extLst>
  </p:cSld>
  <p:clrMapOvr>
    <a:masterClrMapping/>
  </p:clrMapOvr>
</p:sld>
</file>

<file path=ppt/theme/theme1.xml><?xml version="1.0" encoding="utf-8"?>
<a:theme xmlns:a="http://schemas.openxmlformats.org/drawingml/2006/main" name="発表資料テンプレート">
  <a:themeElements>
    <a:clrScheme name="ユーザー定義 3">
      <a:dk1>
        <a:sysClr val="windowText" lastClr="000000"/>
      </a:dk1>
      <a:lt1>
        <a:srgbClr val="F9FBF7"/>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発表資料テンプレート" id="{F603E854-548C-42EB-A255-2D38B910D1D8}" vid="{1B790788-BE73-4012-B69F-87B26703FA5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発表資料テンプレート</Template>
  <TotalTime>1413</TotalTime>
  <Words>2606</Words>
  <Application>Microsoft Macintosh PowerPoint</Application>
  <PresentationFormat>寬螢幕</PresentationFormat>
  <Paragraphs>250</Paragraphs>
  <Slides>29</Slides>
  <Notes>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29</vt:i4>
      </vt:variant>
    </vt:vector>
  </HeadingPairs>
  <TitlesOfParts>
    <vt:vector size="38" baseType="lpstr">
      <vt:lpstr>Adobe Fan Heiti Std B</vt:lpstr>
      <vt:lpstr>HGPSoeiKakugothicUB</vt:lpstr>
      <vt:lpstr>HGPSoeiKakugothicUB</vt:lpstr>
      <vt:lpstr>游ゴシック</vt:lpstr>
      <vt:lpstr>游ゴシック Light</vt:lpstr>
      <vt:lpstr>Arial</vt:lpstr>
      <vt:lpstr>Cambria Math</vt:lpstr>
      <vt:lpstr>Wingdings</vt:lpstr>
      <vt:lpstr>発表資料テンプレート</vt:lpstr>
      <vt:lpstr>研究進捗報告 7×7情緒表から連続融合関数へ </vt:lpstr>
      <vt:lpstr>研究目的と中核的な問い</vt:lpstr>
      <vt:lpstr>Jenishモデルの理論：</vt:lpstr>
      <vt:lpstr>Jenishモデルの理論的拡張：</vt:lpstr>
      <vt:lpstr>VA空間（7基本感情）</vt:lpstr>
      <vt:lpstr>以前のVA座標はどこから来たか</vt:lpstr>
      <vt:lpstr>なぜNRC VAD座標を使うのか</vt:lpstr>
      <vt:lpstr>NRC座標の作り方：2つの方式</vt:lpstr>
      <vt:lpstr>手法の進化プロセス（Step 1〜Step 6）</vt:lpstr>
      <vt:lpstr>Step 1：スカラー葛藤モデリング</vt:lpstr>
      <vt:lpstr>Step 1：スカラー葛藤モデリング</vt:lpstr>
      <vt:lpstr>Step2：Valence と Arousal を別々に融合する</vt:lpstr>
      <vt:lpstr>Step2：Valence と Arousal を別々に融合する</vt:lpstr>
      <vt:lpstr>Step3：Table14 → Holdout35 の検証プロトコル</vt:lpstr>
      <vt:lpstr>Step 3：Table14 → Holdout35 で確認できたこと</vt:lpstr>
      <vt:lpstr>Step3：Table14 → Holdout35 による構造検証</vt:lpstr>
      <vt:lpstr>Step 4/5/6：重み関数の表現力を比較する</vt:lpstr>
      <vt:lpstr>Step 4：線形モデルで低次元構造を確認する</vt:lpstr>
      <vt:lpstr>Step 4：線形モデル（a,b の4象限）— 性能比較</vt:lpstr>
      <vt:lpstr>Step 5：二次モデルで反転仮説を検討する</vt:lpstr>
      <vt:lpstr>Step 5：二次モデル（d^2）— 反転仮説の検討</vt:lpstr>
      <vt:lpstr>Step 6：absモデルで方向と強度を分けて説明する</vt:lpstr>
      <vt:lpstr>Step 6：abs（|d|）モデル — 最終選択（比較）</vt:lpstr>
      <vt:lpstr>native座標で確認できたこと</vt:lpstr>
      <vt:lpstr>重み曲線（|d|モデル）</vt:lpstr>
      <vt:lpstr>重み曲線（|d|モデル）</vt:lpstr>
      <vt:lpstr>汎化性能：Fit と誤差（Full49）</vt:lpstr>
      <vt:lpstr>本研究から得られた行動的解釈</vt:lpstr>
      <vt:lpstr>進捗状況と今後の展開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田辺　実夏子</dc:creator>
  <cp:lastModifiedBy>すぐる 姜</cp:lastModifiedBy>
  <cp:revision>44</cp:revision>
  <dcterms:created xsi:type="dcterms:W3CDTF">2025-04-17T02:16:50Z</dcterms:created>
  <dcterms:modified xsi:type="dcterms:W3CDTF">2026-05-06T18:04:59Z</dcterms:modified>
</cp:coreProperties>
</file>